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1645920"/>
            <a:ext cx="5486400" cy="548640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3" name="Shape 1"/>
          <p:cNvSpPr/>
          <p:nvPr/>
        </p:nvSpPr>
        <p:spPr>
          <a:xfrm>
            <a:off x="8899855" y="3931920"/>
            <a:ext cx="5029200" cy="502920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4" name="Shape 2"/>
          <p:cNvSpPr/>
          <p:nvPr/>
        </p:nvSpPr>
        <p:spPr>
          <a:xfrm>
            <a:off x="7436815" y="548640"/>
            <a:ext cx="4206240" cy="457200"/>
          </a:xfrm>
          <a:prstGeom prst="roundRect">
            <a:avLst>
              <a:gd name="adj" fmla="val 50000"/>
            </a:avLst>
          </a:prstGeom>
          <a:solidFill>
            <a:srgbClr val="141A45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528255" y="5486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الوحدة 02 — هندسة البيانات للذكاء الاصطناعي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6304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00B8A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V08</a:t>
            </a:r>
            <a:endParaRPr lang="en-US" sz="6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743200"/>
            <a:ext cx="110944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هندسة الميزات ومخازنها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8064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الأسبوعان الأول والثاني  |  فيديو مسجل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417759" y="6263640"/>
            <a:ext cx="1225296" cy="310896"/>
          </a:xfrm>
          <a:prstGeom prst="roundRect">
            <a:avLst>
              <a:gd name="adj" fmla="val 50000"/>
            </a:avLst>
          </a:prstGeom>
          <a:solidFill>
            <a:srgbClr val="141A45"/>
          </a:solidFill>
          <a:ln w="9525">
            <a:solidFill>
              <a:srgbClr val="00B8A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417759" y="6263640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Hopsworks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9357055" y="6263640"/>
            <a:ext cx="923544" cy="310896"/>
          </a:xfrm>
          <a:prstGeom prst="roundRect">
            <a:avLst>
              <a:gd name="adj" fmla="val 50000"/>
            </a:avLst>
          </a:prstGeom>
          <a:solidFill>
            <a:srgbClr val="141A45"/>
          </a:solidFill>
          <a:ln w="9525">
            <a:solidFill>
              <a:srgbClr val="00B8A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357055" y="6263640"/>
            <a:ext cx="923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Tecton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396935" y="6263640"/>
            <a:ext cx="822960" cy="310896"/>
          </a:xfrm>
          <a:prstGeom prst="roundRect">
            <a:avLst>
              <a:gd name="adj" fmla="val 50000"/>
            </a:avLst>
          </a:prstGeom>
          <a:solidFill>
            <a:srgbClr val="141A45"/>
          </a:solidFill>
          <a:ln w="9525">
            <a:solidFill>
              <a:srgbClr val="00B8A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96935" y="626364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Feast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أهداف الفيديو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بنهاية هذا الفيديو سيكون المتدرب قادرًا على: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1259007" y="2011680"/>
            <a:ext cx="384048" cy="384048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259007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20240"/>
            <a:ext cx="1048176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فهم هندسة الميزات (Feature Engineering) وأهميتها لنماذج الذكاء الاصطناعي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1259007" y="2880360"/>
            <a:ext cx="384048" cy="384048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259007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788920"/>
            <a:ext cx="1048176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التعرف على مفهوم مخزن الميزات (Feature Store) ومكوّناته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1259007" y="3749040"/>
            <a:ext cx="384048" cy="384048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259007" y="3749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657600"/>
            <a:ext cx="1048176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فهم الفرق بين المخزن الفوري (Online) وغير الفوري (Offline)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1259007" y="4617720"/>
            <a:ext cx="384048" cy="384048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1259007" y="4617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526280"/>
            <a:ext cx="1048176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استيعاب مشكلة التصحيح الزمني (Point-in-Time Correctness)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V08  ·  هندسة البيانات للذكاء الاصطناعي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الشريحة ٢ من ٦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من البيانات الخام إلى الميزات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127797" y="1417320"/>
            <a:ext cx="3515258" cy="3017520"/>
          </a:xfrm>
          <a:prstGeom prst="roundRect">
            <a:avLst>
              <a:gd name="adj" fmla="val 2727"/>
            </a:avLst>
          </a:prstGeom>
          <a:solidFill>
            <a:srgbClr val="F2F5FC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048695" y="1645920"/>
            <a:ext cx="365760" cy="36576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048695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356397" y="2194560"/>
            <a:ext cx="30580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هندسة الميزات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356397" y="2834640"/>
            <a:ext cx="305805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تحويل البيانات الخام إلى مدخلات ذات دلالة واضحة للنموذج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38218" y="1417320"/>
            <a:ext cx="3515258" cy="3017520"/>
          </a:xfrm>
          <a:prstGeom prst="roundRect">
            <a:avLst>
              <a:gd name="adj" fmla="val 2727"/>
            </a:avLst>
          </a:prstGeom>
          <a:solidFill>
            <a:srgbClr val="F2F5FC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259117" y="1645920"/>
            <a:ext cx="365760" cy="36576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259117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566818" y="2194560"/>
            <a:ext cx="30580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إعادة الاستخدام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566818" y="2834640"/>
            <a:ext cx="305805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نفس الميزة تُحسب مرة واحدة وتُستخدم في نماذج متعددة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1417320"/>
            <a:ext cx="3515258" cy="3017520"/>
          </a:xfrm>
          <a:prstGeom prst="roundRect">
            <a:avLst>
              <a:gd name="adj" fmla="val 2727"/>
            </a:avLst>
          </a:prstGeom>
          <a:solidFill>
            <a:srgbClr val="F2F5FC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469538" y="1645920"/>
            <a:ext cx="365760" cy="36576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469538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2194560"/>
            <a:ext cx="30580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الاتساق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2834640"/>
            <a:ext cx="305805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ضمان تطابق منطق حساب الميزة بين التدريب والإنتاج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V08  ·  هندسة البيانات للذكاء الاصطناعي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الشريحة ٣ من ٦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بنية مخزن الميزات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127797" y="1417320"/>
            <a:ext cx="3515258" cy="3017520"/>
          </a:xfrm>
          <a:prstGeom prst="roundRect">
            <a:avLst>
              <a:gd name="adj" fmla="val 2727"/>
            </a:avLst>
          </a:prstGeom>
          <a:solidFill>
            <a:srgbClr val="F2F5FC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048695" y="1645920"/>
            <a:ext cx="365760" cy="36576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048695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356397" y="2194560"/>
            <a:ext cx="30580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المخزن غير الفوري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356397" y="2834640"/>
            <a:ext cx="305805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لتدريب النماذج على بيانات تاريخية ضخمة (Offline Store)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38218" y="1417320"/>
            <a:ext cx="3515258" cy="3017520"/>
          </a:xfrm>
          <a:prstGeom prst="roundRect">
            <a:avLst>
              <a:gd name="adj" fmla="val 2727"/>
            </a:avLst>
          </a:prstGeom>
          <a:solidFill>
            <a:srgbClr val="F2F5FC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259117" y="1645920"/>
            <a:ext cx="365760" cy="36576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259117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566818" y="2194560"/>
            <a:ext cx="30580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المخزن الفوري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566818" y="2834640"/>
            <a:ext cx="305805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لخدمة الميزات بزمن استجابة منخفض جدًا وقت الاستدلال (Online Store)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1417320"/>
            <a:ext cx="3515258" cy="3017520"/>
          </a:xfrm>
          <a:prstGeom prst="roundRect">
            <a:avLst>
              <a:gd name="adj" fmla="val 2727"/>
            </a:avLst>
          </a:prstGeom>
          <a:solidFill>
            <a:srgbClr val="F2F5FC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469538" y="1645920"/>
            <a:ext cx="365760" cy="36576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469538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2194560"/>
            <a:ext cx="30580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التصحيح الزمني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2834640"/>
            <a:ext cx="305805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منع تسرّب معلومات مستقبلية إلى بيانات التدريب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V08  ·  هندسة البيانات للذكاء الاصطناعي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الشريحة ٤ من ٦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الأدوات المستخدمة في هذا الموضوع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127797" y="1417320"/>
            <a:ext cx="3515258" cy="30175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048695" y="164592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048695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356397" y="2194560"/>
            <a:ext cx="30580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356397" y="2834640"/>
            <a:ext cx="305805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مخزن ميزات مفتوح المصدر، مرن وسهل التكامل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38218" y="1417320"/>
            <a:ext cx="3515258" cy="30175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259117" y="164592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259117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566818" y="2194560"/>
            <a:ext cx="30580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Tecton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566818" y="2834640"/>
            <a:ext cx="305805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منصة ميزات جاهزة للمؤسسات بإدارة كاملة لدورة الحياة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1417320"/>
            <a:ext cx="3515258" cy="30175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469538" y="164592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469538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2194560"/>
            <a:ext cx="30580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Hopsworks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2834640"/>
            <a:ext cx="305805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منصة MLOps شاملة تتضمن مخزن ميزات متكامل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127797" y="1417320"/>
            <a:ext cx="3515258" cy="3017520"/>
          </a:xfrm>
          <a:prstGeom prst="roundRect">
            <a:avLst>
              <a:gd name="adj" fmla="val 2727"/>
            </a:avLst>
          </a:prstGeom>
          <a:ln w="15875">
            <a:solidFill>
              <a:srgbClr val="1E276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38218" y="1417320"/>
            <a:ext cx="3515258" cy="3017520"/>
          </a:xfrm>
          <a:prstGeom prst="roundRect">
            <a:avLst>
              <a:gd name="adj" fmla="val 2727"/>
            </a:avLst>
          </a:prstGeom>
          <a:ln w="15875">
            <a:solidFill>
              <a:srgbClr val="1E276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1417320"/>
            <a:ext cx="3515258" cy="3017520"/>
          </a:xfrm>
          <a:prstGeom prst="roundRect">
            <a:avLst>
              <a:gd name="adj" fmla="val 2727"/>
            </a:avLst>
          </a:prstGeom>
          <a:ln w="15875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V08  ·  هندسة البيانات للذكاء الاصطناعي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الشريحة ٥ من ٦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1828800"/>
            <a:ext cx="5029200" cy="502920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أهم ما نأخذه من هذا الفيديو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1259007" y="1796796"/>
            <a:ext cx="384048" cy="384048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259007" y="17967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1048176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مخزن الميزات يحل مشكلة تكرار المنطق بين فرق التدريب والإنتاج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11259007" y="2756916"/>
            <a:ext cx="384048" cy="384048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259007" y="27569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560320"/>
            <a:ext cx="1048176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التناسق بين المخزنين الفوري وغير الفوري أساسي لموثوقية النموذج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11259007" y="3717036"/>
            <a:ext cx="384048" cy="384048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259007" y="37170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520440"/>
            <a:ext cx="1048176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تجاهل التصحيح الزمني يُنتج نماذج ممتازة في التدريب وضعيفة في الإنتاج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11259007" y="4677156"/>
            <a:ext cx="384048" cy="384048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1259007" y="46771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480560"/>
            <a:ext cx="1048176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هذه الطبقة تمهّد مباشرة لموضوع التضمينات وقواعد البيانات المتجهية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V08  ·  هندسة البيانات للذكاء الاصطناعي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الشريحة ٦ من ٦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2026-09-09T08:25:02Z</dcterms:created>
  <dcterms:modified xsi:type="dcterms:W3CDTF">2026-09-09T08:25:02Z</dcterms:modified>
</cp:coreProperties>
</file>