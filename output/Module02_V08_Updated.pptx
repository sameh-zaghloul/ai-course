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5" r:id="rId16"/>
    <p:sldId id="259" r:id="rId10"/>
    <p:sldId id="260" r:id="rId11"/>
    <p:sldId id="266" r:id="rId17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2800" b="1">
                <a:solidFill>
                  <a:srgbClr val="1F4E79"/>
                </a:solidFill>
                <a:latin typeface="Calibri"/>
              </a:rPr>
              <a:t>Module 02  |  V08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400" b="1">
                <a:solidFill>
                  <a:srgbClr val="1F3B5C"/>
                </a:solidFill>
                <a:latin typeface="Arial"/>
              </a:rPr>
              <a:t>هندسة الخصائص ومخازنها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3000" b="0">
                <a:solidFill>
                  <a:srgbClr val="333333"/>
                </a:solidFill>
                <a:latin typeface="Calibri"/>
              </a:rPr>
              <a:t>Feature Engineering &amp; Feature Stores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400" b="0">
                <a:solidFill>
                  <a:srgbClr val="666666"/>
                </a:solidFill>
                <a:latin typeface="Calibri"/>
              </a:rPr>
              <a:t>Light theme  |  Bilingual AR/EN  |  Ready to present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V08  •  1/11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أجندة العرض /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V08 — هندسة الخصائص ومخازنها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300">
                <a:solidFill>
                  <a:srgbClr val="666666"/>
                </a:solidFill>
                <a:latin typeface="Calibri"/>
              </a:rPr>
              <a:t>• V08 — Feature Engineering &amp; Feature Stores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هندسة الخصائص / Feature Engineering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مخازن الخصائص / Feature Stores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اتساق Offline/Online / Consistency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الربط بالتطبيقات الوكيلة / Agentic Applications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V08  •  2/11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هندسة الخصائص /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تحويل البيانات الخام إلى ميزات ذات معنى تدعم تدريب النماذج وخدمتها.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Turning raw data into meaningful features supporting model training and serving.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أمثلة: التجميعات الزمنية، الترميز، التطبيع.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Examples: time-window aggregates, encoding, normalization.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V08  •  3/11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مخازن الخصائص / Feature Stores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Feast وTecton وHopsworks: تعريف الميزة مرة واحدة وإعادة استخدامها في التدريب والخدمة.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Feast, Tecton, Hopsworks: define features once, reuse for training and serving.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تمنع انحراف الميزات بين التدريب والإنتاج.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They prevent feature skew between training and production.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V08  •  5/11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اتساق Offline/Online / Consistency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Offline للتدريب التاريخي؛ Online لخدمة منخفضة الكمون (ميلي ثانية).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Offline for historical training; online for low-latency (ms) serving.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اتساق القيم بين البيئتين شرط لصحة النموذج في الإنتاج.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Value consistency across stores is essential for production correctness.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V08  •  6/11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الربط بالتطبيقات الوكيلة / Agentic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الوكلاء يحتاجون ميزات لحظية متسقة لقرارات التخصيص والمخاطر والتوجيه.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Agents need consistent real-time features for personalization, risk, and routing.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مخزن الخصائص هو «مصدر الحقيقة» للميزات أمام أي وكيل ذكي.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The feature store is the single source of truth behind any agent.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V08  •  8/11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اختبار قصير / Quick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1. ما المشكلة التي يحلها مخزن الخصائص؟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What problem does a feature store solve?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2. فرّق بين المخزن Offline وOnline.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Differentiate offline vs online stores.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3. اذكر أداتين لمخازن الخصائص.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Name two feature-store tools.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V08  •  9/11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إجابات الاختبار / Quiz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1. انحراف الميزات بين التدريب والخدمة وتكرار العمل.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Feature skew between training/serving and duplicated work.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2. Offline للتدريب التاريخي؛ Online لخدمة فورية منخفضة الكمون.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Offline for historical training; online for low-latency serving.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3. Feast وHopsworks (أو Tecton).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Feast and Hopsworks (or Tecton).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V08  •  10/11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للاستزادة / Further 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توثيق Feast.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Feast documentation.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توثيق Hopsworks Feature Store.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Hopsworks feature store docs.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V08  •  11/11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من البيانات الخام إلى الخصائص / Raw Data to Features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2011680"/>
            <a:ext cx="2468880" cy="12801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أحداث خام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Raw events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182112" y="2514600"/>
            <a:ext cx="411480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66160" y="2011680"/>
            <a:ext cx="2468880" cy="12801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تنظيف وتحويل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Clean &amp; transform</a:t>
            </a:r>
          </a:p>
        </p:txBody>
      </p:sp>
      <p:sp>
        <p:nvSpPr>
          <p:cNvPr id="6" name="Right Arrow 5"/>
          <p:cNvSpPr/>
          <p:nvPr/>
        </p:nvSpPr>
        <p:spPr>
          <a:xfrm>
            <a:off x="6108192" y="2514600"/>
            <a:ext cx="411480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0" y="2011680"/>
            <a:ext cx="2468880" cy="12801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تعريف الخصائص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Feature definitions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9034272" y="2514600"/>
            <a:ext cx="411480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418320" y="2011680"/>
            <a:ext cx="2468880" cy="128016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تدريب + خدمة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Training + serving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63240" y="3977639"/>
            <a:ext cx="6080760" cy="8229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مخزن الخصائص: تعريف واحد متسق للتدريب والخدمة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Feature store: one consistent definition for training and serving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الاتساق هو النتيجة: نفس حساب الميزة يمنع انحراف التدريب والخدمة.</a:t>
            </a:r>
          </a:p>
          <a:p>
            <a:pPr algn="r" rtl="0"/>
            <a:r>
              <a:t>Consistency is the outcome: the same feature calculation prevents training-serving skew.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V08  •  4/11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معمارية مخزن الخصائص / Feature Store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2560320"/>
            <a:ext cx="2011680" cy="11887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مصادر البيانات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Data Sources</a:t>
            </a:r>
          </a:p>
        </p:txBody>
      </p:sp>
      <p:sp>
        <p:nvSpPr>
          <p:cNvPr id="4" name="Left Arrow 3"/>
          <p:cNvSpPr/>
          <p:nvPr/>
        </p:nvSpPr>
        <p:spPr>
          <a:xfrm>
            <a:off x="2724912" y="3017520"/>
            <a:ext cx="41148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200400" y="2560320"/>
            <a:ext cx="2194560" cy="118872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خط الخصائص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Feature Pipeline
هندسة + تحويل</a:t>
            </a:r>
          </a:p>
        </p:txBody>
      </p:sp>
      <p:sp>
        <p:nvSpPr>
          <p:cNvPr id="6" name="Left Arrow 5"/>
          <p:cNvSpPr/>
          <p:nvPr/>
        </p:nvSpPr>
        <p:spPr>
          <a:xfrm>
            <a:off x="5468112" y="2331720"/>
            <a:ext cx="41148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eft Arrow 6"/>
          <p:cNvSpPr/>
          <p:nvPr/>
        </p:nvSpPr>
        <p:spPr>
          <a:xfrm>
            <a:off x="5468112" y="3611880"/>
            <a:ext cx="41148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0" y="1554480"/>
            <a:ext cx="2468880" cy="118872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المخزن غير المتصل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Offline Store
تدريب النماذج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3566160"/>
            <a:ext cx="2468880" cy="118872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المخزن المتصل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Online Store
استدلال منخفض زمن الاستجابة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0" y="1554480"/>
            <a:ext cx="2194560" cy="11887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التدريب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Training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3566160"/>
            <a:ext cx="2194560" cy="11887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الاستدلال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Serving</a:t>
            </a:r>
          </a:p>
        </p:txBody>
      </p:sp>
      <p:sp>
        <p:nvSpPr>
          <p:cNvPr id="12" name="Left Arrow 11"/>
          <p:cNvSpPr/>
          <p:nvPr/>
        </p:nvSpPr>
        <p:spPr>
          <a:xfrm>
            <a:off x="8449056" y="2011680"/>
            <a:ext cx="658368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Left Arrow 12"/>
          <p:cNvSpPr/>
          <p:nvPr/>
        </p:nvSpPr>
        <p:spPr>
          <a:xfrm>
            <a:off x="8449056" y="4023360"/>
            <a:ext cx="658368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قيمة مخزن الخصائص: نفس تعريف الخصائص للتدريب والاستدلال — لا انحراف.</a:t>
            </a:r>
          </a:p>
          <a:p>
            <a:pPr algn="r" rtl="0"/>
            <a:r>
              <a:t>Core value: one feature definition for training and serving — no skew.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V08  •  7/11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