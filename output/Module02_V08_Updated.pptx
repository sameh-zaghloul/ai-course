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5" r:id="rId16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2800" b="1">
                <a:solidFill>
                  <a:srgbClr val="1F4E79"/>
                </a:solidFill>
                <a:latin typeface="Calibri"/>
                <a:cs typeface="Arial"/>
                <a:ea typeface="Calibri"/>
              </a:rPr>
              <a:t>Module 02  |  V08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هندسة الخصائص ومخازنها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000" b="0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Feature Engineering &amp; Feature 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V08  •  1/12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1/10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V08 — هندسة الخصائص ومخازنها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V08 — Feature Engineering &amp; Feature Stores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هندسة الخصائص / Feature Engineering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مخازن الخصائص / Feature Stores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اتساق Offline/Online / Consistency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الربط بالتطبيقات الوكيلة / Agentic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V08  •  2/12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2/10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هندسة الخصائص /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تحويل البيانات الخام إلى ميزات ذات معنى تدعم تدريب النماذج وخدمتها.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Turning raw data into meaningful features supporting model training and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أمثلة: التجميعات الزمنية، الترميز، التطبيع.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Examples: time-window aggregates, encoding, normalization.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V08  •  3/12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3/10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مخازن الخصائص / Feature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Feast وTecton وHopsworks: تعريف الميزة مرة واحدة وإعادة استخدامها في التدريب والخدمة.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Feast, Tecton, Hopsworks: define features once, reuse for training and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تمنع انحراف الميزات بين التدريب والإنتاج.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They prevent feature skew between training and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V08  •  4/12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4/10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اتساق Offline/Online / 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Offline للتدريب التاريخي؛ Online لخدمة منخفضة الكمون (ميلي ثانية).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Offline for historical training; online for low-latency (ms)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اتساق القيم بين البيئتين شرط لصحة النموذج في الإنتاج.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Value consistency across stores is essential for production correctness.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V08  •  5/12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5/10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معمارية مخزن الخصائص / Feature Store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560320"/>
            <a:ext cx="201168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مصادر البيانات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Sources</a:t>
            </a:r>
          </a:p>
        </p:txBody>
      </p:sp>
      <p:sp>
        <p:nvSpPr>
          <p:cNvPr id="4" name="Left Arrow 3"/>
          <p:cNvSpPr/>
          <p:nvPr/>
        </p:nvSpPr>
        <p:spPr>
          <a:xfrm>
            <a:off x="2724912" y="30175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2560320"/>
            <a:ext cx="2194560" cy="11887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خط الخصائص</a:t>
            </a:r>
          </a:p>
          <a:p>
            <a:pPr algn="ctr" rtl="1"/>
            <a:r>
              <a:rPr sz="11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Feature Pipeline
هندسة + تحويل</a:t>
            </a:r>
          </a:p>
        </p:txBody>
      </p:sp>
      <p:sp>
        <p:nvSpPr>
          <p:cNvPr id="6" name="Left Arrow 5"/>
          <p:cNvSpPr/>
          <p:nvPr/>
        </p:nvSpPr>
        <p:spPr>
          <a:xfrm>
            <a:off x="5468112" y="23317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468112" y="361188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2468880" cy="11887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المخزن غير المتصل</a:t>
            </a:r>
          </a:p>
          <a:p>
            <a:pPr algn="ctr" rtl="1"/>
            <a:r>
              <a:rPr sz="11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Offline Store
تدريب النماذج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566160"/>
            <a:ext cx="2468880" cy="11887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المخزن المتصل</a:t>
            </a:r>
          </a:p>
          <a:p>
            <a:pPr algn="ctr" rtl="1"/>
            <a:r>
              <a:rPr sz="11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Online Store
استدلال منخفض زمن الاستجابة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55448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56616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الاستدلال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Serving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8449056" y="201168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ft Arrow 12"/>
          <p:cNvSpPr/>
          <p:nvPr/>
        </p:nvSpPr>
        <p:spPr>
          <a:xfrm>
            <a:off x="8449056" y="402336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قيمة مخزن الخصائص: نفس تعريف الخصائص للتدريب والاستدلال — لا انحراف.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Core value: one feature definition for training and serving — no skew.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6/10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الربط بالتطبيقات الوكيلة / Agentic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الوكلاء يحتاجون ميزات لحظية متسقة لقرارات التخصيص والمخاطر والتوجيه.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Agents need consistent real-time features for personalization, risk, and routing.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مخزن الخصائص هو «مصدر الحقيقة» للميزات أمام أي وكيل ذكي.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The feature store is the single source of truth behind any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V08  •  6/12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7/10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ما المشكلة التي يحلها مخزن الخصائص؟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What problem does a feature store solve?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فرّق بين المخزن Offline وOnline.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Differentiate offline vs online stores.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اذكر أداتين لمخازن الخصائص.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Name two feature-store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V08  •  7/12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8/10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انحراف الميزات بين التدريب والخدمة وتكرار العمل.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Feature skew between training/serving and duplicated work.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Offline للتدريب التاريخي؛ Online لخدمة فورية منخفضة الكمون.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Offline for historical training; online for low-latency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Feast وHopsworks (أو Tecton).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Feast and Hopsworks (or Tecton).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V08  •  8/12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9/10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توثيق Feast.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Feast documentation.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توثيق Hopsworks Feature Store.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Hopsworks feature store docs.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V08  •  9/12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10/10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08_  •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