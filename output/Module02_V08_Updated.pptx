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4" r:id="rId15"/>
    <p:sldId id="263" r:id="rId14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5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2801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400" b="1">
                <a:solidFill>
                  <a:srgbClr val="1F4E79"/>
                </a:solidFill>
                <a:latin typeface="Calibri"/>
              </a:rPr>
              <a:t>V08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4800" b="1">
                <a:solidFill>
                  <a:srgbClr val="1F3B5C"/>
                </a:solidFill>
                <a:latin typeface="Calibri"/>
              </a:rPr>
              <a:t>هندسة الخصائص ومخازنها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5661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0"/>
            <a:r>
              <a:rPr sz="3400" b="0">
                <a:solidFill>
                  <a:srgbClr val="333333"/>
                </a:solidFill>
                <a:latin typeface="Calibri"/>
              </a:rPr>
              <a:t>Feature Engineering &amp; Feature Stores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1206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 b="0">
                <a:solidFill>
                  <a:srgbClr val="666666"/>
                </a:solidFill>
                <a:latin typeface="Calibri"/>
              </a:rPr>
              <a:t>Module 02 — Data &amp; AI Engineering Track  |  الوحدة الثانية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Calibri"/>
              </a:rPr>
              <a:t>هندسة الخصائص / Feature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تحويل البيانات الخام إلى ميزات ذات معنى تدعم تدريب النماذج وخدمتها.</a:t>
            </a:r>
          </a:p>
          <a:p>
            <a:pPr algn="r" rtl="0">
              <a:spcAft>
                <a:spcPts val="1000"/>
              </a:spcAft>
            </a:pPr>
            <a:r>
              <a:rPr sz="1900">
                <a:solidFill>
                  <a:srgbClr val="666666"/>
                </a:solidFill>
                <a:latin typeface="Calibri"/>
              </a:rPr>
              <a:t>   Turning raw data into meaningful features supporting model training and serving.</a:t>
            </a:r>
          </a:p>
          <a:p>
            <a:pPr algn="r" rtl="1"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أمثلة: التجميعات الزمنية، الترميز، التطبيع.</a:t>
            </a:r>
          </a:p>
          <a:p>
            <a:pPr algn="r" rtl="0">
              <a:spcAft>
                <a:spcPts val="1000"/>
              </a:spcAft>
            </a:pPr>
            <a:r>
              <a:rPr sz="1900">
                <a:solidFill>
                  <a:srgbClr val="666666"/>
                </a:solidFill>
                <a:latin typeface="Calibri"/>
              </a:rPr>
              <a:t>   Examples: time-window aggregates, encoding, normalization.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Calibri"/>
              </a:rPr>
              <a:t>مخازن الخصائص / Feature Stores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Feast وTecton وHopsworks: تعريف الميزة مرة واحدة وإعادة استخدامها في التدريب والخدمة.</a:t>
            </a:r>
          </a:p>
          <a:p>
            <a:pPr algn="r" rtl="0">
              <a:spcAft>
                <a:spcPts val="1000"/>
              </a:spcAft>
            </a:pPr>
            <a:r>
              <a:rPr sz="1900">
                <a:solidFill>
                  <a:srgbClr val="666666"/>
                </a:solidFill>
                <a:latin typeface="Calibri"/>
              </a:rPr>
              <a:t>   Feast, Tecton, Hopsworks: define features once, reuse for training and serving.</a:t>
            </a:r>
          </a:p>
          <a:p>
            <a:pPr algn="r" rtl="1"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تمنع انحراف الميزات بين التدريب والإنتاج.</a:t>
            </a:r>
          </a:p>
          <a:p>
            <a:pPr algn="r" rtl="0">
              <a:spcAft>
                <a:spcPts val="1000"/>
              </a:spcAft>
            </a:pPr>
            <a:r>
              <a:rPr sz="1900">
                <a:solidFill>
                  <a:srgbClr val="666666"/>
                </a:solidFill>
                <a:latin typeface="Calibri"/>
              </a:rPr>
              <a:t>   They prevent feature skew between training and production.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Calibri"/>
              </a:rPr>
              <a:t>اتساق Offline/Online / Consistency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Offline للتدريب التاريخي؛ Online لخدمة منخفضة الكمون (ميلي ثانية).</a:t>
            </a:r>
          </a:p>
          <a:p>
            <a:pPr algn="r" rtl="0">
              <a:spcAft>
                <a:spcPts val="1000"/>
              </a:spcAft>
            </a:pPr>
            <a:r>
              <a:rPr sz="1900">
                <a:solidFill>
                  <a:srgbClr val="666666"/>
                </a:solidFill>
                <a:latin typeface="Calibri"/>
              </a:rPr>
              <a:t>   Offline for historical training; online for low-latency (ms) serving.</a:t>
            </a:r>
          </a:p>
          <a:p>
            <a:pPr algn="r" rtl="1"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اتساق القيم بين البيئتين شرط لصحة النموذج في الإنتاج.</a:t>
            </a:r>
          </a:p>
          <a:p>
            <a:pPr algn="r" rtl="0">
              <a:spcAft>
                <a:spcPts val="1000"/>
              </a:spcAft>
            </a:pPr>
            <a:r>
              <a:rPr sz="1900">
                <a:solidFill>
                  <a:srgbClr val="666666"/>
                </a:solidFill>
                <a:latin typeface="Calibri"/>
              </a:rPr>
              <a:t>   Value consistency across stores is essential for production correctness.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Calibri"/>
              </a:rPr>
              <a:t>معمارية مخزن الخصائص / Feature Store Architecture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2560320"/>
            <a:ext cx="2011680" cy="118872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Calibri"/>
              </a:rPr>
              <a:t>مصادر البيانات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Data Sources</a:t>
            </a:r>
          </a:p>
        </p:txBody>
      </p:sp>
      <p:sp>
        <p:nvSpPr>
          <p:cNvPr id="4" name="Right Arrow 3"/>
          <p:cNvSpPr/>
          <p:nvPr/>
        </p:nvSpPr>
        <p:spPr>
          <a:xfrm>
            <a:off x="2724912" y="3017520"/>
            <a:ext cx="411480" cy="274320"/>
          </a:xfrm>
          <a:prstGeom prst="righ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200400" y="2560320"/>
            <a:ext cx="2194560" cy="118872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Calibri"/>
              </a:rPr>
              <a:t>خط الخصائص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Feature Pipeline
هندسة + تحويل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468112" y="2331720"/>
            <a:ext cx="411480" cy="274320"/>
          </a:xfrm>
          <a:prstGeom prst="righ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ight Arrow 6"/>
          <p:cNvSpPr/>
          <p:nvPr/>
        </p:nvSpPr>
        <p:spPr>
          <a:xfrm>
            <a:off x="5468112" y="3611880"/>
            <a:ext cx="411480" cy="274320"/>
          </a:xfrm>
          <a:prstGeom prst="righ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943600" y="1554480"/>
            <a:ext cx="2468880" cy="118872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300" b="1">
                <a:solidFill>
                  <a:srgbClr val="333333"/>
                </a:solidFill>
                <a:latin typeface="Calibri"/>
              </a:rPr>
              <a:t>المخزن غير المتصل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Offline Store
تدريب النماذج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0" y="3566160"/>
            <a:ext cx="2468880" cy="1188720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300" b="1">
                <a:solidFill>
                  <a:srgbClr val="333333"/>
                </a:solidFill>
                <a:latin typeface="Calibri"/>
              </a:rPr>
              <a:t>المخزن المتصل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Online Store
استدلال منخفض زمن الاستجابة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0" y="1554480"/>
            <a:ext cx="2194560" cy="118872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Calibri"/>
              </a:rPr>
              <a:t>التدريب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Training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0" y="3566160"/>
            <a:ext cx="2194560" cy="118872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Calibri"/>
              </a:rPr>
              <a:t>الاستدلال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Serving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8449056" y="2011680"/>
            <a:ext cx="658368" cy="274320"/>
          </a:xfrm>
          <a:prstGeom prst="righ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ight Arrow 12"/>
          <p:cNvSpPr/>
          <p:nvPr/>
        </p:nvSpPr>
        <p:spPr>
          <a:xfrm>
            <a:off x="8449056" y="4023360"/>
            <a:ext cx="658368" cy="274320"/>
          </a:xfrm>
          <a:prstGeom prst="righ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>
                <a:solidFill>
                  <a:srgbClr val="666666"/>
                </a:solidFill>
                <a:latin typeface="Calibri"/>
              </a:rPr>
              <a:t>قيمة مخزن الخصائص: نفس تعريف الخصائص للتدريب والاستدلال — لا انحراف.</a:t>
            </a:r>
          </a:p>
          <a:p>
            <a:pPr algn="r" rtl="0"/>
            <a:r>
              <a:t>Core value: one feature definition for training and serving — no skew.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Calibri"/>
              </a:rPr>
              <a:t>الربط بالتطبيقات الوكيلة / Agentic Applications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الوكلاء يحتاجون ميزات لحظية متسقة لقرارات التخصيص والمخاطر والتوجيه.</a:t>
            </a:r>
          </a:p>
          <a:p>
            <a:pPr algn="r" rtl="0">
              <a:spcAft>
                <a:spcPts val="1000"/>
              </a:spcAft>
            </a:pPr>
            <a:r>
              <a:rPr sz="1900">
                <a:solidFill>
                  <a:srgbClr val="666666"/>
                </a:solidFill>
                <a:latin typeface="Calibri"/>
              </a:rPr>
              <a:t>   Agents need consistent real-time features for personalization, risk, and routing.</a:t>
            </a:r>
          </a:p>
          <a:p>
            <a:pPr algn="r" rtl="1"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مخزن الخصائص هو «مصدر الحقيقة» للميزات أمام أي وكيل ذكي.</a:t>
            </a:r>
          </a:p>
          <a:p>
            <a:pPr algn="r" rtl="0">
              <a:spcAft>
                <a:spcPts val="1000"/>
              </a:spcAft>
            </a:pPr>
            <a:r>
              <a:rPr sz="1900">
                <a:solidFill>
                  <a:srgbClr val="666666"/>
                </a:solidFill>
                <a:latin typeface="Calibri"/>
              </a:rPr>
              <a:t>   The feature store is the single source of truth behind any agent.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Calibri"/>
              </a:rPr>
              <a:t>اختبار قصير / Quick Quiz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• 1. ما المشكلة التي يحلها مخزن الخصائص؟</a:t>
            </a:r>
          </a:p>
          <a:p>
            <a:pPr algn="r" rtl="0">
              <a:spcAft>
                <a:spcPts val="1000"/>
              </a:spcAft>
            </a:pPr>
            <a:r>
              <a:rPr sz="2000">
                <a:solidFill>
                  <a:srgbClr val="666666"/>
                </a:solidFill>
                <a:latin typeface="Calibri"/>
              </a:rPr>
              <a:t>   What problem does a feature store solve?</a:t>
            </a:r>
          </a:p>
          <a:p>
            <a:pPr algn="r" rtl="1"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• 2. فرّق بين المخزن Offline وOnline.</a:t>
            </a:r>
          </a:p>
          <a:p>
            <a:pPr algn="r" rtl="0">
              <a:spcAft>
                <a:spcPts val="1000"/>
              </a:spcAft>
            </a:pPr>
            <a:r>
              <a:rPr sz="2000">
                <a:solidFill>
                  <a:srgbClr val="666666"/>
                </a:solidFill>
                <a:latin typeface="Calibri"/>
              </a:rPr>
              <a:t>   Differentiate offline vs online stores.</a:t>
            </a:r>
          </a:p>
          <a:p>
            <a:pPr algn="r" rtl="1"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• 3. اذكر أداتين لمخازن الخصائص.</a:t>
            </a:r>
          </a:p>
          <a:p>
            <a:pPr algn="r" rtl="0">
              <a:spcAft>
                <a:spcPts val="1000"/>
              </a:spcAft>
            </a:pPr>
            <a:r>
              <a:rPr sz="2000">
                <a:solidFill>
                  <a:srgbClr val="666666"/>
                </a:solidFill>
                <a:latin typeface="Calibri"/>
              </a:rPr>
              <a:t>   Name two feature-store tools.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Calibri"/>
              </a:rPr>
              <a:t>للاستزادة / Further Reading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• توثيق Feast.</a:t>
            </a:r>
          </a:p>
          <a:p>
            <a:pPr algn="r" rtl="0">
              <a:spcAft>
                <a:spcPts val="1000"/>
              </a:spcAft>
            </a:pPr>
            <a:r>
              <a:rPr sz="2000">
                <a:solidFill>
                  <a:srgbClr val="666666"/>
                </a:solidFill>
                <a:latin typeface="Calibri"/>
              </a:rPr>
              <a:t>   Feast documentation.</a:t>
            </a:r>
          </a:p>
          <a:p>
            <a:pPr algn="r" rtl="1"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• توثيق Hopsworks Feature Store.</a:t>
            </a:r>
          </a:p>
          <a:p>
            <a:pPr algn="r" rtl="0">
              <a:spcAft>
                <a:spcPts val="1000"/>
              </a:spcAft>
            </a:pPr>
            <a:r>
              <a:rPr sz="2000">
                <a:solidFill>
                  <a:srgbClr val="666666"/>
                </a:solidFill>
                <a:latin typeface="Calibri"/>
              </a:rPr>
              <a:t>   Hopsworks feature store docs.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Calibri"/>
              </a:rPr>
              <a:t>معمارية مخزن الخصائص / Feature Store Architecture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2560320"/>
            <a:ext cx="2011680" cy="118872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Calibri"/>
              </a:rPr>
              <a:t>مصادر البيانات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Data Sources</a:t>
            </a:r>
          </a:p>
        </p:txBody>
      </p:sp>
      <p:sp>
        <p:nvSpPr>
          <p:cNvPr id="4" name="Right Arrow 3"/>
          <p:cNvSpPr/>
          <p:nvPr/>
        </p:nvSpPr>
        <p:spPr>
          <a:xfrm>
            <a:off x="2724912" y="3017520"/>
            <a:ext cx="411480" cy="274320"/>
          </a:xfrm>
          <a:prstGeom prst="righ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200400" y="2560320"/>
            <a:ext cx="2194560" cy="118872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Calibri"/>
              </a:rPr>
              <a:t>خط الخصائص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Feature Pipeline
هندسة + تحويل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468112" y="2331720"/>
            <a:ext cx="411480" cy="274320"/>
          </a:xfrm>
          <a:prstGeom prst="righ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ight Arrow 6"/>
          <p:cNvSpPr/>
          <p:nvPr/>
        </p:nvSpPr>
        <p:spPr>
          <a:xfrm>
            <a:off x="5468112" y="3611880"/>
            <a:ext cx="411480" cy="274320"/>
          </a:xfrm>
          <a:prstGeom prst="righ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943600" y="1554480"/>
            <a:ext cx="2468880" cy="118872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300" b="1">
                <a:solidFill>
                  <a:srgbClr val="333333"/>
                </a:solidFill>
                <a:latin typeface="Calibri"/>
              </a:rPr>
              <a:t>المخزن غير المتصل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Offline Store
تدريب النماذج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0" y="3566160"/>
            <a:ext cx="2468880" cy="1188720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300" b="1">
                <a:solidFill>
                  <a:srgbClr val="333333"/>
                </a:solidFill>
                <a:latin typeface="Calibri"/>
              </a:rPr>
              <a:t>المخزن المتصل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Online Store
استدلال منخفض زمن الاستجابة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0" y="1554480"/>
            <a:ext cx="2194560" cy="118872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Calibri"/>
              </a:rPr>
              <a:t>التدريب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Training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0" y="3566160"/>
            <a:ext cx="2194560" cy="118872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Calibri"/>
              </a:rPr>
              <a:t>الاستدلال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Serving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8449056" y="2011680"/>
            <a:ext cx="658368" cy="274320"/>
          </a:xfrm>
          <a:prstGeom prst="righ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ight Arrow 12"/>
          <p:cNvSpPr/>
          <p:nvPr/>
        </p:nvSpPr>
        <p:spPr>
          <a:xfrm>
            <a:off x="8449056" y="4023360"/>
            <a:ext cx="658368" cy="274320"/>
          </a:xfrm>
          <a:prstGeom prst="righ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>
                <a:solidFill>
                  <a:srgbClr val="666666"/>
                </a:solidFill>
                <a:latin typeface="Calibri"/>
              </a:rPr>
              <a:t>قيمة مخزن الخصائص: نفس تعريف الخصائص للتدريب والاستدلال — لا انحراف.</a:t>
            </a:r>
          </a:p>
          <a:p>
            <a:pPr algn="r" rtl="0"/>
            <a:r>
              <a:t>Core value: one feature definition for training and serving — no skew.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