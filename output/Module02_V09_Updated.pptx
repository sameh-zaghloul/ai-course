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0" r:id="rId21"/>
    <p:sldId id="267" r:id="rId18"/>
    <p:sldId id="269" r:id="rId20"/>
    <p:sldId id="258" r:id="rId9"/>
    <p:sldId id="266" r:id="rId17"/>
    <p:sldId id="259" r:id="rId10"/>
    <p:sldId id="268" r:id="rId19"/>
    <p:sldId id="260" r:id="rId11"/>
    <p:sldId id="261" r:id="rId12"/>
    <p:sldId id="265" r:id="rId16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9.xml"/><Relationship Id="rId17" Type="http://schemas.openxmlformats.org/officeDocument/2006/relationships/slide" Target="slides/slide5.xml"/><Relationship Id="rId18" Type="http://schemas.openxmlformats.org/officeDocument/2006/relationships/slide" Target="slides/slide3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4E79"/>
                </a:solidFill>
                <a:latin typeface="Calibri"/>
              </a:rPr>
              <a:t>V09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800" b="1">
                <a:solidFill>
                  <a:srgbClr val="1F3B5C"/>
                </a:solidFill>
                <a:latin typeface="Calibri"/>
              </a:rPr>
              <a:t>قواعد البيانات المتجهية + RAG التطبيقي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400" b="0">
                <a:solidFill>
                  <a:srgbClr val="333333"/>
                </a:solidFill>
                <a:latin typeface="Calibri"/>
              </a:rPr>
              <a:t>Vector Databases + Applied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Calibri"/>
              </a:rPr>
              <a:t>Module 02 — Data &amp; AI Engineering Track  |  الوحدة الثانية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قواعد البيانات المتجهية / Vector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تخزين التمثيلات المتجهية (Embeddings) والبحث فيها بالتشابه: Pinecone، Weaviate، pgvector، ChromaDB.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Store embeddings and search by similarity: Pinecone, Weaviate, pgvector, ChromaDB.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فهرس HNSW يمنح بحثًا تقريبيًا سريعًا (ANN) بكفاءة عالية.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HNSW index provides fast approximate nearest-neighbor (ANN) search.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32888" y="2514600"/>
            <a:ext cx="21945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54880" y="2514600"/>
            <a:ext cx="21945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976872" y="2514600"/>
            <a:ext cx="21945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98864" y="2514600"/>
            <a:ext cx="21945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من الفهرسة إلى التقييم — المسار التطبيقي في مختبر L03.</a:t>
            </a:r>
          </a:p>
          <a:p>
            <a:pPr algn="r" rtl="0"/>
            <a:r>
              <a:t>From indexing to evaluation — applied in lab L03.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1) الفهرسة: استراتيجيات التقسيم / Indexing: Chunking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ثابت الحجم: أبسطها مع تداخل لكنه يقطع الجُمل. دلالي: تجميع حسب تشابه الكوساينس، حساس للعتبة.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Fixed-size: simplest with overlap but breaks sentences. Semantic: cosine grouping, threshold-sensitive.</a:t>
            </a:r>
          </a:p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تكراري (الموصى به افتراضيًا): فصل بالفقرات ثم تقسيم ما تجاوز الحد. بحسب البنية: العناوين. بالنموذج اللغوي: الأدق والأغلى.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Recursive (recommended default): split by paragraphs then oversized chunks. Structure-based: headings. LLM-based: most accurate, most expensive.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t>★ Recursive: split by paragraphs, then oversized chunks.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2) الاسترجاع /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بحث هجين: كثيف (Dense) + متناثر (BM25) يغطي المعنى والكلمات المفتاحية معًا.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Hybrid search: dense + sparse (BM25) covers meaning and keywords.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إعادة ترتيب Cross-encoder وتحويل الاستعلام Multi-Query يرفعان دقة النتائج.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Cross-encoder reranking and multi-query transformation improve precision.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3) التوليد /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موجِّه مقيَّد بالمصادر المسترجعة (Grounded Prompting) مع الاستشهاد: «أجب فقط من السياق المرفق».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Grounded prompting strictly on retrieved sources with citations: 'answer only from the provided context'.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4) التقييم + 5) التحسين / Evaluation +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مثلث RAG: الوفاء (Faithfulness)، ملاءمة الإجابة (Answer Relevancy)، دقة السياق (Context Precision) — بإطار RAGAS.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RAG triad: faithfulness, answer relevancy, context precision — measured with RAGAS.</a:t>
            </a:r>
          </a:p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التحسين: تخزين دلالي مؤقت، توجيه الطلبات بين النماذج، ومراقبة مستمرة.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Optimization: semantic caching, model routing, continuous monitoring.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t>Measured with RAGAS — faithfulness prevents hallucination; relevancy keeps answers useful.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الأخطاء الشائعة / Common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تقسيم يكسر الجداول أو الأكواد؛ إهمال إعادة الترتيب فيضيع الأكثر ملاءمة.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Chunking that breaks tables/code; skipping reranking loses the most relevant hits.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غياب تقييم الوفاء فيسمح بالهلوسة؛ استرجاع أعلى-ك دون حد أدنى للدرجة.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No faithfulness evaluation allows hallucination; top-k without a score floor.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1. ما استراتيجية التقسيم الموصى بها افتراضيًا؟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Which chunking strategy is the recommended default?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2. لماذا نجمع البحث الكثيف مع BM25؟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Why combine dense search with BM25?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3. ما مكونات مثلث تقييم RAG الثلاثة؟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Name the three parts of the RAG evaluation triad.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4. ما وظيفة إعادة الترتيب Cross-encoder؟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What does cross-encoder reranking do?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5. كيف يقلل التخزين الدلالي المؤقت التكلفة؟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How does semantic caching cut cost?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Daily Dose of DS — استراتيجيات تقسيم RAG.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Daily Dose of DS — RAG chunking strategies.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توثيق RAGAS لإطار التقييم.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RAGAS evaluation framework docs.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توثيق ChromaDB والفهرسة HNSW.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ChromaDB docs and HNSW indexing.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t>Measured with RAGAS — faithfulness prevents hallucination; relevancy keeps answers useful.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t>★ Recursive: split by paragraphs, then oversized chunks.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32888" y="2514600"/>
            <a:ext cx="21945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54880" y="2514600"/>
            <a:ext cx="21945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976872" y="2514600"/>
            <a:ext cx="21945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98864" y="2514600"/>
            <a:ext cx="219456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Calibri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Calibri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من الفهرسة إلى التقييم — المسار التطبيقي في مختبر L03.</a:t>
            </a:r>
          </a:p>
          <a:p>
            <a:pPr algn="r" rtl="0"/>
            <a:r>
              <a:t>From indexing to evaluation — applied in lab L03.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