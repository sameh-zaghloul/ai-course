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7" r:id="rId18"/>
    <p:sldId id="259" r:id="rId10"/>
    <p:sldId id="268" r:id="rId19"/>
    <p:sldId id="260" r:id="rId11"/>
    <p:sldId id="261" r:id="rId12"/>
    <p:sldId id="269" r:id="rId20"/>
    <p:sldId id="262" r:id="rId13"/>
    <p:sldId id="270" r:id="rId21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2800" b="1">
                <a:solidFill>
                  <a:srgbClr val="1F4E79"/>
                </a:solidFill>
                <a:latin typeface="Calibri"/>
              </a:rPr>
              <a:t>Module 02  |  V09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</a:rPr>
              <a:t>قواعد البيانات المتجهية + RAG التطبيقي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3000" b="0">
                <a:solidFill>
                  <a:srgbClr val="333333"/>
                </a:solidFill>
                <a:latin typeface="Calibri"/>
              </a:rPr>
              <a:t>Vector Databases + Applied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>
                <a:solidFill>
                  <a:srgbClr val="666666"/>
                </a:solidFill>
                <a:latin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1/15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V09 — قواعد البيانات المتجهية + RAG التطبيقي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</a:rPr>
              <a:t>• V09 — Vector Databases + Applied RAG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قواعد البيانات المتجهية / Vector Databases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1) الفهرسة: استراتيجيات التقسيم / Indexing: Chunking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2) الاسترجاع / Retrieval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3) التوليد / Generation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4) التقييم + 5) التحسين / Evaluation + Optimization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</a:rPr>
              <a:t>• الأخطاء الشائعة / Common Pitfalls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قواعد البيانات المتجهية / Vector Databases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تخزين التمثيلات المتجهية (Embeddings) والبحث فيها بالتشابه: Pinecone، Weaviate، pgvector، ChromaDB.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Store embeddings and search by similarity: Pinecone, Weaviate, pgvector, ChromaDB.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فهرس HNSW يمنح بحثًا تقريبيًا سريعًا (ANN) بكفاءة عالية.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HNSW index provides fast approximate nearest-neighbor (ANN) search.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1) الفهرسة: استراتيجيات التقسيم / Indexing: Chunking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ثابت الحجم: أبسطها مع تداخل لكنه يقطع الجُمل. دلالي: تجميع حسب تشابه الكوساينس، حساس للعتبة.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Fixed-size: simplest with overlap but breaks sentences. Semantic: cosine grouping, threshold-sensitive.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تكراري (الموصى به افتراضيًا): فصل بالفقرات ثم تقسيم ما تجاوز الحد. بحسب البنية: العناوين. بالنموذج اللغوي: الأدق والأغلى.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Recursive (recommended default): split by paragraphs then oversized chunks. Structure-based: headings. LLM-based: most accurate, most expensive.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5/15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2) الاسترجاع /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بحث هجين: كثيف (Dense) + متناثر (BM25) يغطي المعنى والكلمات المفتاحية معًا.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Hybrid search: dense + sparse (BM25) covers meaning and keywords.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إعادة ترتيب Cross-encoder وتحويل الاستعلام Multi-Query يرفعان دقة النتائج.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Cross-encoder reranking and multi-query transformation improve precision.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7/15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3) التوليد /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موجِّه مقيَّد بالمصادر المسترجعة (Grounded Prompting) مع الاستشهاد: «أجب فقط من السياق المرفق».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Grounded prompting strictly on retrieved sources with citations: 'answer only from the provided context'.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8/15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4) التقييم + 5) التحسين / Evaluation +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مثلث RAG: الوفاء (Faithfulness)، ملاءمة الإجابة (Answer Relevancy)، دقة السياق (Context Precision) — بإطار RAGAS.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RAG triad: faithfulness, answer relevancy, context precision — measured with RAGAS.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التحسين: تخزين دلالي مؤقت، توجيه الطلبات بين النماذج، ومراقبة مستمرة.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Optimization: semantic caching, model routing, continuous monitoring.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10/15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الأخطاء الشائعة / Common Pitfalls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تقسيم يكسر الجداول أو الأكواد؛ إهمال إعادة الترتيب فيضيع الأكثر ملاءمة.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Chunking that breaks tables/code; skipping reranking loses the most relevant hits.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</a:rPr>
              <a:t>• غياب تقييم الوفاء فيسمح بالهلوسة؛ استرجاع أعلى-ك دون حد أدنى للدرجة.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</a:rPr>
              <a:t>• No faithfulness evaluation allows hallucination; top-k without a score floor.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12/15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1. ما استراتيجية التقسيم الموصى بها افتراضيًا؟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Which chunking strategy is the recommended default?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2. لماذا نجمع البحث الكثيف مع BM25؟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Why combine dense search with BM25?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3. ما مكونات مثلث تقييم RAG الثلاثة؟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Name the three parts of the RAG evaluation triad.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4. ما وظيفة إعادة الترتيب Cross-encoder؟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What does cross-encoder reranking do?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5. كيف يقلل التخزين الدلالي المؤقت التكلفة؟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How does semantic caching cut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13/15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1. التقسيم التكراري Recursive Chunking.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Recursive chunking.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2. الكثيف يفهم المعنى وBM25 يطابق الكلمات النادرة حرفيًا.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Dense captures meaning; BM25 matches rare exact keywords.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3. الوفاء، ملاءمة الإجابة، دقة السياق.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Faithfulness, answer relevancy, context precision.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4. يعيد ترتيب المرشحين بنموذج أدق لرفع ملاءمة النتائج.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Re-scores candidates with a more accurate model.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</a:rPr>
              <a:t>• 5. يعيد استخدام إجابات الأسئلة المشابهة بدل استدعاء النموذج كل مرة.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</a:rPr>
              <a:t>• Reuses answers for similar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14/15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Daily Dose of DS — استراتيجيات تقسيم RAG.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Daily Dose of DS — RAG chunking strategies.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RAGAS لإطار التقييم.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RAGAS evaluation framework docs.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</a:rPr>
              <a:t>• توثيق ChromaDB والفهرسة HNSW.</a:t>
            </a:r>
          </a:p>
          <a:p>
            <a:pPr algn="l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</a:rPr>
              <a:t>• ChromaDB docs and HNSW indexing.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15/15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خط أنابيب RAG / RAG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1) الفهرسة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Indexing</a:t>
            </a:r>
          </a:p>
        </p:txBody>
      </p:sp>
      <p:sp>
        <p:nvSpPr>
          <p:cNvPr id="4" name="Left Arrow 3"/>
          <p:cNvSpPr/>
          <p:nvPr/>
        </p:nvSpPr>
        <p:spPr>
          <a:xfrm>
            <a:off x="2532888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70632" y="201168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2) الاسترجاع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Retrieval</a:t>
            </a:r>
          </a:p>
        </p:txBody>
      </p:sp>
      <p:sp>
        <p:nvSpPr>
          <p:cNvPr id="6" name="Left Arrow 5"/>
          <p:cNvSpPr/>
          <p:nvPr/>
        </p:nvSpPr>
        <p:spPr>
          <a:xfrm>
            <a:off x="4754880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92624" y="201168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3) التوليد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Generation</a:t>
            </a:r>
          </a:p>
        </p:txBody>
      </p:sp>
      <p:sp>
        <p:nvSpPr>
          <p:cNvPr id="8" name="Left Arrow 7"/>
          <p:cNvSpPr/>
          <p:nvPr/>
        </p:nvSpPr>
        <p:spPr>
          <a:xfrm>
            <a:off x="6976872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14616" y="201168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4) التقييم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Evaluation</a:t>
            </a:r>
          </a:p>
        </p:txBody>
      </p:sp>
      <p:sp>
        <p:nvSpPr>
          <p:cNvPr id="10" name="Left Arrow 9"/>
          <p:cNvSpPr/>
          <p:nvPr/>
        </p:nvSpPr>
        <p:spPr>
          <a:xfrm>
            <a:off x="9198864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36608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5) التحسين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Optimization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تقسيم تكراري + HNSW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0632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بحث هجين + إعادة ترتيب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92624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موجِّه مقيَّد بالمصادر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4616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مثلث RAG (RAGAS)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36608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تخزين مؤقت + توجيه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من الفهرسة إلى التقييم — المسار التطبيقي في مختبر L03.</a:t>
            </a:r>
          </a:p>
          <a:p>
            <a:pPr algn="r" rtl="0"/>
            <a:r>
              <a:t>From indexing to evaluation — applied in lab L03.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4/15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استراتيجيات تقسيم النصوص / Chunking Strategies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2344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ثابت الحجم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Fixed-size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12344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أبسطها — يقطع الجُمل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دلالي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Semantic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21488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تماسك أفضل — حساس للعتبة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2560320" cy="7772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تكراري ★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Recursive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30632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الموصى به افتراضيًا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776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بحسب البنية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Structure-based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39776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عناوين وأقسام — يُدمج مع التكراري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بالنموذج اللغوي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LLM-based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48920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الأدق — الأغلى حسابيًا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★ التقسيم التكراري: فصل بالفقرات ثم تقسيم ما تجاوز الحد الأقصى.</a:t>
            </a:r>
          </a:p>
          <a:p>
            <a:pPr algn="r" rtl="0"/>
            <a:r>
              <a:t>★ Recursive: split by paragraphs, then oversized chunks.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6/15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نمط الإجابة المؤرَّضة / Grounded Answer Pattern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17320"/>
            <a:ext cx="2743200" cy="109728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سؤال المتعلِّم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Learner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97480"/>
            <a:ext cx="2743200" cy="11430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ما الاستراتيجية الافتراضية للتقسيم؟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Which chunking default should I use?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520440" y="3063240"/>
            <a:ext cx="59436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1280160"/>
            <a:ext cx="3063240" cy="10058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أدلة مسترجعة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Retrieved 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514600"/>
            <a:ext cx="3063240" cy="658368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[1] الفقرات ← الجمل ← التقسيم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[1] paragraphs → sentences → split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310128"/>
            <a:ext cx="3063240" cy="658368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[2] التكراري هو الخيار الموصى به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[2] recursive is the recommended default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452360" y="3063240"/>
            <a:ext cx="59436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83879" y="1417320"/>
            <a:ext cx="3337560" cy="109728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إجابة موثقة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Grounded answer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2697480"/>
            <a:ext cx="3337560" cy="11430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ابدأ بالتقسيم التكراري [1][2]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Start with recursive chunking [1][2]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94560" y="4892040"/>
            <a:ext cx="7818120" cy="6858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لا دليل مسترجع؟ قل: لا أعرف / No retrieved evidence? Say: I don't know.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القاعدة: لا تتجاوز الأدلة، واربط كل ادعاء بمصدر.</a:t>
            </a:r>
          </a:p>
          <a:p>
            <a:pPr algn="r" rtl="0"/>
            <a:r>
              <a:t>Rule: do not go beyond the evidence; connect every claim to a source.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9/15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مثلث تقييم RAG / RAG Evaluation Triad</a:t>
            </a:r>
          </a:p>
        </p:txBody>
      </p:sp>
      <p:sp>
        <p:nvSpPr>
          <p:cNvPr id="3" name="Isosceles Triangle 2"/>
          <p:cNvSpPr/>
          <p:nvPr/>
        </p:nvSpPr>
        <p:spPr>
          <a:xfrm>
            <a:off x="3749039" y="1463040"/>
            <a:ext cx="4572000" cy="3840480"/>
          </a:xfrm>
          <a:prstGeom prst="triangle">
            <a:avLst/>
          </a:prstGeom>
          <a:solidFill>
            <a:srgbClr val="DCE6F1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480560" y="1188720"/>
            <a:ext cx="3108960" cy="7315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الوفاء بالمصدر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Faithfulness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4846320"/>
            <a:ext cx="3108960" cy="7315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ملاءمة الإجابة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Answer Relevancy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4846320"/>
            <a:ext cx="31089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دقة السياق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Context Precision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يُقاس بإطار RAGAS — الوفاء يمنع الهلوسة والملاءمة تجعل الإجابة نافعة.</a:t>
            </a:r>
          </a:p>
          <a:p>
            <a:pPr algn="r" rtl="0"/>
            <a:r>
              <a:t>Measured with RAGAS — faithfulness prevents hallucination; relevancy keeps answers useful.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</a:rPr>
              <a:t>Module 02 — Data &amp; AI Engineering Track  |  الوحدة الثانية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</a:rPr>
              <a:t>V09  •  11/15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