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Module 02: Data Engineering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C8DCFF"/>
                </a:solidFill>
              </a:defRPr>
            </a:pPr>
            <a:r>
              <a:t>وحدة 02: هندسة البيانات للذكاء الاصطناعي</a:t>
            </a: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7 Modules + Lab + Glossary +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D7EE"/>
                </a:solidFill>
              </a:defRPr>
            </a:pPr>
            <a:r>
              <a:t>Interactive Learning Journey | 145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📑 Course Agenda / جدول الأعمال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V06 — Data Fundamentals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V07 — Warehouses, Lakes &amp; Lakehouse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V08 — Feature Engineering &amp; 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V09 — Vector DBs + Applied RAG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V10 — Labeling at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V11 — Governance, Lineage &amp;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V12 — MLOps + Lab 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Glossary &amp; Quizzes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4E79"/>
                </a:solidFill>
              </a:defRPr>
            </a:pPr>
            <a:r>
              <a:t>  • Visualizations &amp;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V06 — أساسيات البيانات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V06 — Data Fundamentals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خريطة المسار / Roadmap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أنواع البيانات / Data Types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التنسيقات / Formats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أنابيب ETL / ELT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مقارنة أنماط المعالجة / Processing Patterns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جدول المقارنة السريع / Quick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2/13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المسار / Track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البيانات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174650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83664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التخزين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Storage</a:t>
            </a:r>
          </a:p>
        </p:txBody>
      </p:sp>
      <p:sp>
        <p:nvSpPr>
          <p:cNvPr id="6" name="Left Arrow 5"/>
          <p:cNvSpPr/>
          <p:nvPr/>
        </p:nvSpPr>
        <p:spPr>
          <a:xfrm>
            <a:off x="312724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4408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8" name="Left Arrow 7"/>
          <p:cNvSpPr/>
          <p:nvPr/>
        </p:nvSpPr>
        <p:spPr>
          <a:xfrm>
            <a:off x="4507992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الفهارس المتجهية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Vector Indexes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888736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25896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التصنيف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Labeling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7269480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865022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87384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003096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68128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المختبر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رحلة الوحدة الثانية من البيانات الخام إلى نقطة نهاية RAG.</a:t>
            </a:r>
          </a:p>
          <a:p>
            <a:pPr algn="r" rtl="0"/>
            <a:r>
              <a:t>Module 02 journey: from raw data to a RAG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3/13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وحدات المقرر / Course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V06 — أساسيات البيانات / Data Fundamentals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V07 — المستودعات والبحيرات ومعمارية Lakehouse / Warehouses, Data Lakes &amp;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V08 — هندسة الخصائص ومخازنها / Feature Engineering &amp;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V09 — قواعد البيانات المتجهية + RAG التطبيقي /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V10 — تصنيف البيانات على نطاق واسع / Labeling at Scale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V11 — حوكمة البيانات وسلسلة العهدة والفهرسة / Data Governance, Lineage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V12 — أساسيات MLOps + تمهيد للمختبر / MLOps Fundamentals + Lab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4/13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أنواع البيانات /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بيانات مهيكلة (جداول)، شبه مهيكلة (JSON/XML)، غير مهيكلة (نصوص، صور، صوت).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Structured (tables), semi-structured (JSON/XML), unstructured (text, images, audio).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اختيار النوع يحدد أدوات التخزين والمعالجة المناسبة.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 data type determines the right storage and processing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5/13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التنسيقات /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CSV للتبادل البسيط، JSON للواجهات البرمجية، Parquet وAvro للتحليلات والأنابيب.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CSV for simple exchange, JSON for APIs, Parquet and Avro for analytics and pipelines.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التنسيقات العمودية (Parquet) تقلل الحجم وتسرّع القراءة التحليلية.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Columnar formats (Parquet) reduce size and speed up analytical 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6/13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طيف البيانات والتنسيقات / Data Spectrum &amp; Formats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20440" cy="9601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Structured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جداول / Tables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CSV • Parquet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9601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شبه 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Semi-structured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سجلات مرنة / Flexible records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JSON • Avro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520440" cy="9601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غير 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Unstructured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نصوص وصور وصوت / Text, images, audio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PDF • JPG • 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160520"/>
            <a:ext cx="9235440" cy="7772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اختر التنسيق حسب الاستخدام: تبادل بسيط ← تحليلات سريعة ← محتوى غني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Choose the format for the job: simple exchange ← fast analytics ← rich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Parquet عمودي للتحليلات؛ JSON مرن للواجهات؛ الملفات الغنية تحتاج استخراج محتوى.</a:t>
            </a:r>
          </a:p>
          <a:p>
            <a:pPr algn="r" rtl="0"/>
            <a:r>
              <a:t>Parquet is columnar for analytics; JSON is flexible for APIs; rich files need content extraction.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7/13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أنابيب ETL / 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ETL: التحويل قبل التحميل؛ ELT: التحميل أولاً ثم التحويل داخل المنصة المستهدفة.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ETL: transform before loading; ELT: load first, transform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ELT هو النمط السائد في بيئات Lakehouse الحديثة.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ELT is the dominant pattern in modern lakehouse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8/13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مقارنة أنماط المعالجة / Processing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المعمارية المتدرِّجة Medallion (Lakehouse): Bronze خام → Silver منقَّى → Gold جاهز للتحليل؛ إدارة مركزية؛ الأنسب للتحليلات وخطوط AI/ML/RAG.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Medallion (Lakehouse): raw Bronze → cleansed Silver → analytics-ready Gold; central ownership; best for analytics and AI/ML/RAG pipelines.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مستودع البيانات: ETL/ELT → Staging → المستودع → أسواق البيانات؛ حوكمة مركزية؛ الأنسب للتقارير وذكاء الأعمال.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warehouse: ETL/ELT → staging → warehouse → data marts; central governance; best for reporting and BI.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شبكة البيانات Data Mesh: ملكية لامركزية بالمجالات؛ منتجات بيانات بعقود (مخطط، أمان، SLA) وكتالوج موحد؛ الأنسب للمؤسسات الكبيرة.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mesh: decentralized domain ownership; data products with contracts (schema, security, SLA) and a unified catalog; best for large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9/13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جدول المقارنة: Medallion / المستودع / Data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المعيار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Medallion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المستودع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Data Mesh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الفكرة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طبقات Bronze→Silver→Gold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Staging→Warehouse→Marts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منتجات بالمجالات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المالك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هندسة 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فرق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فرق المجالات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الأنسب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تحليلات و AI/RAG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تقارير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مؤسسات كبيرة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الحوكمة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جودة بين الطبقات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موحدة + عقود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10/13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الفرق الجوهري بين ETL وELT؟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the key difference between ETL and ELT?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أين تُستخدم طبقة Gold في المعمارية المتدرِّجة؟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Where is the Gold layer used in the Medallion architecture?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أي نمط يناسب مؤسسة كبيرة بفرق مستقلة وملكية لامركزية؟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pattern suits a large organization with independent, decentralized teams?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التنسيق الأنسب للتحليلات عالية الأداء ولماذا؟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format suits high-performance analytics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11/13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ETL يحوّل قبل التحميل؛ ELT يحمّل أولاً ثم يحوّل داخل المنصة الهدف.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ETL transforms before loading; ELT loads first and transforms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تجميعات على مستوى الأعمال جاهزة للتحليل.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Business-level aggregates that are analytics-ready.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شبكة البيانات Data Mesh.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mesh.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Parquet — تنسيق عمودي يقلل الحجم ويسرّع القراءة.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Parquet — columnar, smaller and faster for analytical 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12/13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Databricks — المعمارية المتدرِّجة Medallion.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Databricks docs — Medallion architecture.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مقالات Data Mesh — Zhamak Dehghani.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 Mesh articles — Zhamak Dehghani.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Apache Parquet.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Apache Parquet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13/13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V06 — Data Fundamentals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المستودعات والبحيرات ومعمارية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Warehouses, Data Lakes &amp;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1/15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V07 — المستودعات والبحيرات ومعمارية Lakehouse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V07 — Warehouses, Data Lakes &amp;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المستودع مقابل البحيرة / Warehouse vs Lake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معمارية Lakehouse /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منتجات البيانات وعقودها / Data Products &amp; Contracts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متى تختار كل نموذج؟ / When to Choose Which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ربط بالمقرر / Course Tie-in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2/15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المستودع مقابل البحيرة / Warehouse vs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المستودع: مخطط عند الكتابة، SQL سريع، بيانات مهيكلة فقط.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Warehouse: schema-on-write, fast SQL, structured data only.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البحيرة: مخطط عند القراءة، كل التنسيقات، تكلفة تخزين منخفضة.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Lake: schema-on-read, any format, low-cost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3/15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قرار: المستودع مقابل البحيرة / Warehouse vs Lake Decision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2920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5029200" cy="822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مخطط عند الكتابة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Schema on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مخطط عند القراءة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Schema on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بيانات منظمة + SQL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Curated data +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كل التنسيقات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Any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تقارير وذكاء أعمال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Reporting and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استكشاف وAI/ML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Exploration and AI/ML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5212080"/>
            <a:ext cx="4434840" cy="6400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Lakehouse = مرونة البحيرة + موثوقية المستودع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Lakehouse = lake flexibility + warehouse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لا يوجد فائز دائم: ابدأ من نوع السؤال، والفريق، ومتطلبات الحوكمة.</a:t>
            </a:r>
          </a:p>
          <a:p>
            <a:pPr algn="r" rtl="0"/>
            <a:r>
              <a:t>There is no universal winner: start with the question, team, and governance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4/15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معمارية Lakehouse /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تجمع مرونة البحيرة وأداء المستودع في منصة واحدة (Delta Lake, Iceberg, Hudi).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Combines lake flexibility with warehouse performance (Delta Lake, Iceberg, Hudi).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طبقات معاملات ACID وفهرسة وحوكمة فوق تخزين الكائنات.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ACID transactions, indexing, and governance layers over object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5/15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Left Arrow 5"/>
          <p:cNvSpPr/>
          <p:nvPr/>
        </p:nvSpPr>
        <p:spPr>
          <a:xfrm>
            <a:off x="5897880" y="245059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 Arrow 6"/>
          <p:cNvSpPr/>
          <p:nvPr/>
        </p:nvSpPr>
        <p:spPr>
          <a:xfrm>
            <a:off x="5897880" y="395935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6/15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منتجات البيانات وعقودها / Data Products &amp;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منتج البيانات: مجموعة بيانات موثوقة موثّقة قابلة للاكتشاف تُدار كمنتج حقيقي.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Data product: a trusted, documented, discoverable dataset managed like a product.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عقد البيانات: المخطط والأمان ومستوى الخدمة SLA — وحدة التسليم الحديثة.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Data contract: schema + security + SLA — the modern delivery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7/15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منتج البيانات وعقد البيانات / Data Product &amp;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منتج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6459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عقد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مستوى الخدمة / SLA</a:t>
            </a:r>
          </a:p>
        </p:txBody>
      </p:sp>
      <p:sp>
        <p:nvSpPr>
          <p:cNvPr id="8" name="Left Arrow 7"/>
          <p:cNvSpPr/>
          <p:nvPr/>
        </p:nvSpPr>
        <p:spPr>
          <a:xfrm>
            <a:off x="5257800" y="3017520"/>
            <a:ext cx="1737360" cy="36576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8/15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متى تختار كل نموذج؟ / When to Choose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فريق مركزي وتحليلات → Medallion على Lakehouse؛ تقارير صارمة → مستودع؛ مؤسسة كبيرة بفرق مستقلة → Data Mesh.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Central team + analytics → Medallion; strict BI → warehouse; large independent teams → data mesh.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9/15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ربط بالمقرر / Course Tie-in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مسار عملي: Bronze → Silver → Gold ينتهي في فهرس متجهي يغذّي تطبيق RAG (مختبر L03).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Hands-on path: Bronze → Silver → Gold ending in a vector index feeding a RAG app (lab L03).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10/15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متى تختار كل نموذج؟ / Decision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الحالة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الاختيار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السبب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فريق مركزي + تحليلات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Medallion / Lakehouse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مرونة + حوكمة طبقية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تقارير صارمة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Warehouse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SQL سريع + مخطط ثابت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فرق مستقلة كبيرة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Data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ملكية لامركزية + عقود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11/15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أنماط معالجة البيانات الثلاثة / Three Data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شبكة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12/15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معنى «مخطط عند القراءة»؟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'schema-on-read' mean?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ما مكونات عقد البيانات الثلاثة؟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are the three components of a data contract?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ماذا يضيف Lakehouse عن البحيرة المجردة؟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a lakehouse add over a raw lake?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13/15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لا يُفرض المخطط عند الكتابة بل عند القراءة — سمة البحيرات.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Schema is enforced at read time, not write time — a lake trait.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المخطط، الأمان، مستوى الخدمة SLA.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Schema, security, and SLA.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معاملات ACID وأداء SQL وحوكمة.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ACID transactions, SQL performance,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14/15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Delta Lake وApache Iceberg.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Delta Lake and Apache Iceberg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مقالات Data Contracts (Chad Sanderson).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 contracts articles (Chad Sanderson).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V07  •  15/15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V07 — Warehouses, Lakes &amp; Lakehouse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هندسة الخصائص ومخازنها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Feature Engineering &amp; Feature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1/11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V08 — هندسة الخصائص ومخازنها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V08 — Feature Engineering &amp;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هندسة الخصائص / Feature Engineering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مخازن الخصائص /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اتساق Offline/Online / Consistency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الربط بالتطبيقات الوكيلة / Agentic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2/11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هندسة الخصائص /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تحويل البيانات الخام إلى ميزات ذات معنى تدعم تدريب النماذج وخدمتها.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Turning raw data into meaningful features supporting model training and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أمثلة: التجميعات الزمنية، الترميز، التطبيع.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Examples: time-window aggregates, encoding, 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3/11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البيانات الخام إلى الخصائص / Raw Data to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46888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أحداث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events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6888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تنظيف وتحويل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Clean &amp; transform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0819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246888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تعريف 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 definitions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3427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0" y="2011680"/>
            <a:ext cx="246888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تدريب + خدمة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Training +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977639"/>
            <a:ext cx="60807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مخزن الخصائص: تعريف واحد متسق للتدريب والخدمة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 store: one consistent definition for training and 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الاتساق هو النتيجة: نفس حساب الميزة يمنع انحراف التدريب والخدمة.</a:t>
            </a:r>
          </a:p>
          <a:p>
            <a:pPr algn="r" rtl="0"/>
            <a:r>
              <a:t>Consistency is the outcome: the same feature calculation prevents training-serving skew.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4/11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مخازن الخصائص / Feature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Feast وTecton وHopsworks: تعريف الميزة مرة واحدة وإعادة استخدامها في التدريب والخدمة.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Feast, Tecton, Hopsworks: define features once, reuse for training and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تمنع انحراف الميزات بين التدريب والإنتاج.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They prevent feature skew between training and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5/11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اتساق Offline/Online /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Offline للتدريب التاريخي؛ Online لخدمة منخفضة الكمون (ميلي ثانية).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Offline for historical training; online for low-latency (ms)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اتساق القيم بين البيئتين شرط لصحة النموذج في 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Value consistency across stores is essential for production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6/11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مخزن الخصائص / Feature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مصادر البيانات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Data Sources</a:t>
            </a:r>
          </a:p>
        </p:txBody>
      </p:sp>
      <p:sp>
        <p:nvSpPr>
          <p:cNvPr id="4" name="Left Arrow 3"/>
          <p:cNvSpPr/>
          <p:nvPr/>
        </p:nvSpPr>
        <p:spPr>
          <a:xfrm>
            <a:off x="2724912" y="30175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خط الخصائص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Feature Pipeline
هندسة + تحويل</a:t>
            </a:r>
          </a:p>
        </p:txBody>
      </p:sp>
      <p:sp>
        <p:nvSpPr>
          <p:cNvPr id="6" name="Left Arrow 5"/>
          <p:cNvSpPr/>
          <p:nvPr/>
        </p:nvSpPr>
        <p:spPr>
          <a:xfrm>
            <a:off x="5468112" y="23317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5468112" y="361188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غير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Offline Store
تدريب النماذج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Online Store
استدلال منخفض زمن الاستجابة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الاستدلال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Serving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449056" y="201168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8449056" y="402336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قيمة مخزن الخصائص: نفس تعريف الخصائص للتدريب والاستدلال — لا انحراف.</a:t>
            </a:r>
          </a:p>
          <a:p>
            <a:pPr algn="r" rtl="0"/>
            <a:r>
              <a:t>Core value: one feature definition for training and serving — no skew.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7/11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الربط بالتطبيقات الوكيلة / Agentic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الوكلاء يحتاجون ميزات لحظية متسقة لقرارات التخصيص والمخاطر والتوجيه.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Agents need consistent real-time features for personalization, risk, and routing.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مخزن الخصائص هو «مصدر الحقيقة» للميزات أمام أي وكيل ذكي.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 feature store is the single source of truth behind any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8/11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المشكلة التي يحلها مخزن الخصائص؟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problem does a feature store solve?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فرّق بين المخزن Offline وOnline.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offline vs online stores.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اذكر أداتين لمخازن الخصائص.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two feature-store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9/11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انحراف الميزات بين التدريب والخدمة وتكرار العمل.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Feature skew between training/serving and duplicated work.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Offline للتدريب التاريخي؛ Online لخدمة فورية منخفضة الكمون.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Offline for historical training; online for low-latency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Feast وHopsworks (أو Tecton).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Feast and Hopsworks (or Tecton).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10/11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Feast.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Feast documentation.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Hopsworks Feature Store.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Hopsworks feature store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11/11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V08 — Feature Engineering &amp; Stores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قواعد البيانات المتجهية + RAG التطبيقي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Vector Databases + Applied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1/15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V09 — قواعد البيانات المتجهية + RAG التطبيقي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V09 —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قواعد البيانات المتجهية / Vector Databases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1) الفهرسة: استراتيجيات التقسيم / Indexing: Chunking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2) الاسترجاع / Retrieval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3) التوليد / Generation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4) التقييم + 5) التحسين / Evaluation + Optimization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الأخطاء الشائعة / 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2/15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قواعد البيانات المتجهية / 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تخزين التمثيلات المتجهية (Embeddings) والبحث فيها بالتشابه: Pinecone، Weaviate، pgvector، ChromaDB.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Store embeddings and search by similarity: Pinecone, Weaviate, pgvector, ChromaDB.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فهرس HNSW يمنح بحثًا تقريبيًا سريعًا (ANN) بكفاءة عالية.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HNSW index provides fast approximate nearest-neighbor (ANN)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3/15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خط أنابيب RAG /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1) الفهرسة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Indexing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32888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2) 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Retrieval</a:t>
            </a:r>
          </a:p>
        </p:txBody>
      </p:sp>
      <p:sp>
        <p:nvSpPr>
          <p:cNvPr id="6" name="Left Arrow 5"/>
          <p:cNvSpPr/>
          <p:nvPr/>
        </p:nvSpPr>
        <p:spPr>
          <a:xfrm>
            <a:off x="4754880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3) التوليد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76872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4) التقييم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Evaluation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198864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5) التحسين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تقسيم تكراري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بحث هجين + إعادة ترتيب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موجِّه مقيَّد بالمصادر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مثلث RAG (RAGAS)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تخزين مؤقت + توجيه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من الفهرسة إلى التقييم — المسار التطبيقي في مختبر L03.</a:t>
            </a:r>
          </a:p>
          <a:p>
            <a:pPr algn="r" rtl="0"/>
            <a:r>
              <a:t>From indexing to evaluation — applied in lab L03.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4/15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1) الفهرسة: استراتيجيات التقسيم / Indexing: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ثابت الحجم: أبسطها مع تداخل لكنه يقطع الجُمل. دلالي: تجميع حسب تشابه الكوساينس، حساس للعتبة.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Fixed-size: simplest with overlap but breaks sentences. Semantic: cosine grouping, threshold-sensitive.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تكراري (الموصى به افتراضيًا): فصل بالفقرات ثم تقسيم ما تجاوز الحد. بحسب البنية: العناوين. بالنموذج اللغوي: الأدق والأغلى.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Recursive (recommended default): split by paragraphs then oversized chunks. Structure-based: headings. LLM-based: most accurate, most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5/15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استراتيجيات تقسيم النصوص / Chunking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ثابت الحجم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أبسطها — يقطع الجُمل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دلالي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تماسك أفضل — حساس للعتبة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تكراري 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الموصى به افتراضيًا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بحسب البنية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عناوين وأقسام — يُدمج مع التكراري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بالنموذج اللغوي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الأدق — الأغلى حسابيًا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★ التقسيم التكراري: فصل بالفقرات ثم تقسيم ما تجاوز الحد الأقصى.</a:t>
            </a:r>
          </a:p>
          <a:p>
            <a:pPr algn="r" rtl="0"/>
            <a:r>
              <a:t>★ Recursive: split by paragraphs, then oversized chunks.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6/15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2) الاسترجاع /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بحث هجين: كثيف (Dense) + متناثر (BM25) يغطي المعنى والكلمات المفتاحية معًا.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Hybrid search: dense + sparse (BM25) covers meaning and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إعادة ترتيب Cross-encoder وتحويل الاستعلام Multi-Query يرفعان دقة النتائج.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Cross-encoder reranking and multi-query transformation improve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7/15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3) التوليد /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موجِّه مقيَّد بالمصادر المسترجعة (Grounded Prompting) مع الاستشهاد: «أجب فقط من السياق المرفق».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Grounded prompting strictly on retrieved sources with citations: 'answer only from the provided context'.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8/15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نمط الإجابة المؤرَّضة / Grounded Answer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سؤال المتعلِّم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Learner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7432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ما الاستراتيجية الافتراضية للتقسيم؟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Which chunking default should I use?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063240" cy="10058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أدلة مسترجعة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Retrieved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514600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[1] الفقرات ← الجمل ← التقسيم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[1] paragraphs → sentences →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10128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[2] التكراري هو الخيار الموصى به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[2] recursive is the recommended default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إجابة موثقة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Grounded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337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ابدأ بالتقسيم التكراري [1][2]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Start with recursive chunking [1][2]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7818120" cy="6858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لا دليل مسترجع؟ قل: لا أعرف / No retrieved evidence? Say: I don't know.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القاعدة: لا تتجاوز الأدلة، واربط كل ادعاء بمصدر.</a:t>
            </a:r>
          </a:p>
          <a:p>
            <a:pPr algn="r" rtl="0"/>
            <a:r>
              <a:t>Rule: do not go beyond the evidence; connect every claim to a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9/15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4) التقييم + 5) التحسين / Evaluation +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مثلث RAG: الوفاء (Faithfulness)، ملاءمة الإجابة (Answer Relevancy)، دقة السياق (Context Precision) — بإطار RAGAS.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RAG triad: faithfulness, answer relevancy, context precision — measured with RAGAS.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التحسين: تخزين دلالي مؤقت، توجيه الطلبات بين النماذج، ومراقبة مستمرة.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Optimization: semantic caching, model routing, continuous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10/15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مثلث تقييم RAG / RAG Evaluation Triad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دقة السياق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يُقاس بإطار RAGAS — الوفاء يمنع الهلوسة والملاءمة تجعل الإجابة نافعة.</a:t>
            </a:r>
          </a:p>
          <a:p>
            <a:pPr algn="r" rtl="0"/>
            <a:r>
              <a:t>Measured with RAGAS — faithfulness prevents hallucination; relevancy keeps answers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11/15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الأخطاء الشائعة / 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تقسيم يكسر الجداول أو الأكواد؛ إهمال إعادة الترتيب فيضيع الأكثر ملاءمة.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Chunking that breaks tables/code; skipping reranking loses the most relevant hits.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غياب تقييم الوفاء فيسمح بالهلوسة؛ استرجاع أعلى-ك دون حد أدنى للدرجة.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No faithfulness evaluation allows hallucination; top-k without a score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12/15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استراتيجية التقسيم الموصى بها افتراضيًا؟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chunking strategy is the recommended default?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نجمع البحث الكثيف مع BM25؟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combine dense search with BM25?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مكونات مثلث تقييم RAG الثلاثة؟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the three parts of the RAG evaluation triad.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وظيفة إعادة الترتيب Cross-encoder؟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cross-encoder reranking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5. كيف يقلل التخزين الدلالي المؤقت التكلفة؟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How does semantic caching cut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13/15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التقسيم التكراري Recursive Chunking.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Recursive chunking.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الكثيف يفهم المعنى وBM25 يطابق الكلمات النادرة حرفيًا.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Dense captures meaning; BM25 matches rare exact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الوفاء، ملاءمة الإجابة، دقة السياق.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Faithfulness, answer relevancy, context precision.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يعيد ترتيب المرشحين بنموذج أدق لرفع ملاءمة النتائج.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Re-scores candidates with a more accurate model.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5. يعيد استخدام إجابات الأسئلة المشابهة بدل استدعاء النموذج كل مرة.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Reuses answers for similar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14/15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Daily Dose of DS — استراتيجيات تقسيم RAG.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Daily Dose of DS — RAG chunking strategies.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RAGAS لإطار التقييم.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RAGAS evaluation framework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ChromaDB والفهرسة HNSW.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ChromaDB docs and HNSW indexing.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V09  •  15/15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V09 — Vector DBs + Applied RAG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تصنيف البيانات على نطاق واسع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Labeling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1/10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V10 — تصنيف البيانات على نطاق واسع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V10 — Labeling at Scale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لماذا التصنيف؟ / Why Labeling?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الأدوات / Tools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التصنيف بمساعدة LLM / LLM-assisted 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2/10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لماذا التصنيف؟ / Why Labeling?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جودة التصنيفات تحدد سقف أداء أي نموذج تعلّم مُوجَّه.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Label quality caps the performance of any supervised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3/10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حلقة جودة التصنيف / Label Quality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480560" cy="8229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تسميات متسرعة أو غير متسقة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Rushed or inconsistent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480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ضوضاء ← نموذج ضعيف ← تصحيحات أكثر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Noise → weak model → more corrections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94960" y="2834640"/>
            <a:ext cx="68580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4805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اقتراح LLM + مراجعة بشرية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suggestion + 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48056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موثوقة ← نموذج أفضل ← تغذية راجعة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Trusted labels → better model →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617720"/>
            <a:ext cx="6080760" cy="71323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قِس اتفاق المقيمين قبل قبول البيانات / Measure reviewer agreement before accepting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العمل؛ الإنسان يظل مسؤولًا عن القبول والجودة.</a:t>
            </a:r>
          </a:p>
          <a:p>
            <a:pPr algn="r" rtl="0"/>
            <a:r>
              <a:t>The LLM accelerates work; people remain accountable for acceptance and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4/10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الأدوات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Label Studio للتعددية، Roboflow للرؤية الحاسوبية، Scale AI للتوسع المؤسسي.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Label Studio for versatility, Roboflow for vision, Scale AI for enterprise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5/10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التصنيف بمساعدة LLM / LLM-assisted Labeling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نموذج لغوي يقترح التصنيفات مبدئيًا لتسريع العملية وخفض التكلفة.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An LLM pre-labels examples to speed up the process and cut cost.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التحقق البشري (Human-in-the-loop) إلزامي قبل القبول، مع قياس اتفاق النموذج مع البشر.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Human-in-the-loop validation is mandatory before acceptance, measuring human–model 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6/10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2624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Left Arrow 5"/>
          <p:cNvSpPr/>
          <p:nvPr/>
        </p:nvSpPr>
        <p:spPr>
          <a:xfrm>
            <a:off x="4910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Left Arrow 7"/>
          <p:cNvSpPr/>
          <p:nvPr/>
        </p:nvSpPr>
        <p:spPr>
          <a:xfrm>
            <a:off x="7196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482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7/10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لماذا لا نعتمد تصنيفات LLM مباشرة دون مراجعة؟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not accept LLM labels directly without review?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أي أداة تناسب مشاريع الرؤية الحاسوبية؟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tool fits computer-vision projects?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8/10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لأن النموذج قد يخطئ أو يتحيز — التحقق البشري يضمن الجودة.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The model can err or be biased — human validation guarantees quality.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Roboflow.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Roboflow.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9/10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Label Studio.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Label Studio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Roboflow.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Roboflow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V10  •  10/10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V10 — Labeling at Scale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حوكمة البيانات وسلسلة العهدة والفهرسة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Governance, Lineage &amp; Cataloging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1/10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V11 — حوكمة البيانات وسلسلة العهدة والفهرسة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V11 — Data Governance, Lineage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الحوكمة والفهرسة / Governance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(1/2) / GenAI Reference Architecture (1/2)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(2/2) / GenAI Reference Architecture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2/10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الحوكمة والفهرسة / Governance &amp; Cataloging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سلسلة العهدة (Lineage) تتبع أصل البيانات وتحولاتها؛ الفهرسة تجعلها قابلة للاكتشاف.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Lineage traces data origin and transformations; cataloging makes it discoverable.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أدوات: Apache Atlas، Collibra، DataHub.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Tools: Apache Atlas, Collibra, DataHub.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3/10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سلسلة العهدة / Data Lineage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2560320" cy="8686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CRM /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2783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874519"/>
            <a:ext cx="2560320" cy="8686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تحويل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تنظيف + توحيد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0819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256032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منتج بيانات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مخطط + مالك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8855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2560320" cy="8686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استهلاك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لوحة / نموذج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709160"/>
            <a:ext cx="7635240" cy="7315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لكل خطوة: مالك + وقت + سياسة + أثر التغيير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For every step: owner + time + policy + change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اسأل «من أين جاءت هذه النتيجة؟» ثم اتبع السلسلة إلى المصدر.</a:t>
            </a:r>
          </a:p>
          <a:p>
            <a:pPr algn="r" rtl="0"/>
            <a:r>
              <a:t>Ask “where did this result come from?” then follow the chain to its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4/10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(1/2) / GenAI Reference Architecture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أ. بوابة منصة GenAI: نافذة موحدة بكتالوج حلول ومحفظة POC → MVP → PROD موثقة.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A. Portal: unified pane of glass with a solution catalog and documented POC → MVP → PROD portfolio.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ب. الأتمتة والامتثال: خطوط CI/CD ببوابات تحكم آلية وموافقات مرحلية وفق DevSecOps.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B. Automation &amp; compliance: CI/CD with automated control gates and stage-gate approvals (DevSecOps).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5/10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(2/2) / GenAI Reference Architecture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ج. الخدمات المشتركة: بوابة AI موحدة، مكتبة موجِّهات، خدمة التغذية الراجعة، قاعدة تدقيق LLM، حواجز حماية Guardrails.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C. Shared services: unified AI gateway, prompt library, feedback service, LLM audit database, guardrails.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د. الحوكمة والمراقبة: أمن البيانات، الذكاء المسؤول (تدقيق التحيّز والهلوسة)، وإدارة التكاليف FinOps.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D. Governance &amp; monitoring: data security, responsible AI (bias/hallucination audits), FinOps.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6/10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المرجعية للذكاء التوليدي / GenAI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أ. بوابة منصة GenAI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A. Platform Portal —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ب. الأتمتة والامتثال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B. Automation &amp; Compliance — CI/CD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ج. الخدمات المشتركة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C. Shared Services —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د. الحوكمة والمراقبة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D. Governance &amp; Monitoring — Responsible AI,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النمط المرجعي المؤسسي (McKinsey) — نافذة موحدة فوق خدمات مشتركة محكومة.</a:t>
            </a:r>
          </a:p>
          <a:p>
            <a:pPr algn="r" rtl="0"/>
            <a:r>
              <a:t>Enterprise reference pattern (McKinsey) — a unified pane over governed shared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7/10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وظيفة بوابة AI الموحدة (AI Gateway)؟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a unified AI gateway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نحتاج قاعدة تدقيق لنماذج LLM؟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keep an LLM audit database?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دور CI/CD في حوكمة GenAI؟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CI/CD's role in GenAI governance?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8/10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نقطة دخول موحدة تفرض المصادقة والحدود والتسجيل على كل الاستدعاءات.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 single entry point enforcing auth, limits, and logging for all calls.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لتتبع الموجِّهات والإجابات والامتثال والتحقيق في الحوادث.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To trace prompts/answers for compliance and investigation.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بوابات تحكم وموافقات مرحلية آلية قبل 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Automated control gates and approvals before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9/10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DataHub وApache Atlas.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DataHub and Apache Atlas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المعمارية المرجعية للذكاء التوليدي — McKinsey.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GenAI reference architecture — McKinsey.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10/10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V11 — Governance, Lineage &amp; Catalog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MLOps + تمهيد للمختبر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MLOps Fundamentals + Lab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1/13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V12 — أساسيات MLOps + تمهيد للمختبر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V12 — MLOps Fundamentals + Lab Introduction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MLOps والأدوات / MLOps &amp; Tools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تمييز المفاهيم / Concept Distinctions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RAG الوكيلي / Agentic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التكلفة والأداء عمليًا / Practical Cost &amp; Performance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تمهيد للمختبر L03 / Lab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2/13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MLOps والأدوات / MLOps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MLflow لتتبع التجارب والنماذج، Kubeflow لأتمتة الخطوط، 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MLflow for tracking, Kubeflow for pipeline automation,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3/13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دورة حياة MLOps / MLOps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تجربة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Experiment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640" y="1965960"/>
            <a:ext cx="2011680" cy="11430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تحقق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Validate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66360" y="1965960"/>
            <a:ext cx="2011680" cy="11430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نشر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Deploy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0" y="1965960"/>
            <a:ext cx="201168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مراقبة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5548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980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إعادة 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023360"/>
            <a:ext cx="832104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سجّل الإصدارات والقياسات في كل مرحلة — ثم أعد التعلم من الإنتاج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Record versions and metrics at every stage — then learn again from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MLOps ليس «نشرًا مرة واحدة»؛ إنه حلقة قابلة للقياس والتحسين.</a:t>
            </a:r>
          </a:p>
          <a:p>
            <a:pPr algn="r" rtl="0"/>
            <a:r>
              <a:t>MLOps is not “deploy once”; it is a measurable improvement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4/13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تمييز المفاهيم / Concept Distinctions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LLM: يرمّز النص ويتنبأ بالرموز التالية. الذكاء التوليدي: يولّد محتوى جديدًا (نص/صورة/صوت).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LLM: predicts next tokens. Generative AI: generates new content (text/image/audio).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الوكلاء: يكشفون النية ويستدعون الأدوات. الأنظمة الوكيلة: تخطيط ذاتي وتنفيذ متعدد الخطوات مع تقييم للنتائج.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Agents: detect intent and call tools. Agentic AI: self-directed multi-step planning with outcome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5/13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LLM إلى الأنظمة الوكيلة / From LLM to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تنبؤ بالرموز التالية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Predicts next tokens</a:t>
            </a:r>
          </a:p>
        </p:txBody>
      </p:sp>
      <p:sp>
        <p:nvSpPr>
          <p:cNvPr id="5" name="Left Arrow 4"/>
          <p:cNvSpPr/>
          <p:nvPr/>
        </p:nvSpPr>
        <p:spPr>
          <a:xfrm>
            <a:off x="307238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الذكاء التوليدي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يولّد محتوى جديدًا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Generates new content</a:t>
            </a:r>
          </a:p>
        </p:txBody>
      </p:sp>
      <p:sp>
        <p:nvSpPr>
          <p:cNvPr id="8" name="Left Arrow 7"/>
          <p:cNvSpPr/>
          <p:nvPr/>
        </p:nvSpPr>
        <p:spPr>
          <a:xfrm>
            <a:off x="590702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الوكلاء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نية + استدعاء أدوات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Intent + tool calls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4166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الأنظمة الوكيلة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تخطيط وتنفيذ متعدد الخطوات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Agentic RAG = بحث متجهي + جلب عبر الواجهات بذاكرة متجددة وتحقق قبل التسليم.</a:t>
            </a:r>
          </a:p>
          <a:p>
            <a:pPr algn="r" rtl="0"/>
            <a:r>
              <a:t>Agentic RAG = vector search + API fetching with refreshed memory and verification.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6/13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RAG الوكيلي /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يجمع البحث المتجهي وجلب البيانات عبر الواجهات في عملية متعددة الخطوات، بذاكرة محدَّثة وتحقق من النتائج قبل التسليم.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Combines vector search and API fetching in multi-step flows, with refreshed memory and verification before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7/13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التكلفة والأداء عمليًا / Practical Cost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التضمين (Embedding) أقل تكلفة بمرتبة كاملة من التوليد (Generation) — الاسترجاع أرخص من التوليد.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Embedding costs an order of magnitude less than generation — retrieval is cheaper than generation.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التخزين الدلالي المؤقت يخفض الكمون والتكلفة؛ توجيه الطلبات يرسل المهام البسيطة لنماذج أصغر أرخص.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Semantic caching cuts latency and cost; routing sends easy tasks to smaller, cheaper models.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قاعدة FinOps: قِس التكلفة لكل طلب (per-request) قبل التوسع.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FinOps rule: measure per-request cost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8/13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التكلفة عمليًا: التضمين مقابل التوليد / Cost: Embedding vs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التضمين 1x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Embedding —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التوليد ~10x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 —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الحل: تخزين مؤقت + توجيه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Fix: caching +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قاعدة FinOps: قِس التكلفة لكل طلب قبل التوسع.</a:t>
            </a:r>
          </a:p>
          <a:p>
            <a:pPr algn="r" rtl="0"/>
            <a:r>
              <a:t>FinOps rule: measure per-request cost before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9/13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تمهيد للمختبر L03 / Lab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المختبر: خط محلي خفيف — Python venv + SQLite مدمجة (Bronze/Silver) + ChromaDB (Gold) — دون Docker، بنقطة نهاية FastAPI على المسار /query.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The lab: lightweight local pipeline — Python venv + built-in SQLite (Bronze/Silver) + ChromaDB (Gold) — no Docker, ending in a FastAPI /query endpoint.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10/13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مختبر L03 / L03 Lab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خط ETL ‏(etl_pipeline.py):‏ Bronze ‏(SQLite خام) ← Silver ‏(تنظيف + تقسيم 500/50) ← Gold ‏(ChromaDB HNSW cosine، دفعات 10)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ETL (etl_pipeline.py): Bronze (raw SQLite) → Silver (clean + 500/50 chunk) → Gold (ChromaDB HNSW cosine, batches of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الخلفية ‏(rag_api.py:8000):‏ استرجاع كثيف top-k=5 حد 0.2 ← توليد مؤرَّض OpenRouter free ← كاش دلالي 0.92 ← تقييم golden (12 سؤالًا)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Backend (rag_api.py :8000): dense top-k=5 ≥0.2 → grounded OpenRouter free → semantic cache 0.92 → golden eval (12 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الواجهة ‏(streamlit_ui.py:8501):‏ 5 تبويبات ثنائية — رفع/مستندات/استعلام/تقييم/حول — تُعيد استخدام نفس عميل Chroma مع حذف المجموعة وإعادة إنشائها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Frontend (streamlit_ui.py :8501): 5 bilingual tabs — upload/docs/query/eval/about — same Chroma client, drop &amp; recreate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المخازن: l03_lab.db ‏(bronze_docs/silver_chunks)‏ + chroma_db ‏(gold_chunks بُعد 384)‏ + golden_dataset.json + env.‏ للمفتاح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Stores: l03_lab.db (bronze_docs/silver_chunks) + chroma_db (gold_chunks dim 384) + golden_dataset.json + .env for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التفاصيل الكاملة في l03_lab/ARCHITECTURE.md.</a:t>
            </a:r>
          </a:p>
          <a:p>
            <a:pPr algn="r" rtl="0"/>
            <a:r>
              <a:t>Full detail in l03_lab/ARCHITECTURE.md.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فرّق بين AI Agent وAgentic AI.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an AI agent from agentic AI.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ما أرخص: تضمين أم توليد؟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is cheaper: embedding or generation?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أدوات تتبع التجارب وإصدارات البيانات؟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tools track experiments and version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11/13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الوكيل يستجيب ويستدعي أدوات؛ الوكيلي يخطط ذاتيًا وينفذ خطوات متعددة ويتكيف.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An agent responds and calls tools; agentic AI self-plans multi-step execution.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التضمين — أقل بتكلفة مرتبة كاملة.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Embedding — roughly an order of magnitude cheaper.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MLflow للتتبع وDVC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MLflow for tracking,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12/13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MLflow وDVC.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MLflow and DVC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دليل تجهيز البيئة للمختبر L03.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L03 Environment Setup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13/13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V12 — MLOps + Lab Introduction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المصطلحات والاختبارات القصيرة</a:t>
            </a:r>
          </a:p>
          <a:p>
            <a:pPr algn="r" rtl="0"/>
            <a:r>
              <a:rPr sz="2600" b="0">
                <a:solidFill>
                  <a:srgbClr val="666666"/>
                </a:solidFill>
                <a:latin typeface="Calibri"/>
              </a:rPr>
              <a:t>Glossary &amp; Short Quizzes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Arial"/>
              </a:rPr>
              <a:t>الوحدة الثانية — مادة مساندة / Module 02 — Supporting Material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المصطلحات / Glossary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البيانات والتخزين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10972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47472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RAG والاسترجاع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RAG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3429000"/>
            <a:ext cx="3474720" cy="10972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452628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تعلم المصطلحات كمجموعات مترابطة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Learn terms as connected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استخدم هذه الخريطة قبل الرجوع إلى التعريفات التفصيلية.</a:t>
            </a:r>
          </a:p>
          <a:p>
            <a:pPr algn="r" rtl="0"/>
            <a:r>
              <a:t>Use this map before returning to the detailed definitions.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(1)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خط أنابيب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والتحويل والتحميل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ETL (Extract, Transform, 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والتحميل والتحويل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Medallion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(2)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معمارية بحيرة البيانات الموحدة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Lakehouse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شبكة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منتج البيانات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عقد البيانات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سلسلة العهدة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Lineage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البيانات / الكتالوج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(3)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هندسة الخصائص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مخزن الخصائص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انحراف الميزات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Skew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قاعدة البيانات المتجهية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Vector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التمثيل المتجهي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التقريبي لأقرب الجيران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ANN (Approximate Nearest Neighbor)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(4)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HNSW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التكراري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Recursive Chunking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الدلالي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Chunking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الهجين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Hybrid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الكثيف / المتناثر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Dense / Sparse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إعادة الترتيب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(5)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الموجِّه المقيَّد بالمصادر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Grounded 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التوليد المعزَّز بالاسترجاع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RAG (Retrieval-Augmented Generation)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RAG الوكيلي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Agentic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دقة السياق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(6)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التخزين الدلالي المؤقت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عميل ChromaDB واحد (لا قفل 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Single ChromaDB client (no SQLite lock)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حذف المجموعة وإعادة إنشائها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Drop &amp; recreate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الترميز بدفعات 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Batched encoding (10)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توجيه الطلبات بين النماذج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Model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التصنيف بمساعدة النموذج اللغوي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LLM-assisted Labeling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(7)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التحقق البشري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بوابة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مكتبة الموجِّهات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Prompt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حواجز الحماية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Guardrails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الذكاء الاصطناعي المسؤول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Responsible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إدارة التكاليف السحابية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FinOps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(8)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تتبع التجارب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إصدارات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مختبر L03 / L03 Lab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خط ETL ‏(etl_pipeline.py):‏ Bronze ‏(SQLite خام) ← Silver ‏(تنظيف + تقسيم 500/50) ← Gold ‏(ChromaDB HNSW cosine، دفعات 10)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ETL (etl_pipeline.py): Bronze (raw SQLite) → Silver (clean + 500/50 chunk) → Gold (ChromaDB HNSW cosine, batches of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الخلفية ‏(rag_api.py:8000):‏ استرجاع كثيف top-k=5 حد 0.2 ← توليد مؤرَّض OpenRouter free ← كاش دلالي 0.92 ← تقييم golden (12 سؤالًا)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Backend (rag_api.py :8000): dense top-k=5 ≥0.2 → grounded OpenRouter free → semantic cache 0.92 → golden eval (12 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الواجهة ‏(streamlit_ui.py:8501):‏ 5 تبويبات ثنائية — رفع/مستندات/استعلام/تقييم/حول — تُعيد استخدام نفس عميل Chroma مع حذف المجموعة وإعادة إنشائها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Frontend (streamlit_ui.py :8501): 5 bilingual tabs — upload/docs/query/eval/about — same Chroma client, drop &amp; recreate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المخازن: l03_lab.db ‏(bronze_docs/silver_chunks)‏ + chroma_db ‏(gold_chunks بُعد 384)‏ + golden_dataset.json + env.‏ للمفتاح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Stores: l03_lab.db (bronze_docs/silver_chunks) + chroma_db (gold_chunks dim 384) + golden_dataset.json + .env for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التفاصيل الكاملة في l03_lab/ARCHITECTURE.md.</a:t>
            </a:r>
          </a:p>
          <a:p>
            <a:pPr algn="r" rtl="0"/>
            <a:r>
              <a:t>Full detail in l03_lab/ARCHITECTURE.md.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تشغيل مختبر L03 / Running the L03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cd l03_lab  +  source .venv/bin/activate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18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OMP_NUM_THREADS=1 MKL_NUM_THREADS=1 TOKENIZERS_PARALLELISM=false  python -u etl_pipeline.py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8541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./run_ui.sh   →   http://localhost:8501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52344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uvicorn rag_api:app --reload   →   http://localhost:8000/docs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927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python rag_api.py evaluate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دائمًا من داخل الـ venv — التشغيل الخارجي يسبب segfault.</a:t>
            </a:r>
          </a:p>
          <a:p>
            <a:pPr algn="r" rtl="0"/>
            <a:r>
              <a:t>Always inside the venv — outside env segfaults.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دروس الجمود / Freeze Lessons (مطبَّقة في الكود)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عميل ChromaDB واحد فقط — عميل ثانٍ = قفل SQLite وتجمّد بعد [Silver]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Single ChromaDB client only — a 2nd client = SQLite lock, freeze after [Silver]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حذف المجموعة وإعادة إنشائها بدل delete+add على مقطع HNSW مستخدَم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Drop &amp; recreate collection instead of delete+add on a used HNSW 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ترميز صريح بدفعات 10 + سجلات encode/inserting/done + شريط تقدم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Explicit encoding in batches of 10 + encode/inserting/done logs + progress 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macOS: ‏OMP/MKL=1‏ + ‏TOKENIZERS_PARALLELISM=false‏ قبل استيراد onnx + ‏python -u‏ + اسم ‏gold_chunks‏ موحّد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macOS: OMP/MKL=1 + TOKENIZERS_PARALLELISM=false before onnx import + python -u + one gold_chunks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أول تشغيل لـ Gold يُنزّل all-MiniLM-L6-v2 ‏(~80MB)‏ لمرة واحدة.</a:t>
            </a:r>
          </a:p>
          <a:p>
            <a:pPr algn="r" rtl="0"/>
            <a:r>
              <a:t>First Gold run downloads all-MiniLM-L6-v2 (~80MB) once.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V06 — أساسيات البيانات / Data Fundamentals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الفرق الجوهري بين ETL وELT؟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is the key difference between ETL and ELT?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أين تُستخدم طبقة Gold في المعمارية المتدرِّجة؟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Where is the Gold layer used in the Medallion architecture?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 نمط يناسب مؤسسة كبيرة بفرق مستقلة وملكية لامركزية؟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pattern suits a large organization with independent, decentralized teams?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التنسيق الأنسب للتحليلات عالية الأداء ولماذا؟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format suits high-performance analytics and why?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V06 — أساسيات البيانات / Data Fundamentals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ETL يحوّل قبل التحميل؛ ELT يحمّل أولاً ثم يحوّل داخل المنصة الهدف.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ETL transforms before loading; ELT loads first and transforms inside the target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تجميعات على مستوى الأعمال جاهزة للتحليل.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Business-level aggregates that are analytics-ready.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شبكة البيانات Data Mesh.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Data mesh.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Parquet — تنسيق عمودي يقلل الحجم ويسرّع القراءة.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Parquet — columnar, smaller and faster for analytical reads.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V07 — المستودعات والبحيرات ومعمارية Lakehouse / Warehouses, Data Lakes &amp; Lakehouse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معنى «مخطط عند القراءة»؟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'schema-on-read'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مكونات عقد البيانات الثلاثة؟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are the three components of a data contract?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ماذا يضيف Lakehouse عن البحيرة المجردة؟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a lakehouse add over a raw lake?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V07 — المستودعات والبحيرات ومعمارية Lakehouse / Warehouses, Data Lakes &amp; Lakehouse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لا يُفرض المخطط عند الكتابة بل عند القراءة — سمة البحيرات.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Schema is enforced at read time, not write time — a lake trait.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المخطط، الأمان، مستوى الخدمة SLA.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Schema, security, and SLA.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معاملات ACID وأداء SQL وحوكمة.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ACID transactions, SQL performance, and governance.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V08 — هندسة الخصائص ومخازنها / Feature Engineering &amp; Feature Stores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المشكلة التي يحلها مخزن الخصائص؟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problem does a feature store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فرّق بين المخزن Offline وOnline.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Differentiate offline vs online stores.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اذكر أداتين لمخازن الخصائص.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Name two feature-store tools.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V08 — هندسة الخصائص ومخازنها / Feature Engineering &amp; Feature Stores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انحراف الميزات بين التدريب والخدمة وتكرار العمل.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Feature skew between training/serving and duplicated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Offline للتدريب التاريخي؛ Online لخدمة فورية منخفضة الكمون.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Offline for historical training; online for low-latency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Feast وHopsworks (أو Tecton).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Feast and Hopsworks (or Tecton).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V09 — قواعد البيانات المتجهية + RAG التطبيقي / Vector Databases + Applied RAG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استراتيجية التقسيم الموصى بها افتراضيًا؟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chunking strategy is the recommended default?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نجمع البحث الكثيف مع BM25؟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combine dense search with BM25?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مكونات مثلث تقييم RAG الثلاثة؟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Name the three parts of the RAG evaluation triad.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وظيفة إعادة الترتيب Cross-encoder؟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cross-encoder reranking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كيف يقلل التخزين الدلالي المؤقت التكلفة؟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How does semantic caching cut cost?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V09 — قواعد البيانات المتجهية + RAG التطبيقي / Vector Databases + Applied RAG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التقسيم التكراري Recursive Chunking.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Recursive chunking.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الكثيف يفهم المعنى وBM25 يطابق الكلمات النادرة حرفيًا.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Dense captures meaning; BM25 matches rare exact keywords.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الوفاء، ملاءمة الإجابة، دقة السياق.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Faithfulness, answer relevancy, context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يعيد ترتيب المرشحين بنموذج أدق لرفع ملاءمة النتائج.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Re-scores candidates with a more accurate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يعيد استخدام إجابات الأسئلة المشابهة بدل استدعاء النموذج كل مرة.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Reuses answers for similar questions.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V10 — تصنيف البيانات على نطاق واسع / Labeling at Scale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لا نعتمد تصنيفات LLM مباشرة دون مراجعة؟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not accept LLM labels directly without 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 أداة تناسب مشاريع الرؤية الحاسوبية؟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tool fits computer-vision projects?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V10 — تصنيف البيانات على نطاق واسع / Labeling at Scale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لأن النموذج قد يخطئ أو يتحيز — التحقق البشري يضمن الجودة.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The model can err or be biased — human validation guarantees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Roboflow.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Roboflow.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V11 — حوكمة البيانات وسلسلة العهدة والفهرسة / Data Governance, Lineage &amp; Cataloging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وظيفة بوابة AI الموحدة (AI Gateway)؟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a unified AI gateway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نحتاج قاعدة تدقيق لنماذج LLM؟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keep an LLM audit database?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دور CI/CD في حوكمة GenAI؟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is CI/CD's role in GenAI governance?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V11 — حوكمة البيانات وسلسلة العهدة والفهرسة / Data Governance, Lineage &amp; Cataloging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نقطة دخول موحدة تفرض المصادقة والحدود والتسجيل على كل الاستدعاءات.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 single entry point enforcing auth, limits, and logging for all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لتتبع الموجِّهات والإجابات والامتثال والتحقيق في الحوادث.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To trace prompts/answers for compliance and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بوابات تحكم وموافقات مرحلية آلية قبل الإنتاج.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Automated control gates and approvals before production.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V12 — أساسيات MLOps + تمهيد للمختبر / MLOps Fundamentals + Lab Introduction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فرّق بين AI Agent وAgentic AI.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Differentiate an AI agent from agentic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أرخص: تضمين أم توليد؟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is cheaper: embedding or generation?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أدوات تتبع التجارب وإصدارات البيانات؟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tools track experiments and version data?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V12 — أساسيات MLOps + تمهيد للمختبر / MLOps Fundamentals + Lab Introduction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الوكيل يستجيب ويستدعي أدوات؛ الوكيلي يخطط ذاتيًا وينفذ خطوات متعددة ويتكيف.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An agent responds and calls tools; agentic AI self-plans multi-step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التضمين — أقل بتكلفة مرتبة كاملة.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Embedding — roughly an order of magnitude cheaper.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MLflow للتتبع وDVC لإصدارات البيانات.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MLflow for tracking, DVC for data versioning.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C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Glossary &amp; Quizzes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المسار / Track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البيانات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174650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83664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التخزين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Storage</a:t>
            </a:r>
          </a:p>
        </p:txBody>
      </p:sp>
      <p:sp>
        <p:nvSpPr>
          <p:cNvPr id="6" name="Left Arrow 5"/>
          <p:cNvSpPr/>
          <p:nvPr/>
        </p:nvSpPr>
        <p:spPr>
          <a:xfrm>
            <a:off x="312724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4408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8" name="Left Arrow 7"/>
          <p:cNvSpPr/>
          <p:nvPr/>
        </p:nvSpPr>
        <p:spPr>
          <a:xfrm>
            <a:off x="4507992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الفهارس المتجهية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Vector Indexes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888736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25896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التصنيف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Labeling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7269480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865022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87384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003096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68128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المختبر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رحلة الوحدة الثانية من البيانات الخام إلى نقطة نهاية RAG.</a:t>
            </a:r>
          </a:p>
          <a:p>
            <a:pPr algn="r" rtl="0"/>
            <a:r>
              <a:t>Module 02 journey: from raw data to a RAG endpoint.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Left Arrow 5"/>
          <p:cNvSpPr/>
          <p:nvPr/>
        </p:nvSpPr>
        <p:spPr>
          <a:xfrm>
            <a:off x="5897880" y="245059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5897880" y="395935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أنماط معالجة البيانات الثلاثة / Three Data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شبكة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منتج البيانات وعقد البيانات / Data Product &amp;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منتج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6459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عقد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668904631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37806519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مستوى الخدمة / SLA</a:t>
            </a:r>
          </a:p>
        </p:txBody>
      </p:sp>
      <p:sp>
        <p:nvSpPr>
          <p:cNvPr id="8" name="Left Arrow 7"/>
          <p:cNvSpPr/>
          <p:nvPr/>
        </p:nvSpPr>
        <p:spPr>
          <a:xfrm>
            <a:off x="5257800" y="3017520"/>
            <a:ext cx="1737360" cy="36576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خط أنابيب RAG /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1) الفهرسة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Indexing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32888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2) 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Retrieval</a:t>
            </a:r>
          </a:p>
        </p:txBody>
      </p:sp>
      <p:sp>
        <p:nvSpPr>
          <p:cNvPr id="6" name="Left Arrow 5"/>
          <p:cNvSpPr/>
          <p:nvPr/>
        </p:nvSpPr>
        <p:spPr>
          <a:xfrm>
            <a:off x="4754880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3) التوليد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76872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4) التقييم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Evaluation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198864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5) التحسين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تقسيم تكراري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بحث هجين + إعادة ترتيب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موجِّه مقيَّد بالمصادر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مثلث RAG (RAGAS)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تخزين مؤقت + توجيه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من الفهرسة إلى التقييم — المسار التطبيقي في مختبر L03.</a:t>
            </a:r>
          </a:p>
          <a:p>
            <a:pPr algn="r" rtl="0"/>
            <a:r>
              <a:t>From indexing to evaluation — applied in lab L03.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استراتيجيات تقسيم النصوص / Chunking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ثابت الحجم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أبسطها — يقطع الجُمل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دلالي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تماسك أفضل — حساس للعتبة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تكراري 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الموصى به افتراضيًا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بحسب البنية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عناوين وأقسام — يُدمج مع التكراري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بالنموذج اللغوي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الأدق — الأغلى حسابيًا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★ التقسيم التكراري: فصل بالفقرات ثم تقسيم ما تجاوز الحد الأقصى.</a:t>
            </a:r>
          </a:p>
          <a:p>
            <a:pPr algn="r" rtl="0"/>
            <a:r>
              <a:t>★ Recursive: split by paragraphs, then oversized chunks.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مثلث تقييم RAG / RAG Evaluation Triad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دقة السياق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يُقاس بإطار RAGAS — الوفاء يمنع الهلوسة والملاءمة تجعل الإجابة نافعة.</a:t>
            </a:r>
          </a:p>
          <a:p>
            <a:pPr algn="r" rtl="0"/>
            <a:r>
              <a:t>Measured with RAGAS — faithfulness prevents hallucination; relevancy keeps answers useful.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المرجعية للذكاء التوليدي / GenAI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أ. بوابة منصة GenAI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A. Platform Portal —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ب. الأتمتة والامتثال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B. Automation &amp; Compliance — CI/CD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ج. الخدمات المشتركة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C. Shared Services —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د. الحوكمة والمراقبة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D. Governance &amp; Monitoring — Responsible AI,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النمط المرجعي المؤسسي (McKinsey) — نافذة موحدة فوق خدمات مشتركة محكومة.</a:t>
            </a:r>
          </a:p>
          <a:p>
            <a:pPr algn="r" rtl="0"/>
            <a:r>
              <a:t>Enterprise reference pattern (McKinsey) — a unified pane over governed shared services.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التكلفة عمليًا: التضمين مقابل التوليد / Cost: Embedding vs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التضمين 1x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Embedding —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التوليد ~10x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 —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الحل: تخزين مؤقت + توجيه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Fix: caching +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قاعدة FinOps: قِس التكلفة لكل طلب قبل التوسع.</a:t>
            </a:r>
          </a:p>
          <a:p>
            <a:pPr algn="r" rtl="0"/>
            <a:r>
              <a:t>FinOps rule: measure per-request cost before scaling.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LLM إلى الأنظمة الوكيلة / From LLM to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تنبؤ بالرموز التالية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Predicts next tokens</a:t>
            </a:r>
          </a:p>
        </p:txBody>
      </p:sp>
      <p:sp>
        <p:nvSpPr>
          <p:cNvPr id="5" name="Left Arrow 4"/>
          <p:cNvSpPr/>
          <p:nvPr/>
        </p:nvSpPr>
        <p:spPr>
          <a:xfrm>
            <a:off x="307238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الذكاء التوليدي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يولّد محتوى جديدًا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Generates new content</a:t>
            </a:r>
          </a:p>
        </p:txBody>
      </p:sp>
      <p:sp>
        <p:nvSpPr>
          <p:cNvPr id="8" name="Left Arrow 7"/>
          <p:cNvSpPr/>
          <p:nvPr/>
        </p:nvSpPr>
        <p:spPr>
          <a:xfrm>
            <a:off x="590702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الوكلاء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نية + استدعاء أدوات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Intent + tool calls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4166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الأنظمة الوكيلة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تخطيط وتنفيذ متعدد الخطوات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Agentic RAG = بحث متجهي + جلب عبر الواجهات بذاكرة متجددة وتحقق قبل التسليم.</a:t>
            </a:r>
          </a:p>
          <a:p>
            <a:pPr algn="r" rtl="0"/>
            <a:r>
              <a:t>Agentic RAG = vector search + API fetching with refreshed memory and verification.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مخزن الخصائص / Feature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مصادر البيانات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Data Sources</a:t>
            </a:r>
          </a:p>
        </p:txBody>
      </p:sp>
      <p:sp>
        <p:nvSpPr>
          <p:cNvPr id="4" name="Left Arrow 3"/>
          <p:cNvSpPr/>
          <p:nvPr/>
        </p:nvSpPr>
        <p:spPr>
          <a:xfrm>
            <a:off x="2724912" y="30175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خط الخصائص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Feature Pipeline
هندسة + تحويل</a:t>
            </a:r>
          </a:p>
        </p:txBody>
      </p:sp>
      <p:sp>
        <p:nvSpPr>
          <p:cNvPr id="6" name="Left Arrow 5"/>
          <p:cNvSpPr/>
          <p:nvPr/>
        </p:nvSpPr>
        <p:spPr>
          <a:xfrm>
            <a:off x="5468112" y="23317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5468112" y="361188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غير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Offline Store
تدريب النماذج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Online Store
استدلال منخفض زمن الاستجابة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الاستدلال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Serving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449056" y="201168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8449056" y="402336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قيمة مخزن الخصائص: نفس تعريف الخصائص للتدريب والاستدلال — لا انحراف.</a:t>
            </a:r>
          </a:p>
          <a:p>
            <a:pPr algn="r" rtl="0"/>
            <a:r>
              <a:t>Core value: one feature definition for training and serving — no skew.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2624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Left Arrow 5"/>
          <p:cNvSpPr/>
          <p:nvPr/>
        </p:nvSpPr>
        <p:spPr>
          <a:xfrm>
            <a:off x="4910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Left Arrow 7"/>
          <p:cNvSpPr/>
          <p:nvPr/>
        </p:nvSpPr>
        <p:spPr>
          <a:xfrm>
            <a:off x="7196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482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نمط الإجابة المؤرَّضة / Grounded Answer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سؤال المتعلِّم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Learner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7432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ما الاستراتيجية الافتراضية للتقسيم؟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Which chunking default should I use?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063240" cy="10058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أدلة مسترجعة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Retrieved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514600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[1] الفقرات ← الجمل ← التقسيم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[1] paragraphs → sentences →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10128"/>
            <a:ext cx="3063240" cy="658368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[2] التكراري هو الخيار الموصى به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[2] recursive is the recommended default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إجابة موثقة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Grounded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337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ابدأ بالتقسيم التكراري [1][2]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Start with recursive chunking [1][2]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7818120" cy="6858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لا دليل مسترجع؟ قل: لا أعرف / No retrieved evidence? Say: I don't know.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القاعدة: لا تتجاوز الأدلة، واربط كل ادعاء بمصدر.</a:t>
            </a:r>
          </a:p>
          <a:p>
            <a:pPr algn="r" rtl="0"/>
            <a:r>
              <a:t>Rule: do not go beyond the evidence; connect every claim to a source.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طيف البيانات والتنسيقات / Data Spectrum &amp; Formats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20440" cy="9601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Structured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جداول / Tables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CSV • Parquet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9601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شبه 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Semi-structured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سجلات مرنة / Flexible records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JSON • Avro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520440" cy="9601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غير مهيكلة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Unstructured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نصوص وصور وصوت / Text, images, audio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PDF • JPG • 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160520"/>
            <a:ext cx="9235440" cy="7772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اختر التنسيق حسب الاستخدام: تبادل بسيط ← تحليلات سريعة ← محتوى غني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Choose the format for the job: simple exchange ← fast analytics ← rich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Parquet عمودي للتحليلات؛ JSON مرن للواجهات؛ الملفات الغنية تحتاج استخراج محتوى.</a:t>
            </a:r>
          </a:p>
          <a:p>
            <a:pPr algn="r" rtl="0"/>
            <a:r>
              <a:t>Parquet is columnar for analytics; JSON is flexible for APIs; rich files need content extraction.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قرار: المستودع مقابل البحيرة / Warehouse vs Lake Decision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2920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5029200" cy="822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مخطط عند الكتابة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Schema on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مخطط عند القراءة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Schema on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بيانات منظمة + SQL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Curated data +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كل التنسيقات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Any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تقارير وذكاء أعمال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Reporting and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استكشاف وAI/ML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Exploration and AI/ML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5212080"/>
            <a:ext cx="4434840" cy="6400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Lakehouse = مرونة البحيرة + موثوقية المستودع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Lakehouse = lake flexibility + warehouse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لا يوجد فائز دائم: ابدأ من نوع السؤال، والفريق، ومتطلبات الحوكمة.</a:t>
            </a:r>
          </a:p>
          <a:p>
            <a:pPr algn="r" rtl="0"/>
            <a:r>
              <a:t>There is no universal winner: start with the question, team, and governance needs.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البيانات الخام إلى الخصائص / Raw Data to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46888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أحداث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events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6888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تنظيف وتحويل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Clean &amp; transform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0819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246888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تعريف 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 definitions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3427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0" y="2011680"/>
            <a:ext cx="246888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تدريب + خدمة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Training +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977639"/>
            <a:ext cx="60807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مخزن الخصائص: تعريف واحد متسق للتدريب والخدمة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 store: one consistent definition for training and 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الاتساق هو النتيجة: نفس حساب الميزة يمنع انحراف التدريب والخدمة.</a:t>
            </a:r>
          </a:p>
          <a:p>
            <a:pPr algn="r" rtl="0"/>
            <a:r>
              <a:t>Consistency is the outcome: the same feature calculation prevents training-serving skew.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حلقة جودة التصنيف / Label Quality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480560" cy="8229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تسميات متسرعة أو غير متسقة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Rushed or inconsistent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480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ضوضاء ← نموذج ضعيف ← تصحيحات أكثر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Noise → weak model → more corrections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94960" y="2834640"/>
            <a:ext cx="68580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4805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اقتراح LLM + مراجعة بشرية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suggestion + 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48056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تسميات موثوقة ← نموذج أفضل ← تغذية راجعة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Trusted labels → better model →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617720"/>
            <a:ext cx="6080760" cy="71323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قِس اتفاق المقيمين قبل قبول البيانات / Measure reviewer agreement before accepting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الـ LLM يسرّع العمل؛ الإنسان يظل مسؤولًا عن القبول والجودة.</a:t>
            </a:r>
          </a:p>
          <a:p>
            <a:pPr algn="r" rtl="0"/>
            <a:r>
              <a:t>The LLM accelerates work; people remain accountable for acceptance and quality.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سلسلة العهدة / Data Lineage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2560320" cy="8686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CRM /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2783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874519"/>
            <a:ext cx="2560320" cy="8686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تحويل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تنظيف + توحيد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0819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256032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منتج بيانات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مخطط + مالك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8855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2560320" cy="8686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استهلاك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Arial"/>
              </a:rPr>
              <a:t>لوحة / نموذج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709160"/>
            <a:ext cx="7635240" cy="7315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لكل خطوة: مالك + وقت + سياسة + أثر التغيير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For every step: owner + time + policy + change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اسأل «من أين جاءت هذه النتيجة؟» ثم اتبع السلسلة إلى المصدر.</a:t>
            </a:r>
          </a:p>
          <a:p>
            <a:pPr algn="r" rtl="0"/>
            <a:r>
              <a:t>Ask “where did this result come from?” then follow the chain to its source.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دورة حياة MLOps / MLOps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تجربة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Experiment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1965960"/>
            <a:ext cx="2011680" cy="11430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تحقق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Validate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66360" y="1965960"/>
            <a:ext cx="2011680" cy="11430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نشر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Deploy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1965960"/>
            <a:ext cx="201168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مراقبة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55480" y="242316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1965960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إعادة 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023360"/>
            <a:ext cx="832104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سجّل الإصدارات والقياسات في كل مرحلة — ثم أعد التعلم من الإنتاج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Record versions and metrics at every stage — then learn again from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MLOps ليس «نشرًا مرة واحدة»؛ إنه حلقة قابلة للقياس والتحسين.</a:t>
            </a:r>
          </a:p>
          <a:p>
            <a:pPr algn="r" rtl="0"/>
            <a:r>
              <a:t>MLOps is not “deploy once”; it is a measurable improvement loop.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المصطلحات / Glossary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البيانات والتخزين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10972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47472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RAG والاسترجاع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RAG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3429000"/>
            <a:ext cx="3474720" cy="10972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452628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تعلم المصطلحات كمجموعات مترابطة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Learn terms as connected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استخدم هذه الخريطة قبل الرجوع إلى التعريفات التفصيلية.</a:t>
            </a:r>
          </a:p>
          <a:p>
            <a:pPr algn="r" rtl="0"/>
            <a:r>
              <a:t>Use this map before returning to the detailed definitions.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