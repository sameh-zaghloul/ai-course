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9" r:id="rId20"/>
    <p:sldId id="266" r:id="rId17"/>
    <p:sldId id="268" r:id="rId19"/>
    <p:sldId id="259" r:id="rId10"/>
    <p:sldId id="267" r:id="rId18"/>
    <p:sldId id="265" r:id="rId16"/>
    <p:sldId id="260" r:id="rId11"/>
    <p:sldId id="264" r:id="rId15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5.xml"/><Relationship Id="rId11" Type="http://schemas.openxmlformats.org/officeDocument/2006/relationships/slide" Target="slides/slide7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8.xml"/><Relationship Id="rId16" Type="http://schemas.openxmlformats.org/officeDocument/2006/relationships/slide" Target="slides/slide6.xml"/><Relationship Id="rId17" Type="http://schemas.openxmlformats.org/officeDocument/2006/relationships/slide" Target="slides/slide4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400" b="1">
                <a:solidFill>
                  <a:srgbClr val="1F4E79"/>
                </a:solidFill>
                <a:latin typeface="Calibri"/>
              </a:rPr>
              <a:t>V07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800" b="1">
                <a:solidFill>
                  <a:srgbClr val="1F3B5C"/>
                </a:solidFill>
                <a:latin typeface="Calibri"/>
              </a:rPr>
              <a:t>المستودعات والبحيرات ومعمارية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sz="3400" b="0">
                <a:solidFill>
                  <a:srgbClr val="333333"/>
                </a:solidFill>
                <a:latin typeface="Calibri"/>
              </a:rPr>
              <a:t>Warehouses, Data Lakes &amp; Lakehouse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>
                <a:solidFill>
                  <a:srgbClr val="666666"/>
                </a:solidFill>
                <a:latin typeface="Calibri"/>
              </a:rPr>
              <a:t>Module 02 — Data &amp; AI Engineering Track  | 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المستودع مقابل البحيرة / Warehouse vs 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المستودع: مخطط عند الكتابة، SQL سريع، بيانات مهيكلة فقط.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Warehouse: schema-on-write, fast SQL, structured data only.</a:t>
            </a:r>
          </a:p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البحيرة: مخطط عند القراءة، كل التنسيقات، تكلفة تخزين منخفضة.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Lake: schema-on-read, any format, low-cost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معمارية Lakehouse / Lakehouse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تجمع مرونة البحيرة وأداء المستودع في منصة واحدة (Delta Lake, Iceberg, Hudi).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Combines lake flexibility with warehouse performance (Delta Lake, Iceberg, Hudi).</a:t>
            </a:r>
          </a:p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طبقات معاملات ACID وفهرسة وحوكمة فوق تخزين الكائنات.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ACID transactions, indexing, and governance layers over object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المعمارية المتدرِّجة Medallion / Medallion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7589520" cy="12344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Bronze — بيانات خام غير قابلة للتغيير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Raw immutable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697480"/>
            <a:ext cx="7589520" cy="12344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Silver — بيانات منقَّاة ومنظَّمة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Cleansed &amp; structured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06240"/>
            <a:ext cx="7589520" cy="12344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Gold — تجميعات جاهزة للتحليل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Analytics-ready aggregates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97880" y="2450592"/>
            <a:ext cx="3657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897880" y="3959352"/>
            <a:ext cx="3657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الحوكمة عبر تحسين الجودة بين الطبقات — إدارة مركزية.</a:t>
            </a:r>
          </a:p>
          <a:p>
            <a:pPr algn="r" rtl="0"/>
            <a:r>
              <a:t>Governance via quality improvement between layers — central ownership.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منتجات البيانات وعقودها / Data Products &amp;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منتج البيانات: مجموعة بيانات موثوقة موثّقة قابلة للاكتشاف تُدار كمنتج حقيقي.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Data product: a trusted, documented, discoverable dataset managed like a product.</a:t>
            </a:r>
          </a:p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عقد البيانات: المخطط والأمان ومستوى الخدمة SLA — وحدة التسليم الحديثة.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Data contract: schema + security + SLA — the modern delivery unit.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منتج البيانات وعقد البيانات / Data Product &amp;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206240" cy="3108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Calibri"/>
              </a:rPr>
              <a:t>منتج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Product — موثوق • موثّق • قابل للاكتشاف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1645920"/>
            <a:ext cx="42062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Calibri"/>
              </a:rPr>
              <a:t>عقد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743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المخطط /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668904631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الأمان /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37806519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مستوى الخدمة / SLA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57800" y="3017520"/>
            <a:ext cx="1737360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وحدة التسليم الحديثة في هندسة البيانات.</a:t>
            </a:r>
          </a:p>
          <a:p>
            <a:pPr algn="r" rtl="0"/>
            <a:r>
              <a:t>The modern delivery unit in data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متى تختار كل نموذج؟ / When to Choose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فريق مركزي وتحليلات → Medallion على Lakehouse؛ تقارير صارمة → مستودع؛ مؤسسة كبيرة بفرق مستقلة → Data Mesh.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Central team + analytics → Medallion; strict BI → warehouse; large independent teams → data mesh.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أنماط معالجة البيانات الثلاثة / Three Data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56616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المعمارية المتدرِّجة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Medallion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فريق مركزي — تحليلات وAI/ML/RAG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371600"/>
            <a:ext cx="356616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مستودع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فرق BI — تقارير وذكاء أعمال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8" y="1371600"/>
            <a:ext cx="356616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شبكة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فرق المجالات — مؤسسات كبيرة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المعايير: الفكرة الجوهرية / المالك / الحوكمة / حالة الاستخدام المثلى.</a:t>
            </a:r>
          </a:p>
          <a:p>
            <a:pPr algn="r" rtl="0"/>
            <a:r>
              <a:t>Criteria: core idea / ownership / governance / best use case.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ربط بالمقرر / Course Tie-in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900">
                <a:solidFill>
                  <a:srgbClr val="333333"/>
                </a:solidFill>
                <a:latin typeface="Calibri"/>
              </a:rPr>
              <a:t>• مسار عملي: Bronze → Silver → Gold ينتهي في فهرس متجهي يغذّي تطبيق RAG (مختبر L03).</a:t>
            </a:r>
          </a:p>
          <a:p>
            <a:pPr algn="r" rtl="0">
              <a:spcAft>
                <a:spcPts val="1000"/>
              </a:spcAft>
            </a:pPr>
            <a:r>
              <a:rPr sz="1900">
                <a:solidFill>
                  <a:srgbClr val="666666"/>
                </a:solidFill>
                <a:latin typeface="Calibri"/>
              </a:rPr>
              <a:t>   Hands-on path: Bronze → Silver → Gold ending in a vector index feeding a RAG app (lab L03).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اختبار قصير /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1. ما معنى «مخطط عند القراءة»؟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What does 'schema-on-read' mean?</a:t>
            </a:r>
          </a:p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2. ما مكونات عقد البيانات الثلاثة؟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What are the three components of a data contract?</a:t>
            </a:r>
          </a:p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3. ماذا يضيف Lakehouse عن البحيرة المجردة؟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What does a lakehouse add over a raw lake?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>
                <a:solidFill>
                  <a:srgbClr val="1F3B5C"/>
                </a:solidFill>
                <a:latin typeface="Calibri"/>
              </a:rPr>
              <a:t>للاستزادة /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توثيق Delta Lake وApache Iceberg.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Delta Lake and Apache Iceberg docs.</a:t>
            </a:r>
          </a:p>
          <a:p>
            <a:pPr algn="r" rtl="1"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مقالات Data Contracts (Chad Sanderson).</a:t>
            </a:r>
          </a:p>
          <a:p>
            <a:pPr algn="r" rtl="0">
              <a:spcAft>
                <a:spcPts val="1000"/>
              </a:spcAft>
            </a:pPr>
            <a:r>
              <a:rPr sz="2000">
                <a:solidFill>
                  <a:srgbClr val="666666"/>
                </a:solidFill>
                <a:latin typeface="Calibri"/>
              </a:rPr>
              <a:t>   Data contracts articles (Chad Sanderson).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أنماط معالجة البيانات الثلاثة / Three Data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566160" cy="91440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المعمارية المتدرِّجة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Medallion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فريق مركزي — تحليلات وAI/ML/RAG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19" y="1371600"/>
            <a:ext cx="356616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مستودع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19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فرق BI — تقارير وذكاء أعمال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8" y="1371600"/>
            <a:ext cx="3566160" cy="91440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شبكة البيانات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Data Mesh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8" y="2468880"/>
            <a:ext cx="3566160" cy="256032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500" b="1">
                <a:solidFill>
                  <a:srgbClr val="333333"/>
                </a:solidFill>
                <a:latin typeface="Calibri"/>
              </a:rPr>
              <a:t>فرق المجالات — مؤسسات كبيرة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المعايير: الفكرة الجوهرية / المالك / الحوكمة / حالة الاستخدام المثلى.</a:t>
            </a:r>
          </a:p>
          <a:p>
            <a:pPr algn="r" rtl="0"/>
            <a:r>
              <a:t>Criteria: core idea / ownership / governance / best use case.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منتج البيانات وعقد البيانات / Data Product &amp;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206240" cy="3108960"/>
          </a:xfrm>
          <a:prstGeom prst="roundRect">
            <a:avLst/>
          </a:prstGeom>
          <a:solidFill>
            <a:srgbClr val="DCE6F1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Calibri"/>
              </a:rPr>
              <a:t>منتج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Product — موثوق • موثّق • قابل للاكتشاف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1645920"/>
            <a:ext cx="4206240" cy="9144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000" b="1">
                <a:solidFill>
                  <a:srgbClr val="333333"/>
                </a:solidFill>
                <a:latin typeface="Calibri"/>
              </a:rPr>
              <a:t>عقد البيانات</a:t>
            </a:r>
          </a:p>
          <a:p>
            <a:pPr algn="ctr" rtl="0"/>
            <a:r>
              <a:rPr sz="1400">
                <a:solidFill>
                  <a:srgbClr val="666666"/>
                </a:solidFill>
                <a:latin typeface="Calibri"/>
              </a:rPr>
              <a:t>Data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2743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المخطط /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668904631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الأمان /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37806519200"/>
            <a:ext cx="3474720" cy="59436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1">
                <a:solidFill>
                  <a:srgbClr val="333333"/>
                </a:solidFill>
                <a:latin typeface="Calibri"/>
              </a:rPr>
              <a:t>مستوى الخدمة / SLA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57800" y="3017520"/>
            <a:ext cx="1737360" cy="36576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وحدة التسليم الحديثة في هندسة البيانات.</a:t>
            </a:r>
          </a:p>
          <a:p>
            <a:pPr algn="r" rtl="0"/>
            <a:r>
              <a:t>The modern delivery unit in data engineering.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 rtl="1"/>
            <a:r>
              <a:rPr sz="3000" b="1">
                <a:solidFill>
                  <a:srgbClr val="1F3B5C"/>
                </a:solidFill>
                <a:latin typeface="Calibri"/>
              </a:rPr>
              <a:t>المعمارية المتدرِّجة Medallion / Medallion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188720"/>
            <a:ext cx="7589520" cy="1234440"/>
          </a:xfrm>
          <a:prstGeom prst="roundRect">
            <a:avLst/>
          </a:prstGeom>
          <a:solidFill>
            <a:srgbClr val="FDE9D9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Bronze — بيانات خام غير قابلة للتغيير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Raw immutable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697480"/>
            <a:ext cx="7589520" cy="123444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Silver — بيانات منقَّاة ومنظَّمة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Cleansed &amp; structured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06240"/>
            <a:ext cx="7589520" cy="123444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800" b="1">
                <a:solidFill>
                  <a:srgbClr val="333333"/>
                </a:solidFill>
                <a:latin typeface="Calibri"/>
              </a:rPr>
              <a:t>Gold — تجميعات جاهزة للتحليل</a:t>
            </a:r>
          </a:p>
          <a:p>
            <a:pPr algn="ctr" rtl="0"/>
            <a:r>
              <a:rPr sz="1300">
                <a:solidFill>
                  <a:srgbClr val="666666"/>
                </a:solidFill>
                <a:latin typeface="Calibri"/>
              </a:rPr>
              <a:t>Analytics-ready aggregates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97880" y="2450592"/>
            <a:ext cx="3657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5897880" y="3959352"/>
            <a:ext cx="365760" cy="27432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>
                <a:solidFill>
                  <a:srgbClr val="666666"/>
                </a:solidFill>
                <a:latin typeface="Calibri"/>
              </a:rPr>
              <a:t>الحوكمة عبر تحسين الجودة بين الطبقات — إدارة مركزية.</a:t>
            </a:r>
          </a:p>
          <a:p>
            <a:pPr algn="r" rtl="0"/>
            <a:r>
              <a:t>Governance via quality improvement between layers — central ownership.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