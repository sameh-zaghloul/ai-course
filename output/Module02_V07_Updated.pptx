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7" r:id="rId6"/>
    <p:sldId id="260" r:id="rId7"/>
    <p:sldId id="268" r:id="rId8"/>
    <p:sldId id="261" r:id="rId9"/>
    <p:sldId id="262" r:id="rId10"/>
    <p:sldId id="263" r:id="rId11"/>
    <p:sldId id="269" r:id="rId12"/>
    <p:sldId id="264" r:id="rId13"/>
    <p:sldId id="265" r:id="rId14"/>
    <p:sldId id="266" r:id="rId1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36"/>
  </p:normalViewPr>
  <p:slideViewPr>
    <p:cSldViewPr snapToGrid="0" snapToObjects="1">
      <p:cViewPr varScale="1">
        <p:scale>
          <a:sx n="88" d="100"/>
          <a:sy n="88" d="100"/>
        </p:scale>
        <p:origin x="744" y="19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109728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0"/>
            <a:r>
              <a:rPr sz="2800" b="1">
                <a:solidFill>
                  <a:srgbClr val="1F4E79"/>
                </a:solidFill>
                <a:latin typeface="Calibri"/>
                <a:cs typeface="Arial"/>
                <a:ea typeface="Calibri"/>
              </a:rPr>
              <a:t>Module 02  |  V07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92024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4400" b="1">
                <a:solidFill>
                  <a:srgbClr val="1F3B5C"/>
                </a:solidFill>
                <a:latin typeface="Arial"/>
                <a:cs typeface="Arial"/>
                <a:ea typeface="Calibri"/>
              </a:rPr>
              <a:t>المستودعات والبحيرات ومعمارية Lakehouse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20040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0"/>
            <a:r>
              <a:rPr sz="3000" b="0">
                <a:solidFill>
                  <a:srgbClr val="333333"/>
                </a:solidFill>
                <a:latin typeface="Calibri"/>
                <a:cs typeface="Arial"/>
                <a:ea typeface="Calibri"/>
              </a:rPr>
              <a:t>Warehouses, Data Lakes &amp; Lakehouse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93776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800" b="0">
                <a:solidFill>
                  <a:srgbClr val="666666"/>
                </a:solidFill>
                <a:latin typeface="Arial"/>
                <a:cs typeface="Arial"/>
                <a:ea typeface="Calibri"/>
              </a:rPr>
              <a:t>Module 02 — Data &amp; AI Engineering Track  |  الوحدة الثانية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0"/>
            <a:r>
              <a:rPr sz="1400" b="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Light theme  |  Bilingual AR/EN  |  Ready to present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  <a:cs typeface="Arial"/>
                <a:ea typeface="Calibri"/>
              </a:rPr>
              <a:t>Module 02 — Data &amp; AI Engineering Track  |  الوحدة الثانية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V07  •  1/14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  <a:cs typeface="Arial"/>
                <a:ea typeface="Calibri"/>
              </a:rPr>
              <a:t>Module 02 — Data &amp; AI Engineering Track  |  الوحدة الثانية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07_  •  1/14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  <a:cs typeface="Arial"/>
                <a:ea typeface="Calibri"/>
              </a:rPr>
              <a:t>Module 02 — Data &amp; AI Engineering Track  |  الوحدة الثانية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07_  •  1/14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200" b="1">
                <a:solidFill>
                  <a:srgbClr val="1F3B5C"/>
                </a:solidFill>
                <a:latin typeface="Arial"/>
                <a:cs typeface="Arial"/>
                <a:ea typeface="Calibri"/>
              </a:rPr>
              <a:t>أجندة العرض / Agenda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1600">
                <a:solidFill>
                  <a:srgbClr val="333333"/>
                </a:solidFill>
                <a:latin typeface="Arial"/>
                <a:cs typeface="Arial"/>
                <a:ea typeface="Calibri"/>
              </a:rPr>
              <a:t>• V07 — المستودعات والبحيرات ومعمارية Lakehouse</a:t>
            </a:r>
          </a:p>
          <a:p>
            <a:pPr algn="r" rtl="0">
              <a:spcBef>
                <a:spcPts val="200"/>
              </a:spcBef>
              <a:spcAft>
                <a:spcPts val="1000"/>
              </a:spcAft>
            </a:pPr>
            <a:r>
              <a:rPr sz="130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• V07 — Warehouses, Data Lakes &amp; Lakehouse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1600">
                <a:solidFill>
                  <a:srgbClr val="333333"/>
                </a:solidFill>
                <a:latin typeface="Arial"/>
                <a:cs typeface="Arial"/>
                <a:ea typeface="Calibri"/>
              </a:rPr>
              <a:t>• المستودع مقابل البحيرة / Warehouse vs Lake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1600">
                <a:solidFill>
                  <a:srgbClr val="333333"/>
                </a:solidFill>
                <a:latin typeface="Arial"/>
                <a:cs typeface="Arial"/>
                <a:ea typeface="Calibri"/>
              </a:rPr>
              <a:t>• معمارية Lakehouse / Lakehouse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1600">
                <a:solidFill>
                  <a:srgbClr val="333333"/>
                </a:solidFill>
                <a:latin typeface="Arial"/>
                <a:cs typeface="Arial"/>
                <a:ea typeface="Calibri"/>
              </a:rPr>
              <a:t>• منتجات البيانات وعقودها / Data Products &amp; Contracts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1600">
                <a:solidFill>
                  <a:srgbClr val="333333"/>
                </a:solidFill>
                <a:latin typeface="Arial"/>
                <a:cs typeface="Arial"/>
                <a:ea typeface="Calibri"/>
              </a:rPr>
              <a:t>• متى تختار كل نموذج؟ / When to Choose Which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1600">
                <a:solidFill>
                  <a:srgbClr val="333333"/>
                </a:solidFill>
                <a:latin typeface="Arial"/>
                <a:cs typeface="Arial"/>
                <a:ea typeface="Calibri"/>
              </a:rPr>
              <a:t>• ربط بالمقرر / Course Tie-in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  <a:cs typeface="Arial"/>
                <a:ea typeface="Calibri"/>
              </a:rPr>
              <a:t>Module 02 — Data &amp; AI Engineering Track  |  الوحدة الثانية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V07  •  2/14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  <a:cs typeface="Arial"/>
                <a:ea typeface="Calibri"/>
              </a:rPr>
              <a:t>Module 02 — Data &amp; AI Engineering Track  |  الوحدة الثانية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07_  •  2/14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  <a:cs typeface="Arial"/>
                <a:ea typeface="Calibri"/>
              </a:rPr>
              <a:t>Module 02 — Data &amp; AI Engineering Track  |  الوحدة الثانية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07_  •  2/14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200" b="1">
                <a:solidFill>
                  <a:srgbClr val="1F3B5C"/>
                </a:solidFill>
                <a:latin typeface="Arial"/>
                <a:cs typeface="Arial"/>
                <a:ea typeface="Calibri"/>
              </a:rPr>
              <a:t>المستودع مقابل البحيرة / Warehouse vs Lake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1900">
                <a:solidFill>
                  <a:srgbClr val="333333"/>
                </a:solidFill>
                <a:latin typeface="Arial"/>
                <a:cs typeface="Arial"/>
                <a:ea typeface="Calibri"/>
              </a:rPr>
              <a:t>• المستودع: مخطط عند الكتابة، SQL سريع، بيانات مهيكلة فقط.</a:t>
            </a:r>
          </a:p>
          <a:p>
            <a:pPr algn="r" rtl="0">
              <a:spcBef>
                <a:spcPts val="200"/>
              </a:spcBef>
              <a:spcAft>
                <a:spcPts val="1000"/>
              </a:spcAft>
            </a:pPr>
            <a:r>
              <a:rPr sz="160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• Warehouse: schema-on-write, fast SQL, structured data only.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1900">
                <a:solidFill>
                  <a:srgbClr val="333333"/>
                </a:solidFill>
                <a:latin typeface="Arial"/>
                <a:cs typeface="Arial"/>
                <a:ea typeface="Calibri"/>
              </a:rPr>
              <a:t>• البحيرة: مخطط عند القراءة، كل التنسيقات، تكلفة تخزين منخفضة.</a:t>
            </a:r>
          </a:p>
          <a:p>
            <a:pPr algn="r" rtl="0">
              <a:spcBef>
                <a:spcPts val="200"/>
              </a:spcBef>
              <a:spcAft>
                <a:spcPts val="1000"/>
              </a:spcAft>
            </a:pPr>
            <a:r>
              <a:rPr sz="160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• Lake: schema-on-read, any format, low-cost storage.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  <a:cs typeface="Arial"/>
                <a:ea typeface="Calibri"/>
              </a:rPr>
              <a:t>Module 02 — Data &amp; AI Engineering Track  |  الوحدة الثانية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V07  •  3/14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  <a:cs typeface="Arial"/>
                <a:ea typeface="Calibri"/>
              </a:rPr>
              <a:t>Module 02 — Data &amp; AI Engineering Track  |  الوحدة الثانية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07_  •  3/14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  <a:cs typeface="Arial"/>
                <a:ea typeface="Calibri"/>
              </a:rPr>
              <a:t>Module 02 — Data &amp; AI Engineering Track  |  الوحدة الثانية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07_  •  3/14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200" b="1">
                <a:solidFill>
                  <a:srgbClr val="1F3B5C"/>
                </a:solidFill>
                <a:latin typeface="Arial"/>
                <a:cs typeface="Arial"/>
                <a:ea typeface="Calibri"/>
              </a:rPr>
              <a:t>معمارية Lakehouse / Lakehouse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1900">
                <a:solidFill>
                  <a:srgbClr val="333333"/>
                </a:solidFill>
                <a:latin typeface="Arial"/>
                <a:cs typeface="Arial"/>
                <a:ea typeface="Calibri"/>
              </a:rPr>
              <a:t>• تجمع مرونة البحيرة وأداء المستودع في منصة واحدة (Delta Lake, Iceberg, Hudi).</a:t>
            </a:r>
          </a:p>
          <a:p>
            <a:pPr algn="r" rtl="0">
              <a:spcBef>
                <a:spcPts val="200"/>
              </a:spcBef>
              <a:spcAft>
                <a:spcPts val="1000"/>
              </a:spcAft>
            </a:pPr>
            <a:r>
              <a:rPr sz="160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• Combines lake flexibility with warehouse performance (Delta Lake, Iceberg, Hudi).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1900">
                <a:solidFill>
                  <a:srgbClr val="333333"/>
                </a:solidFill>
                <a:latin typeface="Arial"/>
                <a:cs typeface="Arial"/>
                <a:ea typeface="Calibri"/>
              </a:rPr>
              <a:t>• طبقات معاملات ACID وفهرسة وحوكمة فوق تخزين الكائنات.</a:t>
            </a:r>
          </a:p>
          <a:p>
            <a:pPr algn="r" rtl="0">
              <a:spcBef>
                <a:spcPts val="200"/>
              </a:spcBef>
              <a:spcAft>
                <a:spcPts val="1000"/>
              </a:spcAft>
            </a:pPr>
            <a:r>
              <a:rPr sz="160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• ACID transactions, indexing, and governance layers over object storage.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  <a:cs typeface="Arial"/>
                <a:ea typeface="Calibri"/>
              </a:rPr>
              <a:t>Module 02 — Data &amp; AI Engineering Track  |  الوحدة الثانية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V07  •  4/14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  <a:cs typeface="Arial"/>
                <a:ea typeface="Calibri"/>
              </a:rPr>
              <a:t>Module 02 — Data &amp; AI Engineering Track  |  الوحدة الثانية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07_  •  4/14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  <a:cs typeface="Arial"/>
                <a:ea typeface="Calibri"/>
              </a:rPr>
              <a:t>Module 02 — Data &amp; AI Engineering Track  |  الوحدة الثانية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07_  •  4/14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13716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3000" b="1">
                <a:solidFill>
                  <a:srgbClr val="1F3B5C"/>
                </a:solidFill>
                <a:latin typeface="Arial"/>
                <a:cs typeface="Arial"/>
                <a:ea typeface="Calibri"/>
              </a:rPr>
              <a:t>المعمارية المتدرِّجة Medallion / Medallion Layers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286000" y="1188720"/>
            <a:ext cx="7589520" cy="1234440"/>
          </a:xfrm>
          <a:prstGeom prst="roundRect">
            <a:avLst/>
          </a:prstGeom>
          <a:solidFill>
            <a:srgbClr val="FDE9D9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rtl="1"/>
            <a:r>
              <a:rPr sz="1800" b="1">
                <a:solidFill>
                  <a:srgbClr val="333333"/>
                </a:solidFill>
                <a:latin typeface="Arial"/>
                <a:cs typeface="Arial"/>
                <a:ea typeface="Calibri"/>
              </a:rPr>
              <a:t>Bronze — بيانات خام غير قابلة للتغيير</a:t>
            </a:r>
          </a:p>
          <a:p>
            <a:pPr algn="ctr" rtl="0"/>
            <a:r>
              <a:rPr sz="130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Raw immutable data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286000" y="2697480"/>
            <a:ext cx="7589520" cy="123444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rtl="1"/>
            <a:r>
              <a:rPr sz="1800" b="1">
                <a:solidFill>
                  <a:srgbClr val="333333"/>
                </a:solidFill>
                <a:latin typeface="Arial"/>
                <a:cs typeface="Arial"/>
                <a:ea typeface="Calibri"/>
              </a:rPr>
              <a:t>Silver — بيانات منقَّاة ومنظَّمة</a:t>
            </a:r>
          </a:p>
          <a:p>
            <a:pPr algn="ctr" rtl="0"/>
            <a:r>
              <a:rPr sz="130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Cleansed &amp; structured data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0" y="4206240"/>
            <a:ext cx="7589520" cy="1234440"/>
          </a:xfrm>
          <a:prstGeom prst="roundRect">
            <a:avLst/>
          </a:prstGeom>
          <a:solidFill>
            <a:srgbClr val="E2EFDA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rtl="1"/>
            <a:r>
              <a:rPr sz="1800" b="1">
                <a:solidFill>
                  <a:srgbClr val="333333"/>
                </a:solidFill>
                <a:latin typeface="Arial"/>
                <a:cs typeface="Arial"/>
                <a:ea typeface="Calibri"/>
              </a:rPr>
              <a:t>Gold — تجميعات جاهزة للتحليل</a:t>
            </a:r>
          </a:p>
          <a:p>
            <a:pPr algn="ctr" rtl="0"/>
            <a:r>
              <a:rPr sz="130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Analytics-ready aggregates</a:t>
            </a:r>
          </a:p>
        </p:txBody>
      </p:sp>
      <p:sp>
        <p:nvSpPr>
          <p:cNvPr id="6" name="Left Arrow 5"/>
          <p:cNvSpPr/>
          <p:nvPr/>
        </p:nvSpPr>
        <p:spPr>
          <a:xfrm>
            <a:off x="5897880" y="2450592"/>
            <a:ext cx="365760" cy="274320"/>
          </a:xfrm>
          <a:prstGeom prst="leftArrow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Left Arrow 6"/>
          <p:cNvSpPr/>
          <p:nvPr/>
        </p:nvSpPr>
        <p:spPr>
          <a:xfrm>
            <a:off x="5897880" y="3959352"/>
            <a:ext cx="365760" cy="274320"/>
          </a:xfrm>
          <a:prstGeom prst="leftArrow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40080" y="6126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400">
                <a:solidFill>
                  <a:srgbClr val="666666"/>
                </a:solidFill>
                <a:latin typeface="Arial"/>
                <a:cs typeface="Arial"/>
                <a:ea typeface="Calibri"/>
              </a:rPr>
              <a:t>الحوكمة عبر تحسين الجودة بين الطبقات — إدارة مركزية.</a:t>
            </a:r>
          </a:p>
          <a:p>
            <a:pPr algn="r" rtl="0"/>
            <a:r>
              <a:rPr>
                <a:latin typeface="Calibri"/>
                <a:cs typeface="Arial"/>
                <a:ea typeface="Calibri"/>
              </a:rPr>
              <a:t>Governance via quality improvement between layers — central ownership.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  <a:cs typeface="Arial"/>
                <a:ea typeface="Calibri"/>
              </a:rPr>
              <a:t>Module 02 — Data &amp; AI Engineering Track  |  الوحدة الثانية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07_  •  5/14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  <a:cs typeface="Arial"/>
                <a:ea typeface="Calibri"/>
              </a:rPr>
              <a:t>Module 02 — Data &amp; AI Engineering Track  |  الوحدة الثانية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07_  •  5/14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200" b="1">
                <a:solidFill>
                  <a:srgbClr val="1F3B5C"/>
                </a:solidFill>
                <a:latin typeface="Arial"/>
                <a:cs typeface="Arial"/>
                <a:ea typeface="Calibri"/>
              </a:rPr>
              <a:t>منتجات البيانات وعقودها / Data Products &amp; Contracts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1900">
                <a:solidFill>
                  <a:srgbClr val="333333"/>
                </a:solidFill>
                <a:latin typeface="Arial"/>
                <a:cs typeface="Arial"/>
                <a:ea typeface="Calibri"/>
              </a:rPr>
              <a:t>• منتج البيانات: مجموعة بيانات موثوقة موثّقة قابلة للاكتشاف تُدار كمنتج حقيقي.</a:t>
            </a:r>
          </a:p>
          <a:p>
            <a:pPr algn="r" rtl="0">
              <a:spcBef>
                <a:spcPts val="200"/>
              </a:spcBef>
              <a:spcAft>
                <a:spcPts val="1000"/>
              </a:spcAft>
            </a:pPr>
            <a:r>
              <a:rPr sz="160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• Data product: a trusted, documented, discoverable dataset managed like a product.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1900">
                <a:solidFill>
                  <a:srgbClr val="333333"/>
                </a:solidFill>
                <a:latin typeface="Arial"/>
                <a:cs typeface="Arial"/>
                <a:ea typeface="Calibri"/>
              </a:rPr>
              <a:t>• عقد البيانات: المخطط والأمان ومستوى الخدمة SLA — وحدة التسليم الحديثة.</a:t>
            </a:r>
          </a:p>
          <a:p>
            <a:pPr algn="r" rtl="0">
              <a:spcBef>
                <a:spcPts val="200"/>
              </a:spcBef>
              <a:spcAft>
                <a:spcPts val="1000"/>
              </a:spcAft>
            </a:pPr>
            <a:r>
              <a:rPr sz="160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• Data contract: schema + security + SLA — the modern delivery unit.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  <a:cs typeface="Arial"/>
                <a:ea typeface="Calibri"/>
              </a:rPr>
              <a:t>Module 02 — Data &amp; AI Engineering Track  |  الوحدة الثانية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V07  •  5/14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  <a:cs typeface="Arial"/>
                <a:ea typeface="Calibri"/>
              </a:rPr>
              <a:t>Module 02 — Data &amp; AI Engineering Track  |  الوحدة الثانية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07_  •  6/14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  <a:cs typeface="Arial"/>
                <a:ea typeface="Calibri"/>
              </a:rPr>
              <a:t>Module 02 — Data &amp; AI Engineering Track  |  الوحدة الثانية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07_  •  6/14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13716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3000" b="1">
                <a:solidFill>
                  <a:srgbClr val="1F3B5C"/>
                </a:solidFill>
                <a:latin typeface="Arial"/>
                <a:cs typeface="Arial"/>
                <a:ea typeface="Calibri"/>
              </a:rPr>
              <a:t>منتج البيانات وعقد البيانات / Data Product &amp; Contract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645920"/>
            <a:ext cx="4206240" cy="3108960"/>
          </a:xfrm>
          <a:prstGeom prst="roundRect">
            <a:avLst/>
          </a:prstGeom>
          <a:solidFill>
            <a:srgbClr val="DCE6F1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rtl="1"/>
            <a:r>
              <a:rPr sz="2000" b="1">
                <a:solidFill>
                  <a:srgbClr val="333333"/>
                </a:solidFill>
                <a:latin typeface="Arial"/>
                <a:cs typeface="Arial"/>
                <a:ea typeface="Calibri"/>
              </a:rPr>
              <a:t>منتج البيانات</a:t>
            </a:r>
          </a:p>
          <a:p>
            <a:pPr algn="ctr" rtl="1"/>
            <a:r>
              <a:rPr sz="1400">
                <a:solidFill>
                  <a:srgbClr val="666666"/>
                </a:solidFill>
                <a:latin typeface="Arial"/>
                <a:cs typeface="Arial"/>
                <a:ea typeface="Calibri"/>
              </a:rPr>
              <a:t>Data Product — موثوق • موثّق • قابل للاكتشاف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223760" y="1645920"/>
            <a:ext cx="4206240" cy="914400"/>
          </a:xfrm>
          <a:prstGeom prst="roundRect">
            <a:avLst/>
          </a:prstGeom>
          <a:solidFill>
            <a:srgbClr val="E2EFDA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rtl="1"/>
            <a:r>
              <a:rPr sz="2000" b="1">
                <a:solidFill>
                  <a:srgbClr val="333333"/>
                </a:solidFill>
                <a:latin typeface="Arial"/>
                <a:cs typeface="Arial"/>
                <a:ea typeface="Calibri"/>
              </a:rPr>
              <a:t>عقد البيانات</a:t>
            </a:r>
          </a:p>
          <a:p>
            <a:pPr algn="ctr" rtl="0"/>
            <a:r>
              <a:rPr sz="140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Data Contract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589520" y="2743200"/>
            <a:ext cx="3474720" cy="59436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rtl="1"/>
            <a:r>
              <a:rPr sz="1400" b="1">
                <a:solidFill>
                  <a:srgbClr val="333333"/>
                </a:solidFill>
                <a:latin typeface="Arial"/>
                <a:cs typeface="Arial"/>
                <a:ea typeface="Calibri"/>
              </a:rPr>
              <a:t>المخطط / Schema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589520" y="0"/>
            <a:ext cx="3474720" cy="59436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rtl="1"/>
            <a:r>
              <a:rPr sz="1400" b="1">
                <a:solidFill>
                  <a:srgbClr val="333333"/>
                </a:solidFill>
                <a:latin typeface="Arial"/>
                <a:cs typeface="Arial"/>
                <a:ea typeface="Calibri"/>
              </a:rPr>
              <a:t>الأمان / Security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589520" y="0"/>
            <a:ext cx="3474720" cy="59436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rtl="1"/>
            <a:r>
              <a:rPr sz="1400" b="1">
                <a:solidFill>
                  <a:srgbClr val="333333"/>
                </a:solidFill>
                <a:latin typeface="Arial"/>
                <a:cs typeface="Arial"/>
                <a:ea typeface="Calibri"/>
              </a:rPr>
              <a:t>مستوى الخدمة / SLA</a:t>
            </a:r>
          </a:p>
        </p:txBody>
      </p:sp>
      <p:sp>
        <p:nvSpPr>
          <p:cNvPr id="8" name="Left Arrow 7"/>
          <p:cNvSpPr/>
          <p:nvPr/>
        </p:nvSpPr>
        <p:spPr>
          <a:xfrm>
            <a:off x="5257800" y="3017520"/>
            <a:ext cx="1737360" cy="365760"/>
          </a:xfrm>
          <a:prstGeom prst="leftArrow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0080" y="6126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400">
                <a:solidFill>
                  <a:srgbClr val="666666"/>
                </a:solidFill>
                <a:latin typeface="Arial"/>
                <a:cs typeface="Arial"/>
                <a:ea typeface="Calibri"/>
              </a:rPr>
              <a:t>وحدة التسليم الحديثة في هندسة البيانات.</a:t>
            </a:r>
          </a:p>
          <a:p>
            <a:pPr algn="r" rtl="0"/>
            <a:r>
              <a:rPr>
                <a:latin typeface="Calibri"/>
                <a:cs typeface="Arial"/>
                <a:ea typeface="Calibri"/>
              </a:rPr>
              <a:t>The modern delivery unit in data engineering.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  <a:cs typeface="Arial"/>
                <a:ea typeface="Calibri"/>
              </a:rPr>
              <a:t>Module 02 — Data &amp; AI Engineering Track  |  الوحدة الثانية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07_  •  7/14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  <a:cs typeface="Arial"/>
                <a:ea typeface="Calibri"/>
              </a:rPr>
              <a:t>Module 02 — Data &amp; AI Engineering Track  |  الوحدة الثانية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07_  •  7/14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200" b="1">
                <a:solidFill>
                  <a:srgbClr val="1F3B5C"/>
                </a:solidFill>
                <a:latin typeface="Arial"/>
                <a:cs typeface="Arial"/>
                <a:ea typeface="Calibri"/>
              </a:rPr>
              <a:t>متى تختار كل نموذج؟ / When to Choose Which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1900">
                <a:solidFill>
                  <a:srgbClr val="333333"/>
                </a:solidFill>
                <a:latin typeface="Arial"/>
                <a:cs typeface="Arial"/>
                <a:ea typeface="Calibri"/>
              </a:rPr>
              <a:t>• فريق مركزي وتحليلات → Medallion على Lakehouse؛ تقارير صارمة → مستودع؛ مؤسسة كبيرة بفرق مستقلة → Data Mesh.</a:t>
            </a:r>
          </a:p>
          <a:p>
            <a:pPr algn="r" rtl="0">
              <a:spcBef>
                <a:spcPts val="200"/>
              </a:spcBef>
              <a:spcAft>
                <a:spcPts val="1000"/>
              </a:spcAft>
            </a:pPr>
            <a:r>
              <a:rPr sz="160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• Central team + analytics → Medallion; strict BI → warehouse; large independent teams → data mesh.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  <a:cs typeface="Arial"/>
                <a:ea typeface="Calibri"/>
              </a:rPr>
              <a:t>Module 02 — Data &amp; AI Engineering Track  |  الوحدة الثانية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V07  •  6/14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  <a:cs typeface="Arial"/>
                <a:ea typeface="Calibri"/>
              </a:rPr>
              <a:t>Module 02 — Data &amp; AI Engineering Track  |  الوحدة الثانية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07_  •  8/14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  <a:cs typeface="Arial"/>
                <a:ea typeface="Calibri"/>
              </a:rPr>
              <a:t>Module 02 — Data &amp; AI Engineering Track  |  الوحدة الثانية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07_  •  8/14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200" b="1">
                <a:solidFill>
                  <a:srgbClr val="1F3B5C"/>
                </a:solidFill>
                <a:latin typeface="Arial"/>
                <a:cs typeface="Arial"/>
                <a:ea typeface="Calibri"/>
              </a:rPr>
              <a:t>ربط بالمقرر / Course Tie-in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1900">
                <a:solidFill>
                  <a:srgbClr val="333333"/>
                </a:solidFill>
                <a:latin typeface="Arial"/>
                <a:cs typeface="Arial"/>
                <a:ea typeface="Calibri"/>
              </a:rPr>
              <a:t>• مسار عملي: Bronze → Silver → Gold ينتهي في فهرس متجهي يغذّي تطبيق RAG (مختبر L03).</a:t>
            </a:r>
          </a:p>
          <a:p>
            <a:pPr algn="r" rtl="0">
              <a:spcBef>
                <a:spcPts val="200"/>
              </a:spcBef>
              <a:spcAft>
                <a:spcPts val="1000"/>
              </a:spcAft>
            </a:pPr>
            <a:r>
              <a:rPr sz="160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• Hands-on path: Bronze → Silver → Gold ending in a vector index feeding a RAG app (lab L03).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  <a:cs typeface="Arial"/>
                <a:ea typeface="Calibri"/>
              </a:rPr>
              <a:t>Module 02 — Data &amp; AI Engineering Track  |  الوحدة الثانية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V07  •  7/14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  <a:cs typeface="Arial"/>
                <a:ea typeface="Calibri"/>
              </a:rPr>
              <a:t>Module 02 — Data &amp; AI Engineering Track  |  الوحدة الثانية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07_  •  9/14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  <a:cs typeface="Arial"/>
                <a:ea typeface="Calibri"/>
              </a:rPr>
              <a:t>Module 02 — Data &amp; AI Engineering Track  |  الوحدة الثانية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07_  •  9/14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200" b="1">
                <a:solidFill>
                  <a:srgbClr val="1F3B5C"/>
                </a:solidFill>
                <a:latin typeface="Arial"/>
                <a:cs typeface="Arial"/>
                <a:ea typeface="Calibri"/>
              </a:rPr>
              <a:t>متى تختار كل نموذج؟ / Decision Matrix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371600"/>
          <a:ext cx="109728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48640">
                <a:tc>
                  <a:txBody>
                    <a:bodyPr/>
                    <a:lstStyle/>
                    <a:p>
                      <a:pPr algn="ctr" rtl="1"/>
                      <a:r>
                        <a:rPr sz="1400" b="1">
                          <a:latin typeface="Arial"/>
                          <a:cs typeface="Arial"/>
                          <a:ea typeface="Calibri"/>
                        </a:rPr>
                        <a:t>الحالة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400" b="1">
                          <a:latin typeface="Arial"/>
                          <a:cs typeface="Arial"/>
                          <a:ea typeface="Calibri"/>
                        </a:rPr>
                        <a:t>الاختيار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400" b="1">
                          <a:latin typeface="Arial"/>
                          <a:cs typeface="Arial"/>
                          <a:ea typeface="Calibri"/>
                        </a:rPr>
                        <a:t>السبب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 rtl="1"/>
                      <a:r>
                        <a:rPr sz="1200" b="0">
                          <a:latin typeface="Arial"/>
                          <a:cs typeface="Arial"/>
                          <a:ea typeface="Calibri"/>
                        </a:rPr>
                        <a:t>فريق مركزي + تحليلات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/>
                      <a:r>
                        <a:rPr sz="1200" b="0">
                          <a:latin typeface="Calibri"/>
                          <a:cs typeface="Arial"/>
                          <a:ea typeface="Calibri"/>
                        </a:rPr>
                        <a:t>Medallion / Lakehouse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200" b="0">
                          <a:latin typeface="Arial"/>
                          <a:cs typeface="Arial"/>
                          <a:ea typeface="Calibri"/>
                        </a:rPr>
                        <a:t>مرونة + حوكمة طبقية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 rtl="1"/>
                      <a:r>
                        <a:rPr sz="1200" b="0">
                          <a:latin typeface="Arial"/>
                          <a:cs typeface="Arial"/>
                          <a:ea typeface="Calibri"/>
                        </a:rPr>
                        <a:t>تقارير صارمة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/>
                      <a:r>
                        <a:rPr sz="1200" b="0">
                          <a:latin typeface="Calibri"/>
                          <a:cs typeface="Arial"/>
                          <a:ea typeface="Calibri"/>
                        </a:rPr>
                        <a:t>Warehouse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200" b="0">
                          <a:latin typeface="Arial"/>
                          <a:cs typeface="Arial"/>
                          <a:ea typeface="Calibri"/>
                        </a:rPr>
                        <a:t>SQL سريع + مخطط ثابت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 rtl="1"/>
                      <a:r>
                        <a:rPr sz="1200" b="0">
                          <a:latin typeface="Arial"/>
                          <a:cs typeface="Arial"/>
                          <a:ea typeface="Calibri"/>
                        </a:rPr>
                        <a:t>فرق مستقلة كبيرة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/>
                      <a:r>
                        <a:rPr sz="1200" b="0">
                          <a:latin typeface="Calibri"/>
                          <a:cs typeface="Arial"/>
                          <a:ea typeface="Calibri"/>
                        </a:rPr>
                        <a:t>Data Mesh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200" b="0">
                          <a:latin typeface="Arial"/>
                          <a:cs typeface="Arial"/>
                          <a:ea typeface="Calibri"/>
                        </a:rPr>
                        <a:t>ملكية لامركزية + عقود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  <a:cs typeface="Arial"/>
                <a:ea typeface="Calibri"/>
              </a:rPr>
              <a:t>Module 02 — Data &amp; AI Engineering Track  |  الوحدة الثانية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V07  •  8/14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  <a:cs typeface="Arial"/>
                <a:ea typeface="Calibri"/>
              </a:rPr>
              <a:t>Module 02 — Data &amp; AI Engineering Track  |  الوحدة الثانية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07_  •  10/14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  <a:cs typeface="Arial"/>
                <a:ea typeface="Calibri"/>
              </a:rPr>
              <a:t>Module 02 — Data &amp; AI Engineering Track  |  الوحدة الثانية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07_  •  10/14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13716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3000" b="1">
                <a:solidFill>
                  <a:srgbClr val="1F3B5C"/>
                </a:solidFill>
                <a:latin typeface="Arial"/>
                <a:cs typeface="Arial"/>
                <a:ea typeface="Calibri"/>
              </a:rPr>
              <a:t>أنماط معالجة البيانات الثلاثة / Three Data Patterns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1371600"/>
            <a:ext cx="3566160" cy="914400"/>
          </a:xfrm>
          <a:prstGeom prst="roundRect">
            <a:avLst/>
          </a:prstGeom>
          <a:solidFill>
            <a:srgbClr val="DCE6F1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rtl="1"/>
            <a:r>
              <a:rPr sz="1800" b="1">
                <a:solidFill>
                  <a:srgbClr val="333333"/>
                </a:solidFill>
                <a:latin typeface="Arial"/>
                <a:cs typeface="Arial"/>
                <a:ea typeface="Calibri"/>
              </a:rPr>
              <a:t>المعمارية المتدرِّجة</a:t>
            </a:r>
          </a:p>
          <a:p>
            <a:pPr algn="ctr" rtl="0"/>
            <a:r>
              <a:rPr sz="130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Medallion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2468880"/>
            <a:ext cx="3566160" cy="256032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rtl="1"/>
            <a:r>
              <a:rPr sz="1500" b="1">
                <a:solidFill>
                  <a:srgbClr val="333333"/>
                </a:solidFill>
                <a:latin typeface="Arial"/>
                <a:cs typeface="Arial"/>
                <a:ea typeface="Calibri"/>
              </a:rPr>
              <a:t>فريق مركزي — تحليلات وAI/ML/RAG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89119" y="1371600"/>
            <a:ext cx="3566160" cy="914400"/>
          </a:xfrm>
          <a:prstGeom prst="roundRect">
            <a:avLst/>
          </a:prstGeom>
          <a:solidFill>
            <a:srgbClr val="E2EFDA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rtl="1"/>
            <a:r>
              <a:rPr sz="1800" b="1">
                <a:solidFill>
                  <a:srgbClr val="333333"/>
                </a:solidFill>
                <a:latin typeface="Arial"/>
                <a:cs typeface="Arial"/>
                <a:ea typeface="Calibri"/>
              </a:rPr>
              <a:t>مستودع البيانات</a:t>
            </a:r>
          </a:p>
          <a:p>
            <a:pPr algn="ctr" rtl="0"/>
            <a:r>
              <a:rPr sz="130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Data Warehouse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19" y="2468880"/>
            <a:ext cx="3566160" cy="256032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rtl="1"/>
            <a:r>
              <a:rPr sz="1500" b="1">
                <a:solidFill>
                  <a:srgbClr val="333333"/>
                </a:solidFill>
                <a:latin typeface="Arial"/>
                <a:cs typeface="Arial"/>
                <a:ea typeface="Calibri"/>
              </a:rPr>
              <a:t>فرق BI — تقارير وذكاء أعمال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38158" y="1371600"/>
            <a:ext cx="3566160" cy="914400"/>
          </a:xfrm>
          <a:prstGeom prst="roundRect">
            <a:avLst/>
          </a:prstGeom>
          <a:solidFill>
            <a:srgbClr val="FDE9D9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rtl="1"/>
            <a:r>
              <a:rPr sz="1800" b="1">
                <a:solidFill>
                  <a:srgbClr val="333333"/>
                </a:solidFill>
                <a:latin typeface="Arial"/>
                <a:cs typeface="Arial"/>
                <a:ea typeface="Calibri"/>
              </a:rPr>
              <a:t>شبكة البيانات</a:t>
            </a:r>
          </a:p>
          <a:p>
            <a:pPr algn="ctr" rtl="0"/>
            <a:r>
              <a:rPr sz="130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Data Mesh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38158" y="2468880"/>
            <a:ext cx="3566160" cy="256032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rtl="1"/>
            <a:r>
              <a:rPr sz="1500" b="1">
                <a:solidFill>
                  <a:srgbClr val="333333"/>
                </a:solidFill>
                <a:latin typeface="Arial"/>
                <a:cs typeface="Arial"/>
                <a:ea typeface="Calibri"/>
              </a:rPr>
              <a:t>فرق المجالات — مؤسسات كبيرة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126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400">
                <a:solidFill>
                  <a:srgbClr val="666666"/>
                </a:solidFill>
                <a:latin typeface="Arial"/>
                <a:cs typeface="Arial"/>
                <a:ea typeface="Calibri"/>
              </a:rPr>
              <a:t>المعايير: الفكرة الجوهرية / المالك / الحوكمة / حالة الاستخدام المثلى.</a:t>
            </a:r>
          </a:p>
          <a:p>
            <a:pPr algn="r" rtl="0"/>
            <a:r>
              <a:rPr>
                <a:latin typeface="Calibri"/>
                <a:cs typeface="Arial"/>
                <a:ea typeface="Calibri"/>
              </a:rPr>
              <a:t>Criteria: core idea / ownership / governance / best use case.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  <a:cs typeface="Arial"/>
                <a:ea typeface="Calibri"/>
              </a:rPr>
              <a:t>Module 02 — Data &amp; AI Engineering Track  |  الوحدة الثانية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07_  •  11/14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  <a:cs typeface="Arial"/>
                <a:ea typeface="Calibri"/>
              </a:rPr>
              <a:t>Module 02 — Data &amp; AI Engineering Track  |  الوحدة الثانية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07_  •  11/14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200" b="1">
                <a:solidFill>
                  <a:srgbClr val="1F3B5C"/>
                </a:solidFill>
                <a:latin typeface="Arial"/>
                <a:cs typeface="Arial"/>
                <a:ea typeface="Calibri"/>
              </a:rPr>
              <a:t>اختبار قصير / Quick Quiz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2000">
                <a:solidFill>
                  <a:srgbClr val="333333"/>
                </a:solidFill>
                <a:latin typeface="Arial"/>
                <a:cs typeface="Arial"/>
                <a:ea typeface="Calibri"/>
              </a:rPr>
              <a:t>• 1. ما معنى «مخطط عند القراءة»؟</a:t>
            </a:r>
          </a:p>
          <a:p>
            <a:pPr algn="r" rtl="0">
              <a:spcBef>
                <a:spcPts val="200"/>
              </a:spcBef>
              <a:spcAft>
                <a:spcPts val="1000"/>
              </a:spcAft>
            </a:pPr>
            <a:r>
              <a:rPr sz="170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• What does 'schema-on-read' mean?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2000">
                <a:solidFill>
                  <a:srgbClr val="333333"/>
                </a:solidFill>
                <a:latin typeface="Arial"/>
                <a:cs typeface="Arial"/>
                <a:ea typeface="Calibri"/>
              </a:rPr>
              <a:t>• 2. ما مكونات عقد البيانات الثلاثة؟</a:t>
            </a:r>
          </a:p>
          <a:p>
            <a:pPr algn="r" rtl="0">
              <a:spcBef>
                <a:spcPts val="200"/>
              </a:spcBef>
              <a:spcAft>
                <a:spcPts val="1000"/>
              </a:spcAft>
            </a:pPr>
            <a:r>
              <a:rPr sz="170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• What are the three components of a data contract?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2000">
                <a:solidFill>
                  <a:srgbClr val="333333"/>
                </a:solidFill>
                <a:latin typeface="Arial"/>
                <a:cs typeface="Arial"/>
                <a:ea typeface="Calibri"/>
              </a:rPr>
              <a:t>• 3. ماذا يضيف Lakehouse عن البحيرة المجردة؟</a:t>
            </a:r>
          </a:p>
          <a:p>
            <a:pPr algn="r" rtl="0">
              <a:spcBef>
                <a:spcPts val="200"/>
              </a:spcBef>
              <a:spcAft>
                <a:spcPts val="1000"/>
              </a:spcAft>
            </a:pPr>
            <a:r>
              <a:rPr sz="170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• What does a lakehouse add over a raw lake?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  <a:cs typeface="Arial"/>
                <a:ea typeface="Calibri"/>
              </a:rPr>
              <a:t>Module 02 — Data &amp; AI Engineering Track  |  الوحدة الثانية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V07  •  9/14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  <a:cs typeface="Arial"/>
                <a:ea typeface="Calibri"/>
              </a:rPr>
              <a:t>Module 02 — Data &amp; AI Engineering Track  |  الوحدة الثانية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07_  •  12/14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  <a:cs typeface="Arial"/>
                <a:ea typeface="Calibri"/>
              </a:rPr>
              <a:t>Module 02 — Data &amp; AI Engineering Track  |  الوحدة الثانية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07_  •  12/14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200" b="1">
                <a:solidFill>
                  <a:srgbClr val="1F3B5C"/>
                </a:solidFill>
                <a:latin typeface="Arial"/>
                <a:cs typeface="Arial"/>
                <a:ea typeface="Calibri"/>
              </a:rPr>
              <a:t>إجابات الاختبار / Quiz Answers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1800">
                <a:solidFill>
                  <a:srgbClr val="333333"/>
                </a:solidFill>
                <a:latin typeface="Arial"/>
                <a:cs typeface="Arial"/>
                <a:ea typeface="Calibri"/>
              </a:rPr>
              <a:t>• 1. لا يُفرض المخطط عند الكتابة بل عند القراءة — سمة البحيرات.</a:t>
            </a:r>
          </a:p>
          <a:p>
            <a:pPr algn="r" rtl="0">
              <a:spcBef>
                <a:spcPts val="200"/>
              </a:spcBef>
              <a:spcAft>
                <a:spcPts val="1000"/>
              </a:spcAft>
            </a:pPr>
            <a:r>
              <a:rPr sz="150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• Schema is enforced at read time, not write time — a lake trait.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1800">
                <a:solidFill>
                  <a:srgbClr val="333333"/>
                </a:solidFill>
                <a:latin typeface="Arial"/>
                <a:cs typeface="Arial"/>
                <a:ea typeface="Calibri"/>
              </a:rPr>
              <a:t>• 2. المخطط، الأمان، مستوى الخدمة SLA.</a:t>
            </a:r>
          </a:p>
          <a:p>
            <a:pPr algn="r" rtl="0">
              <a:spcBef>
                <a:spcPts val="200"/>
              </a:spcBef>
              <a:spcAft>
                <a:spcPts val="1000"/>
              </a:spcAft>
            </a:pPr>
            <a:r>
              <a:rPr sz="150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• Schema, security, and SLA.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1800">
                <a:solidFill>
                  <a:srgbClr val="333333"/>
                </a:solidFill>
                <a:latin typeface="Arial"/>
                <a:cs typeface="Arial"/>
                <a:ea typeface="Calibri"/>
              </a:rPr>
              <a:t>• 3. معاملات ACID وأداء SQL وحوكمة.</a:t>
            </a:r>
          </a:p>
          <a:p>
            <a:pPr algn="r" rtl="0">
              <a:spcBef>
                <a:spcPts val="200"/>
              </a:spcBef>
              <a:spcAft>
                <a:spcPts val="1000"/>
              </a:spcAft>
            </a:pPr>
            <a:r>
              <a:rPr sz="150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• ACID transactions, SQL performance, and governance.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  <a:cs typeface="Arial"/>
                <a:ea typeface="Calibri"/>
              </a:rPr>
              <a:t>Module 02 — Data &amp; AI Engineering Track  |  الوحدة الثانية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V07  •  10/14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  <a:cs typeface="Arial"/>
                <a:ea typeface="Calibri"/>
              </a:rPr>
              <a:t>Module 02 — Data &amp; AI Engineering Track  |  الوحدة الثانية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07_  •  13/14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  <a:cs typeface="Arial"/>
                <a:ea typeface="Calibri"/>
              </a:rPr>
              <a:t>Module 02 — Data &amp; AI Engineering Track  |  الوحدة الثانية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07_  •  13/14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200" b="1">
                <a:solidFill>
                  <a:srgbClr val="1F3B5C"/>
                </a:solidFill>
                <a:latin typeface="Arial"/>
                <a:cs typeface="Arial"/>
                <a:ea typeface="Calibri"/>
              </a:rPr>
              <a:t>للاستزادة / Further Reading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2000">
                <a:solidFill>
                  <a:srgbClr val="333333"/>
                </a:solidFill>
                <a:latin typeface="Arial"/>
                <a:cs typeface="Arial"/>
                <a:ea typeface="Calibri"/>
              </a:rPr>
              <a:t>• توثيق Delta Lake وApache Iceberg.</a:t>
            </a:r>
          </a:p>
          <a:p>
            <a:pPr algn="r" rtl="0">
              <a:spcBef>
                <a:spcPts val="200"/>
              </a:spcBef>
              <a:spcAft>
                <a:spcPts val="1000"/>
              </a:spcAft>
            </a:pPr>
            <a:r>
              <a:rPr sz="170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• Delta Lake and Apache Iceberg docs.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2000">
                <a:solidFill>
                  <a:srgbClr val="333333"/>
                </a:solidFill>
                <a:latin typeface="Arial"/>
                <a:cs typeface="Arial"/>
                <a:ea typeface="Calibri"/>
              </a:rPr>
              <a:t>• مقالات Data Contracts (Chad Sanderson).</a:t>
            </a:r>
          </a:p>
          <a:p>
            <a:pPr algn="r" rtl="0">
              <a:spcBef>
                <a:spcPts val="200"/>
              </a:spcBef>
              <a:spcAft>
                <a:spcPts val="1000"/>
              </a:spcAft>
            </a:pPr>
            <a:r>
              <a:rPr sz="170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• Data contracts articles (Chad Sanderson).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  <a:cs typeface="Arial"/>
                <a:ea typeface="Calibri"/>
              </a:rPr>
              <a:t>Module 02 — Data &amp; AI Engineering Track  |  الوحدة الثانية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V07  •  11/14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  <a:cs typeface="Arial"/>
                <a:ea typeface="Calibri"/>
              </a:rPr>
              <a:t>Module 02 — Data &amp; AI Engineering Track  |  الوحدة الثانية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07_  •  14/14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  <a:cs typeface="Arial"/>
                <a:ea typeface="Calibri"/>
              </a:rPr>
              <a:t>Module 02 — Data &amp; AI Engineering Track  |  الوحدة الثانية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07_  •  14/14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1329</Words>
  <Application>Microsoft Macintosh PowerPoint</Application>
  <PresentationFormat>Widescreen</PresentationFormat>
  <Paragraphs>175</Paragraphs>
  <Slides>14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Sameh Saeed</cp:lastModifiedBy>
  <cp:revision>2</cp:revision>
  <dcterms:created xsi:type="dcterms:W3CDTF">2013-01-27T09:14:16Z</dcterms:created>
  <dcterms:modified xsi:type="dcterms:W3CDTF">2026-09-09T14:40:16Z</dcterms:modified>
  <cp:category/>
</cp:coreProperties>
</file>