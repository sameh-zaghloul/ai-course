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7" r:id="rId5"/>
    <p:sldId id="259" r:id="rId6"/>
    <p:sldId id="268" r:id="rId7"/>
    <p:sldId id="260" r:id="rId8"/>
    <p:sldId id="269" r:id="rId9"/>
    <p:sldId id="261" r:id="rId10"/>
    <p:sldId id="262" r:id="rId11"/>
    <p:sldId id="263" r:id="rId12"/>
    <p:sldId id="270" r:id="rId13"/>
    <p:sldId id="264" r:id="rId14"/>
    <p:sldId id="265" r:id="rId15"/>
    <p:sldId id="266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6"/>
  </p:normalViewPr>
  <p:slideViewPr>
    <p:cSldViewPr snapToGrid="0" snapToObjects="1">
      <p:cViewPr varScale="1">
        <p:scale>
          <a:sx n="88" d="100"/>
          <a:sy n="88" d="100"/>
        </p:scale>
        <p:origin x="74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800" b="1">
                <a:solidFill>
                  <a:srgbClr val="1F4E79"/>
                </a:solidFill>
                <a:latin typeface="Calibri"/>
              </a:rPr>
              <a:t>Module 02  |  V07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</a:rPr>
              <a:t>المستودعات والبحيرات ومعمارية Lakehouse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3000" b="0">
                <a:solidFill>
                  <a:srgbClr val="333333"/>
                </a:solidFill>
                <a:latin typeface="Calibri"/>
              </a:rPr>
              <a:t>Warehouses, Data Lakes &amp; Lakehouse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0">
                <a:solidFill>
                  <a:srgbClr val="666666"/>
                </a:solidFill>
                <a:latin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1/15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V07 — المستودعات والبحيرات ومعمارية Lakehouse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</a:rPr>
              <a:t>• V07 — Warehouses, Data Lakes &amp; Lakehouse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المستودع مقابل البحيرة / Warehouse vs Lake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معمارية Lakehouse / Lakehouse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منتجات البيانات وعقودها / Data Products &amp; Contracts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متى تختار كل نموذج؟ / When to Choose Which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ربط بالمقرر / Course Tie-in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المستودع مقابل البحيرة / Warehouse vs Lake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المستودع: مخطط عند الكتابة، SQL سريع، بيانات مهيكلة فقط.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Warehouse: schema-on-write, fast SQL, structured data only.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البحيرة: مخطط عند القراءة، كل التنسيقات، تكلفة تخزين منخفضة.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Lake: schema-on-read, any format, low-cost storage.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خريطة قرار: المستودع مقابل البحيرة / Warehouse vs Lake Decision 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5029200" cy="8229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مستودع البيانات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Data Warehouse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34440"/>
            <a:ext cx="5029200" cy="8229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بحيرة البيانات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Data 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3172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مخطط عند الكتابة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Schema on write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33172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مخطط عند القراءة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Schema on read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بيانات منظمة + SQL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Curated data + SQL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20040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كل التنسيقات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Any format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6908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تقارير وذكاء أعمال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Reporting and BI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06908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استكشاف وAI/ML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Exploration and AI/ML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86200" y="5212080"/>
            <a:ext cx="4434840" cy="64008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Lakehouse = مرونة البحيرة + موثوقية المستودع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Lakehouse = lake flexibility + warehouse reliability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لا يوجد فائز دائم: ابدأ من نوع السؤال، والفريق، ومتطلبات الحوكمة.</a:t>
            </a:r>
          </a:p>
          <a:p>
            <a:pPr algn="r" rtl="0"/>
            <a:r>
              <a:t>There is no universal winner: start with the question, team, and governance needs.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معمارية Lakehouse / Lakehouse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تجمع مرونة البحيرة وأداء المستودع في منصة واحدة (Delta Lake, Iceberg, Hudi).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Combines lake flexibility with warehouse performance (Delta Lake, Iceberg, Hudi).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طبقات معاملات ACID وفهرسة وحوكمة فوق تخزين الكائنات.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ACID transactions, indexing, and governance layers over object storage.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المعمارية المتدرِّجة Medallion / Medallion Layers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0" y="1188720"/>
            <a:ext cx="7589520" cy="123444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Bronze — بيانات خام غير قابلة للتغيير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Raw immutable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2697480"/>
            <a:ext cx="7589520" cy="12344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Silver — بيانات منقَّاة ومنظَّمة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Cleansed &amp; structured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206240"/>
            <a:ext cx="7589520" cy="12344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Gold — تجميعات جاهزة للتحليل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Analytics-ready aggregates</a:t>
            </a:r>
          </a:p>
        </p:txBody>
      </p:sp>
      <p:sp>
        <p:nvSpPr>
          <p:cNvPr id="6" name="Left Arrow 5"/>
          <p:cNvSpPr/>
          <p:nvPr/>
        </p:nvSpPr>
        <p:spPr>
          <a:xfrm>
            <a:off x="5897880" y="2450592"/>
            <a:ext cx="36576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Left Arrow 6"/>
          <p:cNvSpPr/>
          <p:nvPr/>
        </p:nvSpPr>
        <p:spPr>
          <a:xfrm>
            <a:off x="5897880" y="3959352"/>
            <a:ext cx="36576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الحوكمة عبر تحسين الجودة بين الطبقات — إدارة مركزية.</a:t>
            </a:r>
          </a:p>
          <a:p>
            <a:pPr algn="r" rtl="0"/>
            <a:r>
              <a:t>Governance via quality improvement between layers — central ownership.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منتجات البيانات وعقودها / Data Products &amp; Contracts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منتج البيانات: مجموعة بيانات موثوقة موثّقة قابلة للاكتشاف تُدار كمنتج حقيقي.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Data product: a trusted, documented, discoverable dataset managed like a product.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عقد البيانات: المخطط والأمان ومستوى الخدمة SLA — وحدة التسليم الحديثة.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Data contract: schema + security + SLA — the modern delivery unit.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منتج البيانات وعقد البيانات / Data Product &amp; Contract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45920"/>
            <a:ext cx="4206240" cy="31089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منتج البيانات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Data Product — موثوق • موثّق • قابل للاكتشاف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23760" y="1645920"/>
            <a:ext cx="420624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عقد البيانات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Data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7432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المخطط / Schema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الأمان / Security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مستوى الخدمة / SLA</a:t>
            </a:r>
          </a:p>
        </p:txBody>
      </p:sp>
      <p:sp>
        <p:nvSpPr>
          <p:cNvPr id="8" name="Left Arrow 7"/>
          <p:cNvSpPr/>
          <p:nvPr/>
        </p:nvSpPr>
        <p:spPr>
          <a:xfrm>
            <a:off x="5257800" y="3017520"/>
            <a:ext cx="1737360" cy="36576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وحدة التسليم الحديثة في هندسة البيانات.</a:t>
            </a:r>
          </a:p>
          <a:p>
            <a:pPr algn="r" rtl="0"/>
            <a:r>
              <a:t>The modern delivery unit in data engineering.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متى تختار كل نموذج؟ / When to Choose Which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فريق مركزي وتحليلات → Medallion على Lakehouse؛ تقارير صارمة → مستودع؛ مؤسسة كبيرة بفرق مستقلة → Data Mesh.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Central team + analytics → Medallion; strict BI → warehouse; large independent teams → data mesh.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ربط بالمقرر / Course Tie-in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مسار عملي: Bronze → Silver → Gold ينتهي في فهرس متجهي يغذّي تطبيق RAG (مختبر L03).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Hands-on path: Bronze → Silver → Gold ending in a vector index feeding a RAG app (lab L03).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متى تختار كل نموذج؟ / Decision Matrix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الحالة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الاختيار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السبب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فريق مركزي + تحليلات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Medallion / Lakehouse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مرونة + حوكمة طبقية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تقارير صارمة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Warehouse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SQL سريع + مخطط ثابت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فرق مستقلة كبيرة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Data Mesh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ملكية لامركزية + عقود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أنماط معالجة البيانات الثلاثة / Three Data Patterns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3566160" cy="9144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المعمارية المتدرِّجة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Medallion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فريق مركزي — تحليلات وAI/ML/RAG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19" y="1371600"/>
            <a:ext cx="356616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مستودع البيانات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Data Warehouse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19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فرق BI — تقارير وذكاء أعمال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58" y="1371600"/>
            <a:ext cx="3566160" cy="9144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شبكة البيانات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Data Mesh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8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فرق المجالات — مؤسسات كبيرة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المعايير: الفكرة الجوهرية / المالك / الحوكمة / حالة الاستخدام المثلى.</a:t>
            </a:r>
          </a:p>
          <a:p>
            <a:pPr algn="r" rtl="0"/>
            <a:r>
              <a:t>Criteria: core idea / ownership / governance / best use case.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1. ما معنى «مخطط عند القراءة»؟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What does 'schema-on-read' mean?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2. ما مكونات عقد البيانات الثلاثة؟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What are the three components of a data contract?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3. ماذا يضيف Lakehouse عن البحيرة المجردة؟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What does a lakehouse add over a raw lake?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1. لا يُفرض المخطط عند الكتابة بل عند القراءة — سمة البحيرات.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Schema is enforced at read time, not write time — a lake trait.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2. المخطط، الأمان، مستوى الخدمة SLA.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Schema, security, and SLA.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3. معاملات ACID وأداء SQL وحوكمة.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ACID transactions, SQL performance, and governance.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Delta Lake وApache Iceberg.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Delta Lake and Apache Iceberg docs.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مقالات Data Contracts (Chad Sanderson).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Data contracts articles (Chad Sanderson).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1059</Words>
  <Application>Microsoft Macintosh PowerPoint</Application>
  <PresentationFormat>Widescreen</PresentationFormat>
  <Paragraphs>147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Sameh Saeed</cp:lastModifiedBy>
  <cp:revision>2</cp:revision>
  <dcterms:created xsi:type="dcterms:W3CDTF">2013-01-27T09:14:16Z</dcterms:created>
  <dcterms:modified xsi:type="dcterms:W3CDTF">2026-09-09T15:19:05Z</dcterms:modified>
  <cp:category/>
</cp:coreProperties>
</file>