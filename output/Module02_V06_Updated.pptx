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6" r:id="rId17"/>
    <p:sldId id="267" r:id="rId1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3.xml"/><Relationship Id="rId18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28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Module 02  |  V06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أساسيات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3000" b="0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Data Fundamentals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Light theme  |  Bilingual AR/EN  |  Ready to present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1/13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أجندة العرض /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V06 — أساسيات البيانات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3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V06 — Data Fundamentals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خريطة المسار / Roadmap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أنواع البيانات / Data Types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التنسيقات / Formats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أنابيب ETL / ELT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مقارنة أنماط المعالجة / Processing Patterns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جدول المقارنة السريع / Quick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2/13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خريطة المسار / Track Roadmap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البيانات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</a:t>
            </a:r>
          </a:p>
        </p:txBody>
      </p:sp>
      <p:sp>
        <p:nvSpPr>
          <p:cNvPr id="4" name="Left Arrow 3"/>
          <p:cNvSpPr/>
          <p:nvPr/>
        </p:nvSpPr>
        <p:spPr>
          <a:xfrm>
            <a:off x="174650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883664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التخزين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Storage</a:t>
            </a:r>
          </a:p>
        </p:txBody>
      </p:sp>
      <p:sp>
        <p:nvSpPr>
          <p:cNvPr id="6" name="Left Arrow 5"/>
          <p:cNvSpPr/>
          <p:nvPr/>
        </p:nvSpPr>
        <p:spPr>
          <a:xfrm>
            <a:off x="312724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264408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الخصائص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Features</a:t>
            </a:r>
          </a:p>
        </p:txBody>
      </p:sp>
      <p:sp>
        <p:nvSpPr>
          <p:cNvPr id="8" name="Left Arrow 7"/>
          <p:cNvSpPr/>
          <p:nvPr/>
        </p:nvSpPr>
        <p:spPr>
          <a:xfrm>
            <a:off x="4507992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45152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الفهارس المتجهية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Vector Indexes</a:t>
            </a:r>
          </a:p>
        </p:txBody>
      </p:sp>
      <p:sp>
        <p:nvSpPr>
          <p:cNvPr id="10" name="Left Arrow 9"/>
          <p:cNvSpPr/>
          <p:nvPr/>
        </p:nvSpPr>
        <p:spPr>
          <a:xfrm>
            <a:off x="5888736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025896" y="2377440"/>
            <a:ext cx="1234440" cy="137160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التصنيف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Labeling</a:t>
            </a:r>
          </a:p>
        </p:txBody>
      </p:sp>
      <p:sp>
        <p:nvSpPr>
          <p:cNvPr id="12" name="Left Arrow 11"/>
          <p:cNvSpPr/>
          <p:nvPr/>
        </p:nvSpPr>
        <p:spPr>
          <a:xfrm>
            <a:off x="7269480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06640" y="2377440"/>
            <a:ext cx="1234440" cy="137160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الحوكمة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Governance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8650224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787384" y="2377440"/>
            <a:ext cx="1234440" cy="137160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0"/>
            <a:r>
              <a:rPr sz="14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MLOps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MLOps</a:t>
            </a:r>
          </a:p>
        </p:txBody>
      </p:sp>
      <p:sp>
        <p:nvSpPr>
          <p:cNvPr id="16" name="Left Arrow 15"/>
          <p:cNvSpPr/>
          <p:nvPr/>
        </p:nvSpPr>
        <p:spPr>
          <a:xfrm>
            <a:off x="10030968" y="2926080"/>
            <a:ext cx="128016" cy="274320"/>
          </a:xfrm>
          <a:prstGeom prst="lef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168128" y="2377440"/>
            <a:ext cx="1234440" cy="137160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4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المختبر</a:t>
            </a:r>
          </a:p>
          <a:p>
            <a:pPr algn="ctr" rtl="0"/>
            <a:r>
              <a:rPr sz="10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Lab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رحلة الوحدة الثانية من البيانات الخام إلى نقطة نهاية RAG.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Module 02 journey: from raw data to a RAG endpoint.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3/12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وحدات المقرر / Course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V06 — أساسيات البيانات / Data Fundamentals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V07 — المستودعات والبحيرات ومعمارية Lakehouse / Warehouses, Data Lakes &amp; Lakehouse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V08 — هندسة الخصائص ومخازنها / Feature Engineering &amp; Feature Stores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V09 — قواعد البيانات المتجهية + RAG التطبيقي / Vector Databases + Applied RAG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V10 — تصنيف البيانات على نطاق واسع / Labeling at Scale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V11 — حوكمة البيانات وسلسلة العهدة والفهرسة / Data Governance, Lineage &amp; Cataloging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V12 — أساسيات MLOps + تمهيد للمختبر / MLOps Fundamentals + Lab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4/12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أنواع البيانات / Data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بيانات مهيكلة (جداول)، شبه مهيكلة (JSON/XML)، غير مهيكلة (نصوص، صور، صوت).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Structured (tables), semi-structured (JSON/XML), unstructured (text, images, audio).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اختيار النوع يحدد أدوات التخزين والمعالجة المناسبة.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The data type determines the right storage and processing tools.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3/13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5/12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التنسيقات / Formats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CSV للتبادل البسيط، JSON للواجهات البرمجية، Parquet وAvro للتحليلات والأنابيب.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CSV for simple exchange, JSON for APIs, Parquet and Avro for analytics and pipelines.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التنسيقات العمودية (Parquet) تقلل الحجم وتسرّع القراءة التحليلية.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Columnar formats (Parquet) reduce size and speed up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4/13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6/12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أنابيب ETL / ELT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ETL: التحويل قبل التحميل؛ ELT: التحميل أولاً ثم التحويل داخل المنصة المستهدفة.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ETL: transform before loading; ELT: load first, transform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9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ELT هو النمط السائد في بيئات Lakehouse الحديثة.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6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ELT is the dominant pattern in modern lakehouse environments.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5/13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7/12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مقارنة أنماط المعالجة / Processing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المعمارية المتدرِّجة Medallion (Lakehouse): Bronze خام → Silver منقَّى → Gold جاهز للتحليل؛ إدارة مركزية؛ الأنسب للتحليلات وخطوط AI/ML/RAG.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Medallion (Lakehouse): raw Bronze → cleansed Silver → analytics-ready Gold; central ownership; best for analytics and AI/ML/RAG pipelines.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مستودع البيانات: ETL/ELT → Staging → المستودع → أسواق البيانات؛ حوكمة مركزية؛ الأنسب للتقارير وذكاء الأعمال.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warehouse: ETL/ELT → staging → warehouse → data marts; central governance; best for reporting and BI.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شبكة البيانات Data Mesh: ملكية لامركزية بالمجالات؛ منتجات بيانات بعقود (مخطط، أمان، SLA) وكتالوج موحد؛ الأنسب للمؤسسات الكبيرة.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mesh: decentralized domain ownership; data products with contracts (schema, security, SLA) and a unified catalog; best for large organizations.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6/13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8/12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جدول المقارنة: Medallion / المستودع / Data Mesh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latin typeface="Arial"/>
                          <a:cs typeface="Arial"/>
                          <a:ea typeface="Calibri"/>
                        </a:rPr>
                        <a:t>المعيار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sz="1400" b="1">
                          <a:latin typeface="Calibri"/>
                          <a:cs typeface="Arial"/>
                          <a:ea typeface="Calibri"/>
                        </a:rPr>
                        <a:t>Medallion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400" b="1">
                          <a:latin typeface="Arial"/>
                          <a:cs typeface="Arial"/>
                          <a:ea typeface="Calibri"/>
                        </a:rPr>
                        <a:t>المستودع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sz="1400" b="1">
                          <a:latin typeface="Calibri"/>
                          <a:cs typeface="Arial"/>
                          <a:ea typeface="Calibri"/>
                        </a:rPr>
                        <a:t>Data Mesh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الفكرة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طبقات Bronze→Silver→Gold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sz="1200" b="0">
                          <a:latin typeface="Calibri"/>
                          <a:cs typeface="Arial"/>
                          <a:ea typeface="Calibri"/>
                        </a:rPr>
                        <a:t>Staging→Warehouse→Marts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منتجات بالمجالات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المالك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هندسة 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فرق BI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فرق المجالات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الأنسب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تحليلات و AI/RAG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تقارير BI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مؤسسات كبيرة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الحوكمة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جودة بين الطبقات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مركزية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sz="1200" b="0">
                          <a:latin typeface="Arial"/>
                          <a:cs typeface="Arial"/>
                          <a:ea typeface="Calibri"/>
                        </a:rPr>
                        <a:t>موحدة + عقود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7/13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9/12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اختبار قصير / Quick Quiz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ما الفرق الجوهري بين ETL وELT؟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What is the key difference between ETL and ELT?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أين تُستخدم طبقة Gold في المعمارية المتدرِّجة؟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Where is the Gold layer used in the Medallion architecture?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أي نمط يناسب مؤسسة كبيرة بفرق مستقلة وملكية لامركزية؟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Which pattern suits a large organization with independent, decentralized teams?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4. ما التنسيق الأنسب للتحليلات عالية الأداء ولماذا؟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Which format suits high-performance analytics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8/13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10/12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إجابات الاختبار / Quiz 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1. ETL يحوّل قبل التحميل؛ ELT يحمّل أولاً ثم يحوّل داخل المنصة الهدف.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ETL transforms before loading; ELT loads first and transforms inside the target platform.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2. تجميعات على مستوى الأعمال جاهزة للتحليل.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Business-level aggregates that are analytics-ready.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3. شبكة البيانات Data Mesh.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mesh.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18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4. Parquet — تنسيق عمودي يقلل الحجم ويسرّع القراءة.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5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Parquet — columnar, smaller and faster for analytical reads.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9/13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11/12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2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للاستزادة /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Databricks — المعمارية المتدرِّجة Medallion.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Databricks docs — Medallion architecture.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مقالات Data Mesh — Zhamak Dehghani.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Data Mesh articles — Zhamak Dehghani.</a:t>
            </a:r>
          </a:p>
          <a:p>
            <a:pPr algn="r" rtl="1">
              <a:spcBef>
                <a:spcPts val="2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Arial"/>
                <a:cs typeface="Arial"/>
                <a:ea typeface="Calibri"/>
              </a:rPr>
              <a:t>• توثيق Apache Parquet.</a:t>
            </a:r>
          </a:p>
          <a:p>
            <a:pPr algn="r" rtl="0">
              <a:spcBef>
                <a:spcPts val="200"/>
              </a:spcBef>
              <a:spcAft>
                <a:spcPts val="1000"/>
              </a:spcAft>
            </a:pPr>
            <a:r>
              <a:rPr sz="17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• Apache Parquet documentation.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V06  •  10/13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12/12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0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Module 02 — Data &amp; AI Engineering Track  |  الوحدة الثانية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00800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0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06_  •  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