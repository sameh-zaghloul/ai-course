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6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6"/>
  </p:normalViewPr>
  <p:slideViewPr>
    <p:cSldViewPr snapToGrid="0" snapToObjects="1">
      <p:cViewPr varScale="1">
        <p:scale>
          <a:sx n="89" d="100"/>
          <a:sy n="89" d="100"/>
        </p:scale>
        <p:origin x="696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4E79"/>
                </a:solidFill>
                <a:latin typeface="Calibri"/>
              </a:rPr>
              <a:t>V06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800" b="1">
                <a:solidFill>
                  <a:srgbClr val="1F3B5C"/>
                </a:solidFill>
                <a:latin typeface="Calibri"/>
              </a:rPr>
              <a:t>أساسيات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400" b="0">
                <a:solidFill>
                  <a:srgbClr val="333333"/>
                </a:solidFill>
                <a:latin typeface="Calibri"/>
              </a:rPr>
              <a:t>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Calibri"/>
              </a:rPr>
              <a:t>Module 02 — Data &amp; AI Engineering Track  |  الوحدة الثانية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خريطة المسار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رحلة الوحدة: البيانات → التخزين → الخصائص → الفهارس المتجهية → التصنيف → الحوكمة → MLOps → المختبر.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Module journey: data → storage → features → vector indexes → labeling → governance → MLOps → lab.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شريحة الخريطة تمنح المتعلم الصورة الكاملة من اليوم الأول.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This roadmap gives learners the full picture from day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746504" y="2926080"/>
            <a:ext cx="12801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27248" y="2926080"/>
            <a:ext cx="12801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507992" y="2926080"/>
            <a:ext cx="12801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88736" y="2926080"/>
            <a:ext cx="12801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269480" y="2926080"/>
            <a:ext cx="12801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50224" y="2926080"/>
            <a:ext cx="12801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030968" y="2926080"/>
            <a:ext cx="12801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Calibri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رحلة الوحدة الثانية من البيانات الخام إلى نقطة نهاية RAG.</a:t>
            </a:r>
          </a:p>
          <a:p>
            <a:pPr algn="r" rtl="0"/>
            <a:r>
              <a:t>Module 02 journey: from raw data to a RAG endpoint.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وحدات المقرر / Course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96" y="1051552"/>
            <a:ext cx="10427018" cy="5852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V06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أساسيات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البيانات</a:t>
            </a:r>
            <a:endParaRPr sz="1900" dirty="0">
              <a:solidFill>
                <a:srgbClr val="333333"/>
              </a:solidFill>
              <a:latin typeface="Calibri"/>
            </a:endParaRPr>
          </a:p>
          <a:p>
            <a:pPr algn="l" rtl="1">
              <a:spcAft>
                <a:spcPts val="1000"/>
              </a:spcAft>
            </a:pPr>
            <a:r>
              <a:rPr sz="1900" dirty="0">
                <a:solidFill>
                  <a:srgbClr val="666666"/>
                </a:solidFill>
                <a:latin typeface="Calibri"/>
              </a:rPr>
              <a:t>  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V06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— Data Fundamentals</a:t>
            </a:r>
          </a:p>
          <a:p>
            <a:pPr algn="r" rtl="1">
              <a:spcAft>
                <a:spcPts val="1000"/>
              </a:spcAft>
            </a:pPr>
            <a:r>
              <a:rPr sz="190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V07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المستودعات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والبحيرات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ومعمارية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Lakehouse</a:t>
            </a:r>
          </a:p>
          <a:p>
            <a:pPr algn="l" rtl="1">
              <a:spcAft>
                <a:spcPts val="1000"/>
              </a:spcAft>
            </a:pPr>
            <a:r>
              <a:rPr sz="1900" dirty="0">
                <a:solidFill>
                  <a:srgbClr val="666666"/>
                </a:solidFill>
                <a:latin typeface="Calibri"/>
              </a:rPr>
              <a:t>  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V07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— Warehouses, Data Lakes &amp; Lakehouse</a:t>
            </a:r>
          </a:p>
          <a:p>
            <a:pPr algn="r" rtl="1">
              <a:spcAft>
                <a:spcPts val="1000"/>
              </a:spcAft>
            </a:pPr>
            <a:r>
              <a:rPr sz="190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V08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هندسة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الخصائص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ومخازنها</a:t>
            </a:r>
            <a:endParaRPr sz="1900" dirty="0">
              <a:solidFill>
                <a:srgbClr val="333333"/>
              </a:solidFill>
              <a:latin typeface="Calibri"/>
            </a:endParaRPr>
          </a:p>
          <a:p>
            <a:pPr algn="l" rtl="1">
              <a:spcAft>
                <a:spcPts val="1000"/>
              </a:spcAft>
            </a:pPr>
            <a:r>
              <a:rPr sz="1900" dirty="0">
                <a:solidFill>
                  <a:srgbClr val="666666"/>
                </a:solidFill>
                <a:latin typeface="Calibri"/>
              </a:rPr>
              <a:t>  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V08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— Feature Engineering &amp; Feature Stores</a:t>
            </a:r>
          </a:p>
          <a:p>
            <a:pPr algn="r" rtl="1">
              <a:spcAft>
                <a:spcPts val="1000"/>
              </a:spcAft>
            </a:pPr>
            <a:r>
              <a:rPr sz="190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V09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قواعد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البيانات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المتجهية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+ RAG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التطبيقي</a:t>
            </a:r>
            <a:endParaRPr sz="1900" dirty="0">
              <a:solidFill>
                <a:srgbClr val="333333"/>
              </a:solidFill>
              <a:latin typeface="Calibri"/>
            </a:endParaRPr>
          </a:p>
          <a:p>
            <a:pPr algn="l" rtl="1">
              <a:spcAft>
                <a:spcPts val="1000"/>
              </a:spcAft>
            </a:pPr>
            <a:r>
              <a:rPr sz="1900" dirty="0">
                <a:solidFill>
                  <a:srgbClr val="666666"/>
                </a:solidFill>
                <a:latin typeface="Calibri"/>
              </a:rPr>
              <a:t>  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V09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— Vector Databases + Applied RAG</a:t>
            </a:r>
          </a:p>
          <a:p>
            <a:pPr algn="r" rtl="1">
              <a:spcAft>
                <a:spcPts val="1000"/>
              </a:spcAft>
            </a:pPr>
            <a:r>
              <a:rPr sz="190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V10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تصنيف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البيانات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على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نطاق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واسع</a:t>
            </a:r>
            <a:endParaRPr sz="1900" dirty="0">
              <a:solidFill>
                <a:srgbClr val="333333"/>
              </a:solidFill>
              <a:latin typeface="Calibri"/>
            </a:endParaRPr>
          </a:p>
          <a:p>
            <a:pPr algn="l" rtl="1">
              <a:spcAft>
                <a:spcPts val="1000"/>
              </a:spcAft>
            </a:pPr>
            <a:r>
              <a:rPr sz="1900" dirty="0">
                <a:solidFill>
                  <a:srgbClr val="666666"/>
                </a:solidFill>
                <a:latin typeface="Calibri"/>
              </a:rPr>
              <a:t>  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V10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— Labeling at Scale</a:t>
            </a:r>
          </a:p>
          <a:p>
            <a:pPr algn="r" rtl="1">
              <a:spcAft>
                <a:spcPts val="1000"/>
              </a:spcAft>
            </a:pPr>
            <a:r>
              <a:rPr sz="190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V11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حوكمة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البيانات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وسلسلة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العهدة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والفهرسة</a:t>
            </a:r>
            <a:endParaRPr sz="1900" dirty="0">
              <a:solidFill>
                <a:srgbClr val="333333"/>
              </a:solidFill>
              <a:latin typeface="Calibri"/>
            </a:endParaRPr>
          </a:p>
          <a:p>
            <a:pPr algn="l" rtl="1">
              <a:spcAft>
                <a:spcPts val="1000"/>
              </a:spcAft>
            </a:pPr>
            <a:r>
              <a:rPr sz="1900" dirty="0">
                <a:solidFill>
                  <a:srgbClr val="666666"/>
                </a:solidFill>
                <a:latin typeface="Calibri"/>
              </a:rPr>
              <a:t>  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V11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— Data Governance, Lineage &amp; Cataloging</a:t>
            </a:r>
          </a:p>
          <a:p>
            <a:pPr algn="r" rtl="1">
              <a:spcAft>
                <a:spcPts val="1000"/>
              </a:spcAft>
            </a:pPr>
            <a:r>
              <a:rPr sz="190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V12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أساسيات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MLOps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+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تمهيد</a:t>
            </a:r>
            <a:r>
              <a:rPr sz="1900" dirty="0">
                <a:solidFill>
                  <a:srgbClr val="333333"/>
                </a:solidFill>
                <a:latin typeface="Calibri"/>
              </a:rPr>
              <a:t> </a:t>
            </a:r>
            <a:r>
              <a:rPr sz="1900" dirty="0" err="1">
                <a:solidFill>
                  <a:srgbClr val="333333"/>
                </a:solidFill>
                <a:latin typeface="Calibri"/>
              </a:rPr>
              <a:t>للمختبر</a:t>
            </a:r>
            <a:endParaRPr sz="1900" dirty="0">
              <a:solidFill>
                <a:srgbClr val="333333"/>
              </a:solidFill>
              <a:latin typeface="Calibri"/>
            </a:endParaRPr>
          </a:p>
          <a:p>
            <a:pPr algn="l" rtl="1">
              <a:spcAft>
                <a:spcPts val="1000"/>
              </a:spcAft>
            </a:pPr>
            <a:r>
              <a:rPr sz="1900" dirty="0">
                <a:solidFill>
                  <a:srgbClr val="666666"/>
                </a:solidFill>
                <a:latin typeface="Calibri"/>
              </a:rPr>
              <a:t>  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V12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— </a:t>
            </a:r>
            <a:r>
              <a:rPr sz="1900" dirty="0" err="1">
                <a:solidFill>
                  <a:srgbClr val="666666"/>
                </a:solidFill>
                <a:latin typeface="Calibri"/>
              </a:rPr>
              <a:t>MLOps</a:t>
            </a:r>
            <a:r>
              <a:rPr sz="1900" dirty="0">
                <a:solidFill>
                  <a:srgbClr val="666666"/>
                </a:solidFill>
                <a:latin typeface="Calibri"/>
              </a:rPr>
              <a:t> Fundamentals + </a:t>
            </a:r>
            <a:r>
              <a:rPr sz="1900">
                <a:solidFill>
                  <a:srgbClr val="666666"/>
                </a:solidFill>
                <a:latin typeface="Calibri"/>
              </a:rPr>
              <a:t>Lab </a:t>
            </a:r>
            <a:r>
              <a:rPr lang="en-US" sz="1900">
                <a:solidFill>
                  <a:srgbClr val="666666"/>
                </a:solidFill>
                <a:latin typeface="Calibri"/>
              </a:rPr>
              <a:t>Introduction</a:t>
            </a:r>
            <a:endParaRPr sz="1900" dirty="0">
              <a:solidFill>
                <a:srgbClr val="66666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أنواع البيانات /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بيانات مهيكلة (جداول)، شبه مهيكلة (JSON/XML)، غير مهيكلة (نصوص، صور، صوت).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Structured (tables), semi-structured (JSON/XML), unstructured (text, images, audio).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اختيار النوع يحدد أدوات التخزين والمعالجة المناسبة.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The data type determines the right storage and processing tools.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التنسيقات /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CSV للتبادل البسيط، JSON للواجهات البرمجية، Parquet وAvro للتحليلات والأنابيب.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CSV for simple exchange, JSON for APIs, Parquet and Avro for analytics and pipelines.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التنسيقات العمودية (Parquet) تقلل الحجم وتسرّع القراءة التحليلية.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Columnar formats (Parquet) reduce size and speed up analytical reads.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أنابيب ETL / 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ETL: التحويل قبل التحميل؛ ELT: التحميل أولاً ثم التحويل داخل المنصة المستهدفة.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ETL: transform before loading; ELT: load first, transform inside the target platform.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ELT هو النمط السائد في بيئات Lakehouse الحديثة.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ELT is the dominant pattern in modern lakehouse environments.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مقارنة أنماط المعالجة / Processing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المعمارية المتدرِّجة Medallion (Lakehouse): Bronze خام → Silver منقَّى → Gold جاهز للتحليل؛ إدارة مركزية؛ الأنسب للتحليلات وخطوط AI/ML/RAG.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Medallion (Lakehouse): raw Bronze → cleansed Silver → analytics-ready Gold; central ownership; best for analytics and AI/ML/RAG pipelines.</a:t>
            </a:r>
          </a:p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مستودع البيانات: ETL/ELT → Staging → المستودع → أسواق البيانات؛ حوكمة مركزية؛ الأنسب للتقارير وذكاء الأعمال.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Data warehouse: ETL/ELT → staging → warehouse → data marts; central governance; best for reporting and BI.</a:t>
            </a:r>
          </a:p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شبكة البيانات Data Mesh: ملكية لامركزية بالمجالات؛ منتجات بيانات بعقود (مخطط، أمان، SLA) وكتالوج موحد؛ الأنسب للمؤسسات الكبيرة.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Data mesh: decentralized domain ownership; data products with contracts (schema, security, SLA) and a unified catalog; best for large organizations.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جدول المقارنة السريع / Quick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المعايير: الفكرة الجوهرية / تدفق البيانات / مالك البيانات / حالة الاستخدام المثلى / نمط الحوكمة.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Criteria: core idea / data flow / data ownership / best use case / governance style.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Medallion: فريق هندسة مركزي — المستودع: فرق BI — Data Mesh: فرق المجالات.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Medallion: central data engineering — warehouse: BI teams — data mesh: domain teams.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1. ما الفرق الجوهري بين ETL وELT؟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What is the key difference between ETL and ELT?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2. أين تُستخدم طبقة Gold في المعمارية المتدرِّجة؟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Where is the Gold layer used in the Medallion architecture?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3. أي نمط يناسب مؤسسة كبيرة بفرق مستقلة وملكية لامركزية؟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Which pattern suits a large organization with independent, decentralized teams?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4. ما التنسيق الأنسب للتحليلات عالية الأداء ولماذا؟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Which format suits high-performance analytics and why?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Databricks — المعمارية المتدرِّجة Medallion.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Databricks docs — Medallion architecture.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مقالات Data Mesh — Zhamak Dehghani.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Data Mesh articles — Zhamak Dehghani.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Apache Parquet.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Apache Parquet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814</Words>
  <Application>Microsoft Macintosh PowerPoint</Application>
  <PresentationFormat>Widescreen</PresentationFormat>
  <Paragraphs>86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3</cp:revision>
  <dcterms:created xsi:type="dcterms:W3CDTF">2013-01-27T09:14:16Z</dcterms:created>
  <dcterms:modified xsi:type="dcterms:W3CDTF">2026-09-09T13:58:39Z</dcterms:modified>
  <cp:category/>
</cp:coreProperties>
</file>