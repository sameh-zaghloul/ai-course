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1"/>
  </p:notesMasterIdLst>
  <p:sldIdLst>
    <p:sldId id="256" r:id="rId2"/>
    <p:sldId id="261" r:id="rId3"/>
    <p:sldId id="365" r:id="rId4"/>
    <p:sldId id="265" r:id="rId5"/>
    <p:sldId id="257" r:id="rId6"/>
    <p:sldId id="368" r:id="rId7"/>
    <p:sldId id="264" r:id="rId8"/>
    <p:sldId id="366" r:id="rId9"/>
    <p:sldId id="266" r:id="rId10"/>
    <p:sldId id="267" r:id="rId11"/>
    <p:sldId id="268" r:id="rId12"/>
    <p:sldId id="269" r:id="rId13"/>
    <p:sldId id="271" r:id="rId14"/>
    <p:sldId id="273" r:id="rId15"/>
    <p:sldId id="369" r:id="rId16"/>
    <p:sldId id="275" r:id="rId17"/>
    <p:sldId id="367" r:id="rId18"/>
    <p:sldId id="277" r:id="rId19"/>
    <p:sldId id="279" r:id="rId20"/>
    <p:sldId id="282" r:id="rId21"/>
    <p:sldId id="283" r:id="rId22"/>
    <p:sldId id="284" r:id="rId23"/>
    <p:sldId id="285" r:id="rId24"/>
    <p:sldId id="287" r:id="rId25"/>
    <p:sldId id="289" r:id="rId26"/>
    <p:sldId id="291" r:id="rId27"/>
    <p:sldId id="294" r:id="rId28"/>
    <p:sldId id="295" r:id="rId29"/>
    <p:sldId id="296" r:id="rId30"/>
    <p:sldId id="297" r:id="rId31"/>
    <p:sldId id="299" r:id="rId32"/>
    <p:sldId id="301" r:id="rId33"/>
    <p:sldId id="303" r:id="rId34"/>
    <p:sldId id="305" r:id="rId35"/>
    <p:sldId id="306" r:id="rId36"/>
    <p:sldId id="308" r:id="rId37"/>
    <p:sldId id="309" r:id="rId38"/>
    <p:sldId id="310" r:id="rId39"/>
    <p:sldId id="311" r:id="rId40"/>
    <p:sldId id="312" r:id="rId41"/>
    <p:sldId id="313" r:id="rId42"/>
    <p:sldId id="315" r:id="rId43"/>
    <p:sldId id="317" r:id="rId44"/>
    <p:sldId id="319" r:id="rId45"/>
    <p:sldId id="320" r:id="rId46"/>
    <p:sldId id="322" r:id="rId47"/>
    <p:sldId id="323" r:id="rId48"/>
    <p:sldId id="324" r:id="rId49"/>
    <p:sldId id="326" r:id="rId50"/>
    <p:sldId id="328" r:id="rId51"/>
    <p:sldId id="329" r:id="rId52"/>
    <p:sldId id="330" r:id="rId53"/>
    <p:sldId id="331" r:id="rId54"/>
    <p:sldId id="332" r:id="rId55"/>
    <p:sldId id="333" r:id="rId56"/>
    <p:sldId id="334" r:id="rId57"/>
    <p:sldId id="335" r:id="rId58"/>
    <p:sldId id="337" r:id="rId59"/>
    <p:sldId id="339" r:id="rId60"/>
    <p:sldId id="341" r:id="rId61"/>
    <p:sldId id="342" r:id="rId62"/>
    <p:sldId id="343" r:id="rId63"/>
    <p:sldId id="344" r:id="rId64"/>
    <p:sldId id="345" r:id="rId65"/>
    <p:sldId id="346" r:id="rId66"/>
    <p:sldId id="348" r:id="rId67"/>
    <p:sldId id="364" r:id="rId68"/>
    <p:sldId id="349" r:id="rId69"/>
    <p:sldId id="350" r:id="rId70"/>
    <p:sldId id="370" r:id="rId71"/>
    <p:sldId id="371" r:id="rId72"/>
    <p:sldId id="372" r:id="rId73"/>
    <p:sldId id="373" r:id="rId74"/>
    <p:sldId id="374" r:id="rId75"/>
    <p:sldId id="375" r:id="rId76"/>
    <p:sldId id="376" r:id="rId77"/>
    <p:sldId id="377" r:id="rId78"/>
    <p:sldId id="379" r:id="rId79"/>
    <p:sldId id="378" r:id="rId80"/>
    <p:sldId id="352" r:id="rId81"/>
    <p:sldId id="354" r:id="rId82"/>
    <p:sldId id="355" r:id="rId83"/>
    <p:sldId id="356" r:id="rId84"/>
    <p:sldId id="357" r:id="rId85"/>
    <p:sldId id="358" r:id="rId86"/>
    <p:sldId id="359" r:id="rId87"/>
    <p:sldId id="360" r:id="rId88"/>
    <p:sldId id="361" r:id="rId89"/>
    <p:sldId id="362" r:id="rId9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11"/>
    <p:restoredTop sz="95659"/>
  </p:normalViewPr>
  <p:slideViewPr>
    <p:cSldViewPr snapToGrid="0" snapToObjects="1">
      <p:cViewPr varScale="1">
        <p:scale>
          <a:sx n="105" d="100"/>
          <a:sy n="105" d="100"/>
        </p:scale>
        <p:origin x="22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6759A6-D8E0-B240-942B-61EC933CC736}" type="datetimeFigureOut">
              <a:rPr lang="de-DE" smtClean="0"/>
              <a:t>10.09.26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0940C3-9C86-1C45-94FE-10CD13DC14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790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5" name="Google Shape;1105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06" name="Google Shape;110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 Light"/>
              <a:buNone/>
            </a:pPr>
            <a:fld id="{00000000-1234-1234-1234-123412341234}" type="slidenum">
              <a:rPr lang="en-US" sz="2800" b="0" i="0" u="none" strike="noStrike" cap="none">
                <a:latin typeface="Helvetica Neue Light"/>
                <a:ea typeface="Helvetica Neue Light"/>
                <a:cs typeface="Helvetica Neue Light"/>
                <a:sym typeface="Helvetica Neue Light"/>
              </a:rPr>
              <a:t>5</a:t>
            </a:fld>
            <a:endParaRPr sz="2800"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940C3-9C86-1C45-94FE-10CD13DC14F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7917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-3_Title and Content" userDrawn="1">
  <p:cSld name="1_3-3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4086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Module 02: Data Engineering for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defRPr sz="3600">
                <a:solidFill>
                  <a:srgbClr val="C8DCFF"/>
                </a:solidFill>
              </a:defRPr>
            </a:pPr>
            <a:r>
              <a:rPr dirty="0" err="1"/>
              <a:t>وحدة</a:t>
            </a:r>
            <a:r>
              <a:rPr dirty="0"/>
              <a:t> 02: </a:t>
            </a:r>
            <a:r>
              <a:rPr dirty="0" err="1"/>
              <a:t>هندسة</a:t>
            </a:r>
            <a:r>
              <a:rPr dirty="0"/>
              <a:t> </a:t>
            </a:r>
            <a:r>
              <a:rPr dirty="0" err="1"/>
              <a:t>البيانات</a:t>
            </a:r>
            <a:r>
              <a:rPr dirty="0"/>
              <a:t> </a:t>
            </a:r>
            <a:r>
              <a:rPr dirty="0" err="1"/>
              <a:t>للذكاء</a:t>
            </a:r>
            <a:r>
              <a:rPr dirty="0"/>
              <a:t> </a:t>
            </a:r>
            <a:r>
              <a:rPr dirty="0" err="1"/>
              <a:t>الاصطناعي</a:t>
            </a:r>
            <a:endParaRPr dirty="0"/>
          </a:p>
          <a:p>
            <a:pPr algn="ctr" rtl="1"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rPr dirty="0"/>
              <a:t>7 Modules + Lab + Glossary 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825731" y="5943600"/>
            <a:ext cx="253749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D7EE"/>
                </a:solidFill>
              </a:defRPr>
            </a:pPr>
            <a:r>
              <a:rPr dirty="0"/>
              <a:t>Interactive Learning Journey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وحدات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المقرر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Course Modules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V06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Data Fundamentals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V07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المستودعات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والبحيرات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ومعمارية</a:t>
            </a:r>
            <a:r>
              <a:rPr dirty="0">
                <a:solidFill>
                  <a:srgbClr val="333333"/>
                </a:solidFill>
                <a:latin typeface="Arial"/>
              </a:rPr>
              <a:t> Lakehouse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Warehouses, Data Lakes &amp; Lakehouse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V08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ومخازنها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Feature Engineering &amp; Feature Stores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V09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dirty="0">
                <a:solidFill>
                  <a:srgbClr val="333333"/>
                </a:solidFill>
                <a:latin typeface="Arial"/>
              </a:rPr>
              <a:t> + RAG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التطبيقي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V10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تصنيف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نطاق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واسع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Labeling at Scale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V11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وسلسلة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والفهرسة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Data Governance, Lineage &amp; Cataloging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V12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dirty="0">
                <a:solidFill>
                  <a:srgbClr val="333333"/>
                </a:solidFill>
                <a:latin typeface="Arial"/>
              </a:rPr>
              <a:t> + </a:t>
            </a:r>
            <a:r>
              <a:rPr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للمختبر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dirty="0">
                <a:solidFill>
                  <a:srgbClr val="333333"/>
                </a:solidFill>
                <a:latin typeface="Arial"/>
              </a:rPr>
              <a:t> Fundamentals + Lab Introduction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5AEDC0-A51B-8277-2AE8-D9F725D903F7}"/>
              </a:ext>
            </a:extLst>
          </p:cNvPr>
          <p:cNvSpPr/>
          <p:nvPr/>
        </p:nvSpPr>
        <p:spPr>
          <a:xfrm>
            <a:off x="502920" y="44856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662F9941-5774-4EA0-31B9-D46973B2BF45}"/>
              </a:ext>
            </a:extLst>
          </p:cNvPr>
          <p:cNvSpPr/>
          <p:nvPr/>
        </p:nvSpPr>
        <p:spPr>
          <a:xfrm>
            <a:off x="1746504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4FA325-D073-7A9D-72FA-FA37D1A23A3B}"/>
              </a:ext>
            </a:extLst>
          </p:cNvPr>
          <p:cNvSpPr/>
          <p:nvPr/>
        </p:nvSpPr>
        <p:spPr>
          <a:xfrm>
            <a:off x="1883664" y="44856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10" name="Left Arrow 9">
            <a:extLst>
              <a:ext uri="{FF2B5EF4-FFF2-40B4-BE49-F238E27FC236}">
                <a16:creationId xmlns:a16="http://schemas.microsoft.com/office/drawing/2014/main" id="{84A7F68B-A26A-E8C6-6076-3FBB6B23C661}"/>
              </a:ext>
            </a:extLst>
          </p:cNvPr>
          <p:cNvSpPr/>
          <p:nvPr/>
        </p:nvSpPr>
        <p:spPr>
          <a:xfrm>
            <a:off x="3127248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AFCA2F2-FF5D-5082-26D5-11134A56FF39}"/>
              </a:ext>
            </a:extLst>
          </p:cNvPr>
          <p:cNvSpPr/>
          <p:nvPr/>
        </p:nvSpPr>
        <p:spPr>
          <a:xfrm>
            <a:off x="3264408" y="44856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12" name="Left Arrow 11">
            <a:extLst>
              <a:ext uri="{FF2B5EF4-FFF2-40B4-BE49-F238E27FC236}">
                <a16:creationId xmlns:a16="http://schemas.microsoft.com/office/drawing/2014/main" id="{ADD5BF94-6C4B-8428-263D-AC61C98AFA7B}"/>
              </a:ext>
            </a:extLst>
          </p:cNvPr>
          <p:cNvSpPr/>
          <p:nvPr/>
        </p:nvSpPr>
        <p:spPr>
          <a:xfrm>
            <a:off x="4507992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183B6F-1EEE-E04B-8E13-80BE0440918B}"/>
              </a:ext>
            </a:extLst>
          </p:cNvPr>
          <p:cNvSpPr/>
          <p:nvPr/>
        </p:nvSpPr>
        <p:spPr>
          <a:xfrm>
            <a:off x="4645152" y="44856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6EFA0D59-CB58-52C2-DFB3-0A7EF8DAF084}"/>
              </a:ext>
            </a:extLst>
          </p:cNvPr>
          <p:cNvSpPr/>
          <p:nvPr/>
        </p:nvSpPr>
        <p:spPr>
          <a:xfrm>
            <a:off x="5888736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11C77A7-1AAA-1657-7A00-002BD767D34F}"/>
              </a:ext>
            </a:extLst>
          </p:cNvPr>
          <p:cNvSpPr/>
          <p:nvPr/>
        </p:nvSpPr>
        <p:spPr>
          <a:xfrm>
            <a:off x="6025896" y="44856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5083684E-388E-1033-22DE-1B95D34BB71C}"/>
              </a:ext>
            </a:extLst>
          </p:cNvPr>
          <p:cNvSpPr/>
          <p:nvPr/>
        </p:nvSpPr>
        <p:spPr>
          <a:xfrm>
            <a:off x="7269480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F17B6A8-B811-6AB1-A9E0-A4DEB02EFA40}"/>
              </a:ext>
            </a:extLst>
          </p:cNvPr>
          <p:cNvSpPr/>
          <p:nvPr/>
        </p:nvSpPr>
        <p:spPr>
          <a:xfrm>
            <a:off x="7406640" y="44856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EF746D35-6CF7-F402-280F-F235E2FFEBC3}"/>
              </a:ext>
            </a:extLst>
          </p:cNvPr>
          <p:cNvSpPr/>
          <p:nvPr/>
        </p:nvSpPr>
        <p:spPr>
          <a:xfrm>
            <a:off x="8650224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77464C6-67B5-48B9-BE78-44334113A5F3}"/>
              </a:ext>
            </a:extLst>
          </p:cNvPr>
          <p:cNvSpPr/>
          <p:nvPr/>
        </p:nvSpPr>
        <p:spPr>
          <a:xfrm>
            <a:off x="8787384" y="44856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20" name="Left Arrow 19">
            <a:extLst>
              <a:ext uri="{FF2B5EF4-FFF2-40B4-BE49-F238E27FC236}">
                <a16:creationId xmlns:a16="http://schemas.microsoft.com/office/drawing/2014/main" id="{329C66AF-0757-AAFC-0D19-B7D33E53EB08}"/>
              </a:ext>
            </a:extLst>
          </p:cNvPr>
          <p:cNvSpPr/>
          <p:nvPr/>
        </p:nvSpPr>
        <p:spPr>
          <a:xfrm>
            <a:off x="10030968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7B7EAFC-AE52-2BC7-062F-EFAC3B3BA0E5}"/>
              </a:ext>
            </a:extLst>
          </p:cNvPr>
          <p:cNvSpPr/>
          <p:nvPr/>
        </p:nvSpPr>
        <p:spPr>
          <a:xfrm>
            <a:off x="10168128" y="44856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5853F8-9346-1047-8008-38A95ADFE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77F561-6CF5-C36A-294A-8DD50DDDADE6}"/>
              </a:ext>
            </a:extLst>
          </p:cNvPr>
          <p:cNvSpPr txBox="1"/>
          <p:nvPr/>
        </p:nvSpPr>
        <p:spPr>
          <a:xfrm>
            <a:off x="457200" y="22860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1">
                <a:solidFill>
                  <a:srgbClr val="FFFFFF"/>
                </a:solidFill>
              </a:defRPr>
            </a:pPr>
            <a:r>
              <a:rPr kumimoji="0" sz="4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V06 — Data Fundamentals</a:t>
            </a:r>
          </a:p>
        </p:txBody>
      </p:sp>
    </p:spTree>
    <p:extLst>
      <p:ext uri="{BB962C8B-B14F-4D97-AF65-F5344CB8AC3E}">
        <p14:creationId xmlns:p14="http://schemas.microsoft.com/office/powerpoint/2010/main" val="2784849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200" b="1" dirty="0">
                <a:solidFill>
                  <a:srgbClr val="1F3B5C"/>
                </a:solidFill>
                <a:latin typeface="Arial"/>
              </a:rPr>
            </a:br>
            <a:r>
              <a:rPr lang="ar-EG" sz="32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200" b="1" dirty="0">
                <a:solidFill>
                  <a:srgbClr val="1F3B5C"/>
                </a:solidFill>
                <a:latin typeface="Arial"/>
              </a:rPr>
            </a:br>
            <a:br>
              <a:rPr lang="ar-EG" sz="3200" b="1" dirty="0">
                <a:solidFill>
                  <a:srgbClr val="1F3B5C"/>
                </a:solidFill>
                <a:latin typeface="Arial"/>
              </a:rPr>
            </a:br>
            <a:endParaRPr lang="ar-EG" sz="3200" b="1" dirty="0">
              <a:solidFill>
                <a:srgbClr val="1F3B5C"/>
              </a:solidFill>
              <a:latin typeface="Arial"/>
            </a:endParaRPr>
          </a:p>
          <a:p>
            <a:pPr algn="ctr" rtl="1"/>
            <a:endParaRPr lang="ar-EG"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2C3802-E909-FD8A-A62B-6C1BA5AAC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53" y="1560418"/>
            <a:ext cx="11704174" cy="4531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0B8298D-F50E-F823-392F-7B860F1C6902}"/>
              </a:ext>
            </a:extLst>
          </p:cNvPr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09" name="Google Shape;1109;p2"/>
          <p:cNvGrpSpPr/>
          <p:nvPr/>
        </p:nvGrpSpPr>
        <p:grpSpPr>
          <a:xfrm>
            <a:off x="1648721" y="1683326"/>
            <a:ext cx="8894557" cy="4754455"/>
            <a:chOff x="0" y="1"/>
            <a:chExt cx="9286133" cy="4713657"/>
          </a:xfrm>
        </p:grpSpPr>
        <p:sp>
          <p:nvSpPr>
            <p:cNvPr id="1110" name="Google Shape;1110;p2"/>
            <p:cNvSpPr/>
            <p:nvPr/>
          </p:nvSpPr>
          <p:spPr>
            <a:xfrm rot="5400000">
              <a:off x="5715093" y="-2375349"/>
              <a:ext cx="1186621" cy="5937321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1" name="Google Shape;1111;p2"/>
            <p:cNvSpPr txBox="1"/>
            <p:nvPr/>
          </p:nvSpPr>
          <p:spPr>
            <a:xfrm>
              <a:off x="3339743" y="57927"/>
              <a:ext cx="5879395" cy="10707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جمع البيانات الأولية ، من خلال معالجة الأنشطة ، و التعرف على البيانات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وتحديد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جودة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واكتشاف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الداخلية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للبيانات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اكتشاف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المجموعة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الفرعية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المثيرة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للاهتمام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لتشكيل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فرضية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المعلومات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الضمنية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b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إنشاء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منظومة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الموحدة من البيانات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غير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المعالجة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تشمل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اختيار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الجداول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والسجلات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والخواص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بالإضافة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تحويل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وتنظيف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لأدوات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النمذجة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2" name="Google Shape;1112;p2"/>
            <p:cNvSpPr/>
            <p:nvPr/>
          </p:nvSpPr>
          <p:spPr>
            <a:xfrm>
              <a:off x="0" y="96680"/>
              <a:ext cx="3339743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3" name="Google Shape;1113;p2"/>
            <p:cNvSpPr txBox="1"/>
            <p:nvPr/>
          </p:nvSpPr>
          <p:spPr>
            <a:xfrm>
              <a:off x="48606" y="145286"/>
              <a:ext cx="3242531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Data Analysis and Segmentation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4" name="Google Shape;1114;p2"/>
            <p:cNvSpPr/>
            <p:nvPr/>
          </p:nvSpPr>
          <p:spPr>
            <a:xfrm rot="5400000">
              <a:off x="5615866" y="-958151"/>
              <a:ext cx="1385075" cy="5937321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5" name="Google Shape;1115;p2"/>
            <p:cNvSpPr txBox="1"/>
            <p:nvPr/>
          </p:nvSpPr>
          <p:spPr>
            <a:xfrm>
              <a:off x="3339743" y="1385586"/>
              <a:ext cx="5869707" cy="12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ااستخدام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تقنيات الذكاء الاصطناعي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اختيار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تقنيات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نماذج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مختلفة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وتطبيقها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وتعديل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معلمات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النموذج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أفضل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القيم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بشكل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عام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بما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يساعد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علي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إيجاد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حلول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فعالة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لمشكلة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التنقيب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البيانات. 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تحليل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السلاسل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الزمنية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التنبؤ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بالقيمة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المستقبلية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للسلسل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باستخدم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المتوسطات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المتحركة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لتحليل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السلاسل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الزمنية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مكونات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موسمية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واتجاهية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وغير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منتظمة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التعامل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المكونات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الموسمية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المضافة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أو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المضاعفة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22412" algn="r" rtl="0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None/>
              </a:pP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6" name="Google Shape;1116;p2"/>
            <p:cNvSpPr/>
            <p:nvPr/>
          </p:nvSpPr>
          <p:spPr>
            <a:xfrm>
              <a:off x="0" y="1295401"/>
              <a:ext cx="3339743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7" name="Google Shape;1117;p2"/>
            <p:cNvSpPr txBox="1"/>
            <p:nvPr/>
          </p:nvSpPr>
          <p:spPr>
            <a:xfrm>
              <a:off x="48606" y="1346878"/>
              <a:ext cx="3242531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Predictive Forecasting Models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8" name="Google Shape;1118;p2"/>
            <p:cNvSpPr/>
            <p:nvPr/>
          </p:nvSpPr>
          <p:spPr>
            <a:xfrm rot="5400000">
              <a:off x="5929706" y="302256"/>
              <a:ext cx="769728" cy="5943125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9" name="Google Shape;1119;p2"/>
            <p:cNvSpPr txBox="1"/>
            <p:nvPr/>
          </p:nvSpPr>
          <p:spPr>
            <a:xfrm>
              <a:off x="3343008" y="2926530"/>
              <a:ext cx="5905550" cy="6945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اعداد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القواعد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المعرفية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النظم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الخبيرة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هي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مزيج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من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الخصائص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والقوانين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الخبرة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المكتسبة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والمعلومات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الدقيقة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والادراك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استخدام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برامج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الذكاء الاصطناعي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للوصول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استنباط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الظواهر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الأنماط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الغير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الطبيعية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(و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احتمال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مخالفتها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للقوانين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المحددات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) من خلال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المسارات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داخل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قاعدة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المعرفة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 sz="1588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0" name="Google Shape;1120;p2"/>
            <p:cNvSpPr/>
            <p:nvPr/>
          </p:nvSpPr>
          <p:spPr>
            <a:xfrm>
              <a:off x="0" y="2504441"/>
              <a:ext cx="3343007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1" name="Google Shape;1121;p2"/>
            <p:cNvSpPr txBox="1"/>
            <p:nvPr/>
          </p:nvSpPr>
          <p:spPr>
            <a:xfrm>
              <a:off x="48606" y="2418081"/>
              <a:ext cx="3245795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b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Anomaly &amp; Fraud Detection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2" name="Google Shape;1122;p2"/>
            <p:cNvSpPr/>
            <p:nvPr/>
          </p:nvSpPr>
          <p:spPr>
            <a:xfrm rot="5400000">
              <a:off x="5916292" y="1244248"/>
              <a:ext cx="796556" cy="5943125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3" name="Google Shape;1123;p2"/>
            <p:cNvSpPr txBox="1"/>
            <p:nvPr/>
          </p:nvSpPr>
          <p:spPr>
            <a:xfrm>
              <a:off x="3343008" y="3856418"/>
              <a:ext cx="5904240" cy="7187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22412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35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حل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المشاكل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الجديدة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،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والتخطيط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،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واتخاذ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القرارات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والقدرة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على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التعامل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المشاكل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غير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المتوقعة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واستخلاص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باستخدام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المعلومات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المخزنة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0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محاكاة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المستقبلية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الوصول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افضل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البدائل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لتعظيم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العائد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من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المشروع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4" name="Google Shape;1124;p2"/>
            <p:cNvSpPr/>
            <p:nvPr/>
          </p:nvSpPr>
          <p:spPr>
            <a:xfrm>
              <a:off x="0" y="3717963"/>
              <a:ext cx="3343007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5" name="Google Shape;1125;p2"/>
            <p:cNvSpPr txBox="1"/>
            <p:nvPr/>
          </p:nvSpPr>
          <p:spPr>
            <a:xfrm>
              <a:off x="48606" y="3766569"/>
              <a:ext cx="3245795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b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Decision Optimization &amp; What-If-Scenarios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5F3818B-831F-24F2-65A7-4ABBF93A0A85}"/>
              </a:ext>
            </a:extLst>
          </p:cNvPr>
          <p:cNvSpPr txBox="1"/>
          <p:nvPr/>
        </p:nvSpPr>
        <p:spPr>
          <a:xfrm>
            <a:off x="2351375" y="325216"/>
            <a:ext cx="7548926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lang="en-US" sz="30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000" b="1" dirty="0">
                <a:solidFill>
                  <a:srgbClr val="1F3B5C"/>
                </a:solidFill>
                <a:latin typeface="Arial"/>
              </a:rPr>
            </a:br>
            <a:r>
              <a:rPr lang="ar-EG" sz="30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552F22-B39C-EAE0-0310-8E36D7B478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" r="-1" b="-1"/>
          <a:stretch>
            <a:fillRect/>
          </a:stretch>
        </p:blipFill>
        <p:spPr>
          <a:xfrm>
            <a:off x="20" y="1068779"/>
            <a:ext cx="12191980" cy="57892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79DAE9-684F-A9F9-3A82-A101A7F45EEC}"/>
              </a:ext>
            </a:extLst>
          </p:cNvPr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D8793-3339-0516-8613-7B5528778995}"/>
              </a:ext>
            </a:extLst>
          </p:cNvPr>
          <p:cNvSpPr txBox="1"/>
          <p:nvPr/>
        </p:nvSpPr>
        <p:spPr>
          <a:xfrm>
            <a:off x="2351375" y="325216"/>
            <a:ext cx="7548926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lang="en-US" sz="30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000" b="1" dirty="0">
                <a:solidFill>
                  <a:srgbClr val="1F3B5C"/>
                </a:solidFill>
                <a:latin typeface="Arial"/>
              </a:rPr>
            </a:br>
            <a:r>
              <a:rPr lang="ar-EG" sz="30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1600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91985" y="137160"/>
            <a:ext cx="842089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طيف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والتنسيقات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Spectrum &amp; Formats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520440" cy="9601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Structured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جداول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Tables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CSV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US" sz="1600" dirty="0">
                <a:solidFill>
                  <a:srgbClr val="666666"/>
                </a:solidFill>
                <a:latin typeface="Calibri"/>
              </a:rPr>
              <a:t>Databases</a:t>
            </a:r>
            <a:endParaRPr sz="160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43400" y="1325880"/>
            <a:ext cx="3520440" cy="9601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شبه 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Semi-structured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سجلات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مرنة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Flexible records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JSON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Avro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520440" cy="9601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غير 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Unstructured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نصوص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وصور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وصوت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Text, images, audio</a:t>
            </a: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PDF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JPG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160520"/>
            <a:ext cx="9235440" cy="7772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اختر التنسيق حسب الاستخدام: تبادل بسيط ← تحليلات سريعة ← محتوى غني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Choose the format for the job: simple exchange ← fast analytics ← rich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>
                <a:solidFill>
                  <a:srgbClr val="666666"/>
                </a:solidFill>
                <a:latin typeface="Arial"/>
              </a:rPr>
              <a:t>Parquet عمودي للتحليلات؛ JSON مرن للواجهات؛ الملفات الغنية تحتاج استخراج محتوى.</a:t>
            </a:r>
          </a:p>
          <a:p>
            <a:pPr rtl="0"/>
            <a:r>
              <a:t>Parquet is columnar for analytics; JSON is flexible for APIs; rich files need content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26B47-EA90-A816-1693-536CF1BB8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26E26B-ADDC-0853-F96F-7600EE1429E5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78BC2-D12B-1293-DB0F-51ADF14B244E}"/>
              </a:ext>
            </a:extLst>
          </p:cNvPr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ar-EG" sz="3200" b="1" dirty="0">
                <a:solidFill>
                  <a:srgbClr val="1F3B5C"/>
                </a:solidFill>
                <a:latin typeface="Arial"/>
              </a:rPr>
              <a:t>مسارات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ETL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B5C327-9812-16E3-0E08-7897C90B570C}"/>
              </a:ext>
            </a:extLst>
          </p:cNvPr>
          <p:cNvSpPr txBox="1"/>
          <p:nvPr/>
        </p:nvSpPr>
        <p:spPr>
          <a:xfrm>
            <a:off x="640080" y="1280160"/>
            <a:ext cx="109728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>
                <a:solidFill>
                  <a:srgbClr val="333333"/>
                </a:solidFill>
                <a:latin typeface="Arial"/>
              </a:rPr>
              <a:t> ETL: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التحويل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؛ ELT: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أولاً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ثم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التحويل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داخل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المنصة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المستهدفة</a:t>
            </a:r>
            <a:r>
              <a:rPr sz="2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666666"/>
                </a:solidFill>
                <a:latin typeface="Calibri"/>
              </a:rPr>
              <a:t> 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ETL: transform before loading; ELT: load first, transform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lang="en-US" sz="28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800" dirty="0">
                <a:solidFill>
                  <a:srgbClr val="333333"/>
                </a:solidFill>
                <a:latin typeface="Arial"/>
              </a:rPr>
              <a:t>  </a:t>
            </a:r>
            <a:r>
              <a:rPr lang="en-US" sz="2800" dirty="0">
                <a:solidFill>
                  <a:srgbClr val="333333"/>
                </a:solidFill>
                <a:latin typeface="Arial"/>
              </a:rPr>
              <a:t>  </a:t>
            </a:r>
            <a:r>
              <a:rPr sz="2800" dirty="0">
                <a:solidFill>
                  <a:srgbClr val="333333"/>
                </a:solidFill>
                <a:latin typeface="Arial"/>
              </a:rPr>
              <a:t> ELT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هو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النمط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السائد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بيئات</a:t>
            </a:r>
            <a:r>
              <a:rPr sz="28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الحديثة</a:t>
            </a:r>
            <a:r>
              <a:rPr sz="2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666666"/>
                </a:solidFill>
                <a:latin typeface="Calibri"/>
              </a:rPr>
              <a:t> 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ELT is the dominant pattern in modern </a:t>
            </a:r>
            <a:r>
              <a:rPr sz="2400" dirty="0" err="1">
                <a:solidFill>
                  <a:srgbClr val="666666"/>
                </a:solidFill>
                <a:latin typeface="Calibri"/>
              </a:rPr>
              <a:t>lakehouse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environments.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DF9852-B30D-5EF8-B07D-F4B98EBCE4D5}"/>
              </a:ext>
            </a:extLst>
          </p:cNvPr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9C0FBC-CB9A-1EE3-C0C1-B6E34C059792}"/>
              </a:ext>
            </a:extLst>
          </p:cNvPr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62969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مقارنة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أنماط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المعالجة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Processing Patterns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المتدرِّجة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Medallion (Lakehouse): </a:t>
            </a:r>
            <a:endParaRPr lang="en-US" sz="2000" b="1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Bronze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Silver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منقَّى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Gold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جاهز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إدارة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وخطوط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ML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RAG.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Medallion (Lakehouse): raw Bronze → cleansed Silver → analytics-ready Gold; central ownership; best for analytics and AI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ML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RAG pipelines.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مستودع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: ETL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ELT → Staging →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أسواق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للتقارير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الأعمال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Data warehouse: ETL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ELT → staging → warehouse → data marts; central governance; best for reporting and BI.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شبكة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Data Mesh: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ملكية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بالمجالات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منتجات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بعقود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مخطط</a:t>
            </a:r>
            <a:r>
              <a:rPr sz="2000" dirty="0">
                <a:solidFill>
                  <a:srgbClr val="333333"/>
                </a:solidFill>
                <a:latin typeface="Arial"/>
              </a:rPr>
              <a:t>،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أمان</a:t>
            </a:r>
            <a:r>
              <a:rPr sz="2000" dirty="0">
                <a:solidFill>
                  <a:srgbClr val="333333"/>
                </a:solidFill>
                <a:latin typeface="Arial"/>
              </a:rPr>
              <a:t>، SLA)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وكتالوج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موحد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للمؤسسات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الكبيرة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Data mesh: decentralized domain ownership; data products with contracts (schema, security, SLA) and a unified catalog; best for large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جدول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المقارنة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: Medallion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Data Mesh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028835"/>
              </p:ext>
            </p:extLst>
          </p:nvPr>
        </p:nvGraphicFramePr>
        <p:xfrm>
          <a:off x="640080" y="1371600"/>
          <a:ext cx="109728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4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المعيار</a:t>
                      </a:r>
                      <a:endParaRPr sz="24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Medallion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المستودع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الفكرة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طبقات Bronze→Silver→Gold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Staging→Warehouse→Marts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منتجات بالمجالات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المالك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هندسة 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فرق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فرق المجالات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الأنسب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تحليلات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و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AI</a:t>
                      </a:r>
                      <a:r>
                        <a:rPr lang="en-EG" sz="20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تقارير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مؤسسات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الحوكمة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جودة بين الطبقات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موحدة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+ </a:t>
                      </a:r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عقود</a:t>
                      </a:r>
                      <a:endParaRPr sz="2000" dirty="0">
                        <a:solidFill>
                          <a:srgbClr val="333333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الفرق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الجوهري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ETL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وELT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is the key difference between ETL and ELT?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تُستخدم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طبقة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Gold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المتدرِّجة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Where is the Gold layer used in the Medallion architecture?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نمط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يناسب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مؤسسة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كبيرة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بفرق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مستقلة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وملكية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pattern suits a large organization with independent, decentralized teams?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التنسيق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عالية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الأداء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format suits high-performance analytics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ETL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يحوّل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ELT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يحمّل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أولاً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ثم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يحوّل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داخل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المنصة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الهدف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ETL transforms before loading; ELT loads first and transforms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تجميعات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الأعمال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جاهزة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للتحليل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Business-level aggregates that are analytics-ready.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شبكة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Data mesh.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4. Parquet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تنسيق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عمودي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يقلل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الحجم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ويسرّع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Parquet — columnar, smaller and faster for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7</a:t>
            </a:r>
            <a:r>
              <a:rPr dirty="0"/>
              <a:t> — </a:t>
            </a:r>
            <a:r>
              <a:rPr lang="en-US" dirty="0"/>
              <a:t>Warehouses, Data Lakes &amp; Lakehouse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V07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والبحيرات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مقابل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منتجات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وعقودها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متى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تختار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نموذج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؟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When to Choose Which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8BC9B2-C9B0-9876-6E4B-71A33ED55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4" y="761386"/>
            <a:ext cx="11540543" cy="6058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8D67A-F345-3E83-FD62-8B97518F6EEE}"/>
              </a:ext>
            </a:extLst>
          </p:cNvPr>
          <p:cNvSpPr txBox="1"/>
          <p:nvPr/>
        </p:nvSpPr>
        <p:spPr>
          <a:xfrm>
            <a:off x="1187381" y="208412"/>
            <a:ext cx="981723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البحيرة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Warehouse vs Lake Decision Map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1651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634" y="137160"/>
            <a:ext cx="1152924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قرار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البحيرة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Warehouse vs Lake Decision Map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02920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32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20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29200" cy="822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32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  <a:p>
            <a:pPr algn="ctr" rtl="0"/>
            <a:r>
              <a:rPr sz="200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مخطط عند الكتابة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Schema on 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مخطط عند القراءة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Schema on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بيانات منظمة + SQL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Curated data +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كل التنسيقات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Any format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تقارير وذكاء أعمال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Reporting and 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 dirty="0" err="1">
                <a:solidFill>
                  <a:srgbClr val="333333"/>
                </a:solidFill>
                <a:latin typeface="Arial"/>
              </a:rPr>
              <a:t>استكشاف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وAI</a:t>
            </a:r>
            <a:r>
              <a:rPr lang="en-EG"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ML</a:t>
            </a: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Exploration and AI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21100" y="5212080"/>
            <a:ext cx="5194300" cy="6400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Lakehouse = </a:t>
            </a:r>
            <a:r>
              <a:rPr lang="en-US"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مرونة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موثوقية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المستودع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Lakehouse = lake flexibility + warehouse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لا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يوجد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فائز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دائم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ابدأ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نوع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السؤال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والفريق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ومتطلبات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There is no universal winner: start with the question, team, and governance needs.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9C09EC-2A8B-4938-C486-DE0C6FCC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535" y="1856094"/>
            <a:ext cx="9282433" cy="37129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00D52C-DC9C-4229-4112-6178BB7FF589}"/>
              </a:ext>
            </a:extLst>
          </p:cNvPr>
          <p:cNvSpPr txBox="1"/>
          <p:nvPr/>
        </p:nvSpPr>
        <p:spPr>
          <a:xfrm>
            <a:off x="3636016" y="137160"/>
            <a:ext cx="79768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المتدرِّجة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Layers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8659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36016" y="137160"/>
            <a:ext cx="79768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المتدرِّجة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Layers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Bronze —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غير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قابلة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للتغيير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Silver —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منقَّاة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ومنظَّمة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Gold — </a:t>
            </a:r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تجميعات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جاهزة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للتحليل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عبر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تحسين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الطبقات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إدارة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مركزية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Governance via quality improvement between layers — central ownership.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43519" y="137160"/>
            <a:ext cx="866936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منتج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وعقد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Product &amp; Contract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22960" y="28270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800" b="1" dirty="0" err="1">
                <a:solidFill>
                  <a:srgbClr val="333333"/>
                </a:solidFill>
                <a:latin typeface="Arial"/>
              </a:rPr>
              <a:t>منتج</a:t>
            </a:r>
            <a:r>
              <a:rPr sz="2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333333"/>
                </a:solidFill>
                <a:latin typeface="Arial"/>
              </a:rPr>
              <a:t>البيانات</a:t>
            </a:r>
            <a:endParaRPr sz="2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dirty="0">
                <a:solidFill>
                  <a:srgbClr val="666666"/>
                </a:solidFill>
                <a:latin typeface="Calibri"/>
              </a:rPr>
              <a:t>Data Product — </a:t>
            </a:r>
            <a:r>
              <a:rPr dirty="0" err="1">
                <a:solidFill>
                  <a:srgbClr val="666666"/>
                </a:solidFill>
                <a:latin typeface="Calibri"/>
              </a:rPr>
              <a:t>موثوق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موثّق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قابل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للاكتشاف</a:t>
            </a:r>
            <a:endParaRPr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223760" y="28270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8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39243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Schema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589520" y="11811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الأمان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Security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589520" y="20066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الخدمة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SLA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Left Arrow 7"/>
          <p:cNvSpPr/>
          <p:nvPr/>
        </p:nvSpPr>
        <p:spPr>
          <a:xfrm>
            <a:off x="5257800" y="41986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وحدة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التسليم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الحديثة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هندسة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 modern delivery unit in data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متى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تختار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كل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نموذج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؟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Decision Matrix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321604"/>
              </p:ext>
            </p:extLst>
          </p:nvPr>
        </p:nvGraphicFramePr>
        <p:xfrm>
          <a:off x="640080" y="1371600"/>
          <a:ext cx="109728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20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الحالة</a:t>
                      </a:r>
                      <a:endParaRPr sz="2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Medallion </a:t>
                      </a:r>
                      <a:r>
                        <a:rPr lang="en-EG"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SQL سريع + مخطط ثابت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ملكية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لامركزية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+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عقود</a:t>
                      </a:r>
                      <a:endParaRPr sz="1800" dirty="0">
                        <a:solidFill>
                          <a:srgbClr val="333333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93111" y="137160"/>
            <a:ext cx="781976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أنماط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معالجة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الثلاثة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Three Data Patterns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فريق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مركزي</a:t>
            </a:r>
            <a:r>
              <a:rPr b="1" dirty="0">
                <a:solidFill>
                  <a:srgbClr val="333333"/>
                </a:solidFill>
                <a:latin typeface="Arial"/>
              </a:rPr>
              <a:t> —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تحليلات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وAI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ML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dirty="0" err="1">
                <a:solidFill>
                  <a:srgbClr val="666666"/>
                </a:solidFill>
                <a:latin typeface="Arial"/>
              </a:rPr>
              <a:t>المعايير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الفكرة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الجوهرية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المالك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حالة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الاستخدام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المثلى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algn="r" rtl="0"/>
            <a:r>
              <a:rPr dirty="0"/>
              <a:t>Criteria: core idea </a:t>
            </a:r>
            <a:r>
              <a:rPr lang="en-EG" dirty="0"/>
              <a:t> </a:t>
            </a:r>
            <a:r>
              <a:rPr dirty="0"/>
              <a:t> ownership </a:t>
            </a:r>
            <a:r>
              <a:rPr lang="en-EG" dirty="0"/>
              <a:t> </a:t>
            </a:r>
            <a:r>
              <a:rPr dirty="0"/>
              <a:t> governance </a:t>
            </a:r>
            <a:r>
              <a:rPr lang="en-EG" dirty="0"/>
              <a:t> </a:t>
            </a:r>
            <a:r>
              <a:rPr dirty="0"/>
              <a:t> best use 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معنى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«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مخطط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2000" dirty="0">
                <a:solidFill>
                  <a:srgbClr val="333333"/>
                </a:solidFill>
                <a:latin typeface="Arial"/>
              </a:rPr>
              <a:t>»؟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مكونات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عقد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الثلاثة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يضيف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المجردة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a </a:t>
            </a:r>
            <a:r>
              <a:rPr sz="1700" dirty="0" err="1">
                <a:solidFill>
                  <a:srgbClr val="666666"/>
                </a:solidFill>
                <a:latin typeface="Calibri"/>
              </a:rPr>
              <a:t>lakehouse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يُفرض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الكتابة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سمة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البحيرات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الأمان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SLA.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معاملات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ACID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وأداء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 SQL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وحوكمة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75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8</a:t>
            </a:r>
            <a:r>
              <a:rPr dirty="0"/>
              <a:t> — </a:t>
            </a:r>
            <a:r>
              <a:rPr lang="en-US" dirty="0"/>
              <a:t>Feature Engineering &amp; Feature Stores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V08</a:t>
            </a:r>
            <a:r>
              <a:rPr sz="24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ومخازنها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dirty="0">
                <a:solidFill>
                  <a:srgbClr val="666666"/>
                </a:solidFill>
                <a:latin typeface="Calibri"/>
              </a:rPr>
              <a:t> —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Feature Engineering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مخازن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Feature Stores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اتساق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Offline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Online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Consistency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الربط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بالتطبيقات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الوكيلة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Agentic Applications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4433" y="137160"/>
            <a:ext cx="860844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الخام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إلى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الخصائص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Raw Data to Features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246888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أحداث خام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Raw events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8211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3566160" y="2011680"/>
            <a:ext cx="246888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تنظيف وتحويل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Clean &amp; transform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10819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246888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تعريف الخصائص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Feature definitions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03427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ounded Rectangle 8"/>
          <p:cNvSpPr/>
          <p:nvPr/>
        </p:nvSpPr>
        <p:spPr>
          <a:xfrm>
            <a:off x="9418320" y="2011680"/>
            <a:ext cx="246888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تدريب + خدمة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Training +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977639"/>
            <a:ext cx="60807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مخزن الخصائص: تعريف واحد متسق للتدريب والخدمة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Feature store: one consistent definition for training and 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الاتساق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هو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النتيجة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نفس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حساب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الميزة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يمنع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انحراف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التدريب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والخدمة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Consistency is the outcome: the same feature calculation prevents training-serving skew.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50417" y="137160"/>
            <a:ext cx="876246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مخزن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الخصائص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Feature Store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الربط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بالتطبيقات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الوكيلة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Agentic Applications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52010" y="1280160"/>
            <a:ext cx="666086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الوكلاء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يحتاجون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ميزات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لحظية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متسقة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لقرارات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التخصيص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والمخاطر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والتوجيه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Agents need consistent real-time features for personalization, risk, and routing.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مخزن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هو</a:t>
            </a:r>
            <a:r>
              <a:rPr sz="2400" dirty="0">
                <a:solidFill>
                  <a:srgbClr val="333333"/>
                </a:solidFill>
                <a:latin typeface="Arial"/>
              </a:rPr>
              <a:t> «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مصدر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الحقيقة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»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للميزات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أمام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وكيل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ذكي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The feature store is the single source of truth behind any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F69D1D-7A43-8D92-CCEB-24485F2AF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5841"/>
            <a:ext cx="4520540" cy="5811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المشكلة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يحلها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problem does a feature store solve?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فرّق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المخزن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Offline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وOnline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Differentiate offline vs online stores.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اذكر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أداتين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لمخازن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Name two feature-store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انحراف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الميزات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التدريب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وتكرار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العمل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Feature skew between training</a:t>
            </a: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serving and duplicated work.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Offline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للتدريب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التاريخي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Online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فورية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منخفضة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الكمون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Offline for historical training; online for low-latency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Feast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وHopsworks</a:t>
            </a:r>
            <a:r>
              <a:rPr sz="1800" dirty="0">
                <a:solidFill>
                  <a:srgbClr val="333333"/>
                </a:solidFill>
                <a:latin typeface="Arial"/>
              </a:rPr>
              <a:t> (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Tecton</a:t>
            </a:r>
            <a:r>
              <a:rPr sz="1800" dirty="0">
                <a:solidFill>
                  <a:srgbClr val="333333"/>
                </a:solidFill>
                <a:latin typeface="Arial"/>
              </a:rPr>
              <a:t>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Feast and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Hopsworks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(or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Tecton</a:t>
            </a:r>
            <a:r>
              <a:rPr sz="1500" dirty="0">
                <a:solidFill>
                  <a:srgbClr val="666666"/>
                </a:solidFill>
                <a:latin typeface="Calibri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682B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9</a:t>
            </a:r>
            <a:r>
              <a:rPr dirty="0"/>
              <a:t> — </a:t>
            </a:r>
            <a:r>
              <a:rPr lang="en-US" dirty="0"/>
              <a:t>Vector Databases + Applied RAG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V09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التطبيقي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Vector Databases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الفهرسة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استراتيجيات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Indexing: Chunking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Retrieval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Generation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+ 5)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التحسين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Evaluation + Optimization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الأخطاء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الشائعة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03038" y="137160"/>
            <a:ext cx="550984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ar-EG" sz="3000" b="1" dirty="0">
                <a:solidFill>
                  <a:srgbClr val="1F3B5C"/>
                </a:solidFill>
                <a:latin typeface="Arial"/>
              </a:rPr>
              <a:t>مسارات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1)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الفهرسة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2)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الاسترجاع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3)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التوليد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4)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التقييم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5)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التحسين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47852" y="137160"/>
            <a:ext cx="806502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استراتيجيات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تقسيم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النصوص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Chunking Strategies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20040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472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040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472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40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472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040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72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40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472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7132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dirty="0">
                <a:solidFill>
                  <a:srgbClr val="666666"/>
                </a:solidFill>
                <a:latin typeface="Arial"/>
              </a:rPr>
              <a:t>★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التقسيم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التكراري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فصل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بالفقرات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ثم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تقسيم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تجاوز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الأقصى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algn="r" rtl="0"/>
            <a:r>
              <a:rPr dirty="0"/>
              <a:t>★ Recursive: split by paragraphs, then oversized chunks.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2)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الاسترجاع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Retrieval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.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بحث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هجين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كثيف</a:t>
            </a:r>
            <a:r>
              <a:rPr sz="2400" dirty="0">
                <a:solidFill>
                  <a:srgbClr val="333333"/>
                </a:solidFill>
                <a:latin typeface="Arial"/>
              </a:rPr>
              <a:t> (Dense) +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متناثر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(BM25)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يغطي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المعنى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والكلمات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المفتاحية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معًا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Hybrid search: dense + sparse (BM25) covers meaning and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ترتيب</a:t>
            </a:r>
            <a:r>
              <a:rPr sz="2400" dirty="0">
                <a:solidFill>
                  <a:srgbClr val="333333"/>
                </a:solidFill>
                <a:latin typeface="Arial"/>
              </a:rPr>
              <a:t> Cross-encoder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وتحويل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الاستعلام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Multi-Query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يرفعان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النتائج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Cross-encoder reranking and multi-query transformation improve precision.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C7B1AB-0BF7-7352-117D-0D92A7D17614}"/>
              </a:ext>
            </a:extLst>
          </p:cNvPr>
          <p:cNvSpPr/>
          <p:nvPr/>
        </p:nvSpPr>
        <p:spPr>
          <a:xfrm>
            <a:off x="152401" y="3162300"/>
            <a:ext cx="1203960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     </a:t>
            </a:r>
            <a:r>
              <a:rPr lang="ar-EG" sz="3200" b="1" dirty="0">
                <a:solidFill>
                  <a:srgbClr val="1F3B5C"/>
                </a:solidFill>
                <a:latin typeface="Arial"/>
              </a:rPr>
              <a:t>3)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ar-EG" sz="3200" b="1" dirty="0">
                <a:solidFill>
                  <a:srgbClr val="1F3B5C"/>
                </a:solidFill>
                <a:latin typeface="Arial"/>
              </a:rPr>
              <a:t> التوليد   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Generation</a:t>
            </a:r>
            <a:r>
              <a:rPr lang="en-US" b="1" dirty="0">
                <a:solidFill>
                  <a:srgbClr val="1F3B5C"/>
                </a:solidFill>
                <a:latin typeface="Arial"/>
              </a:rPr>
              <a:t>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6898E-1982-3370-F011-CA6303ED9B8E}"/>
              </a:ext>
            </a:extLst>
          </p:cNvPr>
          <p:cNvSpPr txBox="1"/>
          <p:nvPr/>
        </p:nvSpPr>
        <p:spPr>
          <a:xfrm>
            <a:off x="792480" y="4442460"/>
            <a:ext cx="109728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موجِّه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مقيَّد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بالمصادر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المسترجعة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(Grounded Prompting)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الاستشهاد</a:t>
            </a:r>
            <a:r>
              <a:rPr sz="2400" dirty="0">
                <a:solidFill>
                  <a:srgbClr val="333333"/>
                </a:solidFill>
                <a:latin typeface="Arial"/>
              </a:rPr>
              <a:t>: «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أجب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فقط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المرفق</a:t>
            </a:r>
            <a:r>
              <a:rPr sz="2400" dirty="0">
                <a:solidFill>
                  <a:srgbClr val="333333"/>
                </a:solidFill>
                <a:latin typeface="Arial"/>
              </a:rPr>
              <a:t>».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Grounded prompting strictly on retrieved sources with citations: 'answer only from the provided context'.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034" y="137160"/>
            <a:ext cx="800584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نمط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الإجابة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المؤرَّضة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Grounded Answer Pattern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74320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سؤال المتعلِّم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Learner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97480"/>
            <a:ext cx="274320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ما الاستراتيجية الافتراضية للتقسيم؟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Which chunking default should I use?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52044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1960" y="1280160"/>
            <a:ext cx="3063240" cy="10058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أدلة مسترجعة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Retrieved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14600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[1] الفقرات ← الجمل ← التقسيم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[1] paragraphs → sentences → split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310128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[2] التكراري هو الخيار الموصى به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[2] recursive is the recommended default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5236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183879" y="1417320"/>
            <a:ext cx="333756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إجابة موثقة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Grounded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697480"/>
            <a:ext cx="3337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ابدأ بالتقسيم التكراري [1][2]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Start with recursive chunking [1][2]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892040"/>
            <a:ext cx="7818120" cy="6858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دليل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مسترجع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؟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قل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: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أعرف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No retrieved evidence? Say: I don't know.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8313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dirty="0" err="1">
                <a:solidFill>
                  <a:srgbClr val="666666"/>
                </a:solidFill>
                <a:latin typeface="Arial"/>
              </a:rPr>
              <a:t>القاعدة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تتجاوز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الأدلة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واربط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كل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ادعاء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بمصدر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algn="r" rtl="0"/>
            <a:r>
              <a:rPr dirty="0"/>
              <a:t>Rule: do not go beyond the evidence; connect every claim to a source.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>
                <a:solidFill>
                  <a:srgbClr val="1F3B5C"/>
                </a:solidFill>
                <a:latin typeface="Arial"/>
              </a:rPr>
              <a:t>4)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التقييم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+ 5)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التحسين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Evaluation + Optimization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مثلث</a:t>
            </a:r>
            <a:r>
              <a:rPr sz="2400" dirty="0">
                <a:solidFill>
                  <a:srgbClr val="333333"/>
                </a:solidFill>
                <a:latin typeface="Arial"/>
              </a:rPr>
              <a:t> RAG: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(Faithfulness)،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الإجابة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(Answer Relevancy)،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>
                <a:solidFill>
                  <a:srgbClr val="333333"/>
                </a:solidFill>
                <a:latin typeface="Arial"/>
              </a:rPr>
              <a:t>(Context Precision) —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بإطار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>
                <a:solidFill>
                  <a:srgbClr val="333333"/>
                </a:solidFill>
                <a:latin typeface="Arial"/>
              </a:rPr>
              <a:t> RAGAS.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RAG triad: faithfulness, answer relevancy, context precision — measured with RAGAS.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التحسين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تخزين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دلالي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مؤقت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توجيه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الطلبات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النماذج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ومراقبة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مستمرة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Optimization: semantic caching, model routing, continuous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14609" y="137160"/>
            <a:ext cx="679827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مثلث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تقييم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Evaluation Triad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يُقاس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بإطار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RAGAS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الوفاء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يمنع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الهلوسة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والملاءمة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تجعل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الإجابة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نافعة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Measured with RAGAS — faithfulness prevents hallucination; relevancy keeps answers useful.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الأخطاء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الشائعة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Common Pitfalls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1140242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يكسر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الجداول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الأكواد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إهمال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الترتيب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فيضيع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الأكثر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Chunking that breaks tables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code; skipping reranking loses the most relevant hits.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غياب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فيسمح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بالهلوسة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أعلى-ك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أدنى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للدرجة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No faithfulness evaluation allows hallucination; top-k without a score floor.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6D4CD3-BACF-5E76-3A42-FF69C1ACB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71" y="2907068"/>
            <a:ext cx="11779332" cy="395093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استراتيجية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الموصى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افتراضيًا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chunking strategy is the recommended default?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نجمع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البحث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BM25؟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combine dense search with BM25?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مكونات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مثلث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الثلاثة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Name the three parts of the RAG evaluation triad.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وظيفة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الترتيب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Cross-encoder؟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cross-encoder reranking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5.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يقلل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التخزين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الدلالي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المؤقت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How does semantic caching cut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التكراري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Recursive Chunking.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Recursive chunking.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يفهم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المعنى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وBM25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يطابق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الكلمات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النادرة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حرفيًا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Dense captures meaning; BM25 matches rare exact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الإجابة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Faithfulness, answer relevancy, context precision.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4.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يعيد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ترتيب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المرشحين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أدق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لرفع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النتائج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Re-scores candidates with a more accurate model.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5.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يعيد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استخدام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إجابات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الأسئلة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المشابهة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بدل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استدعاء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Reuses answers for similar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7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</a:t>
            </a:r>
            <a:r>
              <a:rPr lang="en-US" dirty="0" err="1"/>
              <a:t>10</a:t>
            </a:r>
            <a:r>
              <a:rPr dirty="0"/>
              <a:t> — </a:t>
            </a:r>
            <a:r>
              <a:rPr lang="en-US" dirty="0"/>
              <a:t>Labeling at Scale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V10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نطاق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واسع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؟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بمساعدة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20022" y="137160"/>
            <a:ext cx="669285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حلقة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جودة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التصنيف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Label Quality Loop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4480560" cy="8229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تسميات متسرعة أو غير متسقة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Rushed or inconsistent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4480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ضوضاء ← نموذج ضعيف ← تصحيحات أكثر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Noise → weak model → more corrections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94960" y="2834640"/>
            <a:ext cx="68580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44805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اقتراح LLM + مراجعة بشرية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suggestion +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68880"/>
            <a:ext cx="448056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موثوقة ← نموذج أفضل ← تغذية راجعة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Trusted labels → better model →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4617720"/>
            <a:ext cx="6080760" cy="713232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 dirty="0" err="1">
                <a:solidFill>
                  <a:srgbClr val="333333"/>
                </a:solidFill>
                <a:latin typeface="Arial"/>
              </a:rPr>
              <a:t>قِس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اتفاق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المقيمين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قبول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Measure reviewer agreement before accepting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ـ LLM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يسرّع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العمل</a:t>
            </a:r>
            <a:r>
              <a:rPr sz="1400" dirty="0">
                <a:solidFill>
                  <a:srgbClr val="666666"/>
                </a:solidFill>
                <a:latin typeface="Arial"/>
              </a:rPr>
              <a:t>؛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الإنسان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يظل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مسؤولًا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القبول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 LLM accelerates work; people remain accountable for acceptance and quality.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الأدوات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Tools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Label Studio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للتعددية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Roboflow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للرؤية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الحاسوبية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Scale AI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للتوسع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المؤسسي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Label Studio for versatility,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Roboflow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8C67AC-F0F8-48C3-F2CA-29A681D746C1}"/>
              </a:ext>
            </a:extLst>
          </p:cNvPr>
          <p:cNvSpPr/>
          <p:nvPr/>
        </p:nvSpPr>
        <p:spPr>
          <a:xfrm>
            <a:off x="12700" y="240030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3200" b="1" dirty="0">
                <a:solidFill>
                  <a:srgbClr val="1F3B5C"/>
                </a:solidFill>
                <a:latin typeface="Arial"/>
              </a:rPr>
              <a:t>التصنيف بمساعدة 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LLM   LLM-assisted Labeling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EAB78-1213-D1B1-6B7B-4D293BDB2096}"/>
              </a:ext>
            </a:extLst>
          </p:cNvPr>
          <p:cNvSpPr txBox="1"/>
          <p:nvPr/>
        </p:nvSpPr>
        <p:spPr>
          <a:xfrm>
            <a:off x="652780" y="3680460"/>
            <a:ext cx="10972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نموذج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لغوي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يقترح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التصنيفات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مبدئيًا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لتسريع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العملية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وخفض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التحقق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البشري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(Human-in-the-loop)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إلزامي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القبول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قياس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اتفاق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البشر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Human-in-the-loop validation is mandatory before acceptance, measuring human–model agreement.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2270" y="137160"/>
            <a:ext cx="1089061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سير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عمل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التصنيف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بمساعدة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ـ LLM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يسرّع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التسمية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والبشر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يضمنون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أفضل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الممارسات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الحديثة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LLM accelerates labeling; humans guarantee quality — modern best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نعتمد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تصنيفات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مباشرة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مراجعة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أداة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تناسب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مشاريع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الرؤية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الحاسوبية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لأن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يخطئ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يتحيز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التحقق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البشري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يضمن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الجودة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The model can err or be biased — human validation guarantees quality.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Roboflow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Roboflow</a:t>
            </a:r>
            <a:r>
              <a:rPr sz="1500" dirty="0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V1</a:t>
            </a:r>
            <a:r>
              <a:rPr lang="en-US" dirty="0" err="1"/>
              <a:t>1</a:t>
            </a:r>
            <a:r>
              <a:rPr dirty="0"/>
              <a:t> — </a:t>
            </a:r>
            <a:r>
              <a:rPr lang="en-US" dirty="0"/>
              <a:t>Data Governance, Lineage &amp; Cataloging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V11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وسلسلة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والفهرسة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والفهرسة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Governance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المرجعية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(1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 Reference Architecture (1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المرجعية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(2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 Reference Architecture (2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الحوكمة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والفهرسة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Governance &amp; Cataloging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سلسلة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(Lineage)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تتبع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أصل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وتحولاتها</a:t>
            </a:r>
            <a:r>
              <a:rPr sz="1900" dirty="0">
                <a:solidFill>
                  <a:srgbClr val="333333"/>
                </a:solidFill>
                <a:latin typeface="Arial"/>
              </a:rPr>
              <a:t>؛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الفهرسة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تجعلها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قابلة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للاكتشاف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Lineage traces data origin and transformations; cataloging makes it discoverable.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: Apache Atlas، Collibra،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DataHub</a:t>
            </a:r>
            <a:r>
              <a:rPr lang="en-US" sz="1900" dirty="0">
                <a:solidFill>
                  <a:srgbClr val="333333"/>
                </a:solidFill>
                <a:latin typeface="Arial"/>
              </a:rPr>
              <a:t>, </a:t>
            </a:r>
            <a:r>
              <a:rPr lang="en-US" sz="1900" dirty="0" err="1">
                <a:solidFill>
                  <a:srgbClr val="333333"/>
                </a:solidFill>
                <a:latin typeface="Arial"/>
              </a:rPr>
              <a:t>OpenMetaData</a:t>
            </a:r>
            <a:r>
              <a:rPr lang="en-US" sz="1900" dirty="0">
                <a:solidFill>
                  <a:srgbClr val="333333"/>
                </a:solidFill>
                <a:latin typeface="Arial"/>
              </a:rPr>
              <a:t>. 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Tools: Apache Atlas, Collibra,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DataHub</a:t>
            </a:r>
            <a:r>
              <a:rPr lang="en-US" sz="1600" dirty="0">
                <a:solidFill>
                  <a:srgbClr val="666666"/>
                </a:solidFill>
                <a:latin typeface="Calibri"/>
              </a:rPr>
              <a:t>, </a:t>
            </a:r>
            <a:r>
              <a:rPr lang="en-US" sz="1600" dirty="0" err="1">
                <a:solidFill>
                  <a:srgbClr val="666666"/>
                </a:solidFill>
                <a:latin typeface="Calibri"/>
              </a:rPr>
              <a:t>OpenMetaData</a:t>
            </a:r>
            <a:endParaRPr sz="160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31005" y="137160"/>
            <a:ext cx="638187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سلسلة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العهدة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Lineage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874519"/>
            <a:ext cx="2560320" cy="8686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 dirty="0">
                <a:solidFill>
                  <a:srgbClr val="333333"/>
                </a:solidFill>
                <a:latin typeface="Arial"/>
              </a:rPr>
              <a:t>CRM </a:t>
            </a:r>
            <a:r>
              <a:rPr lang="en-EG"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2783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1874519"/>
            <a:ext cx="2560320" cy="8686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Transform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تنظيف + توحيد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0819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55080" y="1874519"/>
            <a:ext cx="256032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منتج بيانات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مخطط + مالك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235440" y="1874519"/>
            <a:ext cx="2560320" cy="8686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استهلاك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Consume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 dirty="0" err="1">
                <a:solidFill>
                  <a:srgbClr val="333333"/>
                </a:solidFill>
                <a:latin typeface="Arial"/>
              </a:rPr>
              <a:t>لوحة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333333"/>
                </a:solidFill>
                <a:latin typeface="Arial"/>
              </a:rPr>
              <a:t>نموذج</a:t>
            </a:r>
            <a:endParaRPr sz="12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286000" y="4709160"/>
            <a:ext cx="7635240" cy="7315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لكل خطوة: مالك + وقت + سياسة + أثر التغيير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For every step: owner + time + policy + change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اسأل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«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أين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جاءت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هذه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النتيجة</a:t>
            </a:r>
            <a:r>
              <a:rPr sz="1400" dirty="0">
                <a:solidFill>
                  <a:srgbClr val="666666"/>
                </a:solidFill>
                <a:latin typeface="Arial"/>
              </a:rPr>
              <a:t>؟»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ثم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اتبع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السلسلة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إلى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المصدر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Ask “where did this result come from?” then follow the chain to its source.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GenAI Reference Architecture (1</a:t>
            </a:r>
            <a:r>
              <a:rPr lang="en-EG"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2)</a:t>
            </a:r>
            <a:r>
              <a:rPr lang="en-US" sz="2400" b="1" dirty="0">
                <a:solidFill>
                  <a:srgbClr val="1F3B5C"/>
                </a:solidFill>
                <a:latin typeface="Arial"/>
              </a:rPr>
              <a:t>  </a:t>
            </a:r>
            <a:endParaRPr sz="24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منصة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GenAI: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نافذة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بكتالوج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حلول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ومحفظة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POC → MVP → PROD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موثقة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A. Portal: unified pane of glass with a solution catalog and documented POC → MVP → PROD portfolio.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الأتمتة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والامتثال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خطوط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CI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CD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ببوابات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تحكم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آلية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وموافقات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مرحلية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وفق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DevSecOps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B. Automation &amp; compliance: CI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CD with automated control gates and stage-gate approvals (</a:t>
            </a:r>
            <a:r>
              <a:rPr sz="2000" dirty="0" err="1">
                <a:solidFill>
                  <a:srgbClr val="666666"/>
                </a:solidFill>
                <a:latin typeface="Calibri"/>
              </a:rPr>
              <a:t>DevSecOps</a:t>
            </a:r>
            <a:r>
              <a:rPr sz="2000" dirty="0">
                <a:solidFill>
                  <a:srgbClr val="666666"/>
                </a:solidFill>
                <a:latin typeface="Calibri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(2</a:t>
            </a:r>
            <a:r>
              <a:rPr lang="en-EG"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2) </a:t>
            </a:r>
            <a:r>
              <a:rPr lang="en-EG"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GenAI Reference Architecture </a:t>
            </a:r>
            <a:r>
              <a:rPr lang="en-US" sz="2800" b="1" dirty="0">
                <a:solidFill>
                  <a:srgbClr val="1F3B5C"/>
                </a:solidFill>
                <a:latin typeface="Arial"/>
              </a:rPr>
              <a:t> </a:t>
            </a:r>
            <a:endParaRPr sz="28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الخدمات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المشتركة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AI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مكتبة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موجِّهات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خدمة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التغذية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الراجعة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LLM،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حواجز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حماية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Guardrails.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C. Shared services: unified AI gateway, prompt library, feedback service, LLM audit database, guardrails.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الحوكمة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والمراقبة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أمن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الذكاء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المسؤول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(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التحيّز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والهلوسة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وإدارة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التكاليف</a:t>
            </a:r>
            <a:r>
              <a:rPr sz="2400" dirty="0">
                <a:solidFill>
                  <a:srgbClr val="333333"/>
                </a:solidFill>
                <a:latin typeface="Arial"/>
              </a:rPr>
              <a:t> FinOps.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D. Governance &amp; monitoring: data security, responsible AI (bias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hallucination audits), FinOps.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23369" y="137160"/>
            <a:ext cx="1038951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GenAI Reference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 dirty="0" err="1">
                <a:solidFill>
                  <a:srgbClr val="333333"/>
                </a:solidFill>
                <a:latin typeface="Arial"/>
              </a:rPr>
              <a:t>ب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.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الأتمتة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والامتثال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B. Automation &amp; Compliance — CI</a:t>
            </a:r>
            <a:r>
              <a:rPr lang="en-EG" sz="1300" dirty="0">
                <a:solidFill>
                  <a:srgbClr val="666666"/>
                </a:solidFill>
                <a:latin typeface="Calibri"/>
              </a:rPr>
              <a:t> </a:t>
            </a:r>
            <a:r>
              <a:rPr sz="1300" dirty="0">
                <a:solidFill>
                  <a:srgbClr val="666666"/>
                </a:solidFill>
                <a:latin typeface="Calibri"/>
              </a:rPr>
              <a:t>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النمط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المرجعي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المؤسسي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(McKinsey)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نافذة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موحدة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فوق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خدمات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مشتركة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محكومة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Enterprise reference pattern (McKinsey) — a unified pane over governed shared services.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وظيفة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الموحدة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(AI Gateway)؟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a unified AI gateway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نحتاج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لنماذج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keep an LLM audit database?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CI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CD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is CI</a:t>
            </a: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CD's role in GenAI governance?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نقطة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دخول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تفرض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المصادقة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والحدود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والتسجيل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الاستدعاءات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 single entry point enforcing auth, limits, and logging for all calls.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لتتبع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الموجِّهات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والإجابات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والامتثال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والتحقيق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الحوادث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To trace prompts</a:t>
            </a: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answers for compliance and investigation.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بوابات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تحكم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وموافقات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مرحلية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آلية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الإنتاج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Automated control gates and approvals before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9B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V1</a:t>
            </a:r>
            <a:r>
              <a:rPr lang="en-US" dirty="0" err="1"/>
              <a:t>2</a:t>
            </a:r>
            <a:r>
              <a:rPr dirty="0"/>
              <a:t> — </a:t>
            </a:r>
            <a:r>
              <a:rPr lang="en-US" dirty="0" err="1"/>
              <a:t>MLOps</a:t>
            </a:r>
            <a:r>
              <a:rPr lang="en-US" dirty="0"/>
              <a:t> Fundamentals + Lab Introduction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V12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للمختبر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MLOps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Fundamentals + Lab Introduction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&amp;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تمييز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المفاهيم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Concept Distinctions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الوكيلي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Agentic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والأداء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عمليًا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Practical Cost &amp; Performance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للمختبر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L03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2C7AA7-7814-C764-E067-442FE6311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6" y="1900336"/>
            <a:ext cx="6278834" cy="2762687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91918" y="137160"/>
            <a:ext cx="63209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دورة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حياة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MLOps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MLOps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Lifecycle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تجربة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Experiment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6032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34640" y="1965960"/>
            <a:ext cx="2011680" cy="1143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تحقق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Validate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9204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66360" y="1965960"/>
            <a:ext cx="2011680" cy="11430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نشر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Deploy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0" y="1965960"/>
            <a:ext cx="201168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مراقبة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Monitor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5548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82980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إعادة 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023360"/>
            <a:ext cx="832104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سجّل الإصدارات والقياسات في كل مرحلة — ثم أعد التعلم من الإنتاج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Record versions and metrics at every stage — then learn again from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lang="en-US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MLOps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ليس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«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نشرًا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»؛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إنه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حلقة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قابلة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للقياس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والتحسين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 err="1"/>
              <a:t>MLOps</a:t>
            </a:r>
            <a:r>
              <a:rPr dirty="0"/>
              <a:t> is not “deploy once”; it is a measurable improvement loop.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511E2-BFBC-1541-37F5-1DD69FC4DB3C}"/>
              </a:ext>
            </a:extLst>
          </p:cNvPr>
          <p:cNvSpPr txBox="1"/>
          <p:nvPr/>
        </p:nvSpPr>
        <p:spPr>
          <a:xfrm>
            <a:off x="640080" y="1051560"/>
            <a:ext cx="10972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MLflow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لتتبع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التجارب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والنماذج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Kubeflow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لأتمتة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الخطوط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DVC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لإصدارات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MLflow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for tracking, Kubeflow for pipeline automation, DVC for data versioning.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تمييز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المفاهيم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Concept Distinctions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LLM: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يرمّز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ويتنبأ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بالرموز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التالية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الذكاء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يولّد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محتوى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جديدًا</a:t>
            </a:r>
            <a:r>
              <a:rPr sz="2400" dirty="0">
                <a:solidFill>
                  <a:srgbClr val="333333"/>
                </a:solidFill>
                <a:latin typeface="Arial"/>
              </a:rPr>
              <a:t> (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نص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صورة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صوت</a:t>
            </a:r>
            <a:r>
              <a:rPr sz="2400" dirty="0">
                <a:solidFill>
                  <a:srgbClr val="333333"/>
                </a:solidFill>
                <a:latin typeface="Arial"/>
              </a:rPr>
              <a:t>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LLM: predicts next tokens. Generative AI: generates new content (text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image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audio).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الوكلاء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يكشفون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ويستدعون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الأدوات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الأنظمة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الوكيلة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تخطيط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ذاتي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وتنفيذ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متعدد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الخطوات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للنتائج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Agents: detect intent and call tools. Agentic AI: self-directed multi-step planning with outcome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64716" y="137160"/>
            <a:ext cx="87481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إلى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الأنظمة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الوكيلة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From LLM to Agentic AI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lang="en-US" sz="1400" dirty="0">
                <a:solidFill>
                  <a:srgbClr val="666666"/>
                </a:solidFill>
                <a:latin typeface="Arial"/>
              </a:rPr>
              <a:t>  </a:t>
            </a:r>
            <a:r>
              <a:rPr sz="1400" dirty="0">
                <a:solidFill>
                  <a:srgbClr val="666666"/>
                </a:solidFill>
                <a:latin typeface="Arial"/>
              </a:rPr>
              <a:t>Agentic RAG = </a:t>
            </a:r>
            <a:r>
              <a:rPr lang="en-US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بحث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متجهي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+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جلب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عبر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الواجهات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بذاكرة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متجددة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وتحقق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قبل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التسليم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Agentic RAG = vector search + API fetching with refreshed memory and verification.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>
                <a:solidFill>
                  <a:srgbClr val="1F3B5C"/>
                </a:solidFill>
                <a:latin typeface="Arial"/>
              </a:rPr>
              <a:t>RAG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الوكيلي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Agentic RAG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يجمع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البحث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المتجهي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وجلب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عبر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الواجهات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عملية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متعددة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الخطوات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بذاكرة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محدَّثة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وتحقق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النتائج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التسليم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Combines vector search and API fetching in multi-step flows, with refreshed memory and verification before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التكلفة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والأداء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عمليًا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Practical Cost &amp; Performance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التضمين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(Embedding)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أقل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بمرتبة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كاملة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(Generation)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Embedding costs an order of magnitude less than generation — retrieval is cheaper than generation.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التخزين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الدلالي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المؤقت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يخفض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الكمون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توجيه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الطلبات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يرسل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المهام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البسيطة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لنماذج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أصغر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Semantic caching cuts latency and cost; routing sends easy tasks to smaller, cheaper models.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FinOps: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قِس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لكل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طلب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(per-request)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التوسع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FinOps rule: measure per-request cost before scaling.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6648" y="137160"/>
            <a:ext cx="110562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التكلفة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عمليًا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التضمين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التوليد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Cost: Embedding vs Generation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قاعدة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FinOps: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قِس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التكلفة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لكل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طلب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قبل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التوسع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FinOps rule: measure per-request cost before scaling.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94484" y="137160"/>
            <a:ext cx="701839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مختبر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خط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ETL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etl_pipeline.py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):‏ Bronze ‏(SQLite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 ← Silver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تنظيف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تقسيم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500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50) ← Gold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ChromaDB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HNSW cosine،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دفعات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10)</a:t>
            </a: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ETL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etl_pipeline.py</a:t>
            </a:r>
            <a:r>
              <a:rPr sz="1200" dirty="0">
                <a:solidFill>
                  <a:srgbClr val="666666"/>
                </a:solidFill>
                <a:latin typeface="Calibri"/>
              </a:rPr>
              <a:t>): Bronze (raw SQLite) → Silver (clean + 500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50 chunk) → Gold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ChromaDB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الواجهة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streamlit_ui.py:8501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):‏ 5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تبويبات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ثنائية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—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رفع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مستندات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استعلام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حول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—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تُعيد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استخدام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نفس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عميل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Chroma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حذف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المجموعة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وإعادة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إنشائها</a:t>
            </a:r>
            <a:endParaRPr sz="15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Frontend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streamlit_ui.py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:8501): 5 bilingual tabs — upload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docs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query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eval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المخازن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: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l03_lab.db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bronze_docs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silver_chunks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)‏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chroma_db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gold_chunks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بُعد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384)‏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golden_dataset.json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+ env.‏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للمفتاح</a:t>
            </a:r>
            <a:endParaRPr sz="15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Stores: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l03_lab.db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bronze_docs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silver_chunks</a:t>
            </a:r>
            <a:r>
              <a:rPr sz="1200" dirty="0">
                <a:solidFill>
                  <a:srgbClr val="666666"/>
                </a:solidFill>
                <a:latin typeface="Calibri"/>
              </a:rPr>
              <a:t>) +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chroma_db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gold_chunks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dim 384) +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golden_dataset.json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+ .env for keys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29640" y="137160"/>
            <a:ext cx="668324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تشغيل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مختبر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Running the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>
                <a:solidFill>
                  <a:srgbClr val="333333"/>
                </a:solidFill>
                <a:latin typeface="Calibri"/>
              </a:rPr>
              <a:t>cd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l03_lab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 +  source .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venv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bin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>
                <a:solidFill>
                  <a:srgbClr val="333333"/>
                </a:solidFill>
                <a:latin typeface="Calibri"/>
              </a:rPr>
              <a:t>.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run_ui.sh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  →   http: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localhost:8501</a:t>
            </a:r>
            <a:endParaRPr sz="1500" b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 err="1">
                <a:solidFill>
                  <a:srgbClr val="333333"/>
                </a:solidFill>
                <a:latin typeface="Calibri"/>
              </a:rPr>
              <a:t>uvicorn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rag_api:app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--reload   →   http: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localhost:8000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دائمًا من داخل الـ venv — التشغيل الخارجي يسبب segfault.</a:t>
            </a:r>
          </a:p>
          <a:p>
            <a:pPr algn="r" rtl="0"/>
            <a:r>
              <a:t>Always inside the venv — outside env segfaults.</a:t>
            </a:r>
          </a:p>
        </p:txBody>
      </p:sp>
    </p:spTree>
    <p:extLst>
      <p:ext uri="{BB962C8B-B14F-4D97-AF65-F5344CB8AC3E}">
        <p14:creationId xmlns:p14="http://schemas.microsoft.com/office/powerpoint/2010/main" val="4787600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فرّق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 Agent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وAgentic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Differentiate an AI agent from agentic AI.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تضمين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is cheaper: embedding or generation?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تتبع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التجارب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وإصدارات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tools track experiments and version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الوكيل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يستجيب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ويستدعي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الوكيلي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ذاتيًا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وينفذ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خطوات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متعددة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ويتكيف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An agent responds and calls tools; agentic AI self-plans multi-step execution.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التضمين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أقل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بتكلفة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مرتبة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كاملة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Embedding — roughly an order of magnitude cheaper.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MLflow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للتتبع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وDVC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لإصدارات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MLflow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for tracking,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A0FD11-4B73-E406-5DCD-86A6F5F058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537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4B0405-FBAA-9116-A3EA-FEC3F648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8AE5F-241E-168F-0B9B-F9C7EC70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156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5F7FED-6D77-CECC-0E1C-63B932726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B382C9-BFB1-2F36-4A3C-16B90BB1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919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92E497-A12C-3EDA-8E98-ED30AAFC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91C2EC-160F-5091-2AB2-DBA4DB26CC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8861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6D553-A78A-DACA-BB4C-5D48858C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538720-3043-239C-A7D9-3DDC5AC2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447"/>
            <a:ext cx="12168188" cy="687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7350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44299F-B682-1E2E-C2FD-0A318AC0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FC13FD-A8E6-5A9D-3D63-416032928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145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1DFDF9-B9FD-1B9E-BFA3-2A610C2D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3CCD00-67F1-9683-2BF2-90028971C8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91861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FC979-4038-345D-8DF8-D19E25384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BD3689-54CE-2E69-5E2E-F3264482B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1731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A6153-308D-9EA9-09DD-BF805248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6A7704-137C-21A0-DC22-D93CB7D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622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E2014-08E9-B4A6-670A-764EAB5BB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3A1A00-13FC-A8E6-14BB-DF65D7F2C1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34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D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en-US" dirty="0"/>
              <a:t>Glossary</a:t>
            </a:r>
            <a:endParaRPr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78379" y="137160"/>
            <a:ext cx="543450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البيانات والتخزين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&amp;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234440"/>
            <a:ext cx="3474720" cy="10972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234440"/>
            <a:ext cx="347472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RAG والاسترجاع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RAG &amp;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3429000"/>
            <a:ext cx="3474720" cy="10972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42900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331720"/>
            <a:ext cx="452628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تعلم المصطلحات كمجموعات مترابطة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Learn terms as connected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استخدم هذه الخريطة قبل الرجوع إلى التعريفات التفصيلية.</a:t>
            </a:r>
          </a:p>
          <a:p>
            <a:pPr algn="r" rtl="0"/>
            <a:r>
              <a:t>Use this map before returning to the detailed definitions.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(1)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خط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ar-EG" sz="1700" b="1" dirty="0">
                <a:solidFill>
                  <a:srgbClr val="333333"/>
                </a:solidFill>
                <a:latin typeface="Arial"/>
              </a:rPr>
              <a:t>مسارات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البيانات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(2)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معمارية بحيرة البيانات الموحدة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Lakehouse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شبكة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منتج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عقد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سلسلة العهدة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Lineage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فهرس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الكتالوج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Catalog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(3)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هندسة الخصائص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مخزن الخصائص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Store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انحراف الميزات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Skew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قاعدة البيانات المتجهية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Vector 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التمثيل المتجهي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Embedding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التقريبي لأقرب الجيران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ANN (Approximate Nearest Neighbor)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(4)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فهرس HNSW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HNSW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التكراري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Recursive Chunking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الدلالي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Chunking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الهجين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Hybrid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البحث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المتناثر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 dirty="0">
                <a:solidFill>
                  <a:srgbClr val="666666"/>
                </a:solidFill>
                <a:latin typeface="Calibri"/>
              </a:rPr>
              <a:t>Dense </a:t>
            </a:r>
            <a:r>
              <a:rPr lang="en-EG" sz="15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666666"/>
                </a:solidFill>
                <a:latin typeface="Calibri"/>
              </a:rPr>
              <a:t> Sparse Retrieval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إعادة الترتيب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Reranking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(5)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الموجِّه المقيَّد بالمصادر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Grounded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التوليد المعزَّز بالاسترجاع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RAG (Retrieval-Augmented Generation)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RAG الوكيلي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Agentic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دقة السياق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(6)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التخزين الدلالي المؤقت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عميل ChromaDB واحد (لا قفل SQLite)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Single ChromaDB client (no SQLite lock)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حذف المجموعة وإعادة إنشائها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Drop &amp; recreate collection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الترميز بدفعات (10)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Batched encoding (10)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توجيه الطلبات بين النماذج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Model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التصنيف بمساعدة النموذج اللغوي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LLM-assisted Labeling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(7)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التحقق البشري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Human-in-the-loop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بوابة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مكتبة الموجِّهات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Prompt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حواجز الحماية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Guardrails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الذكاء الاصطناعي المسؤول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Responsible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إدارة التكاليف السحابية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FinOps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(8)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5485</Words>
  <Application>Microsoft Macintosh PowerPoint</Application>
  <PresentationFormat>Widescreen</PresentationFormat>
  <Paragraphs>796</Paragraphs>
  <Slides>89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4" baseType="lpstr">
      <vt:lpstr>Aptos</vt:lpstr>
      <vt:lpstr>Arial</vt:lpstr>
      <vt:lpstr>Calibri</vt:lpstr>
      <vt:lpstr>Helvetica Neue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81</cp:revision>
  <dcterms:created xsi:type="dcterms:W3CDTF">2013-01-27T09:14:16Z</dcterms:created>
  <dcterms:modified xsi:type="dcterms:W3CDTF">2026-09-10T14:44:21Z</dcterms:modified>
  <cp:category/>
</cp:coreProperties>
</file>