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5" r:id="rId15"/>
    <p:sldId id="277" r:id="rId16"/>
    <p:sldId id="279" r:id="rId17"/>
    <p:sldId id="282" r:id="rId18"/>
    <p:sldId id="283" r:id="rId19"/>
    <p:sldId id="284" r:id="rId20"/>
    <p:sldId id="285" r:id="rId21"/>
    <p:sldId id="287" r:id="rId22"/>
    <p:sldId id="288" r:id="rId23"/>
    <p:sldId id="289" r:id="rId24"/>
    <p:sldId id="291" r:id="rId25"/>
    <p:sldId id="294" r:id="rId26"/>
    <p:sldId id="295" r:id="rId27"/>
    <p:sldId id="296" r:id="rId28"/>
    <p:sldId id="297" r:id="rId29"/>
    <p:sldId id="299" r:id="rId30"/>
    <p:sldId id="300" r:id="rId31"/>
    <p:sldId id="301" r:id="rId32"/>
    <p:sldId id="303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64" r:id="rId78"/>
    <p:sldId id="349" r:id="rId79"/>
    <p:sldId id="350" r:id="rId80"/>
    <p:sldId id="352" r:id="rId81"/>
    <p:sldId id="353" r:id="rId82"/>
    <p:sldId id="354" r:id="rId83"/>
    <p:sldId id="355" r:id="rId84"/>
    <p:sldId id="356" r:id="rId85"/>
    <p:sldId id="357" r:id="rId86"/>
    <p:sldId id="358" r:id="rId87"/>
    <p:sldId id="359" r:id="rId88"/>
    <p:sldId id="360" r:id="rId89"/>
    <p:sldId id="361" r:id="rId90"/>
    <p:sldId id="362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2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Module 02: Data Engineering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4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C8DCFF"/>
                </a:solidFill>
              </a:defRPr>
            </a:pPr>
            <a:r>
              <a:rPr dirty="0" err="1"/>
              <a:t>وحدة</a:t>
            </a:r>
            <a:r>
              <a:rPr dirty="0"/>
              <a:t> 02: </a:t>
            </a:r>
            <a:r>
              <a:rPr dirty="0" err="1"/>
              <a:t>هندسة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للذكاء</a:t>
            </a:r>
            <a:r>
              <a:rPr dirty="0"/>
              <a:t> </a:t>
            </a:r>
            <a:r>
              <a:rPr dirty="0" err="1"/>
              <a:t>الاصطناعي</a:t>
            </a:r>
            <a:endParaRPr dirty="0"/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7 Modules + Lab + Glossary 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825731" y="5943600"/>
            <a:ext cx="25374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D7EE"/>
                </a:solidFill>
              </a:defRPr>
            </a:pPr>
            <a:r>
              <a:rPr dirty="0"/>
              <a:t>Interactive Learning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V06</a:t>
            </a:r>
            <a:r>
              <a:rPr sz="2400" dirty="0">
                <a:solidFill>
                  <a:srgbClr val="333333"/>
                </a:solidFill>
                <a:latin typeface="Arial"/>
              </a:rPr>
              <a:t> —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أساسيات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البيانات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666666"/>
                </a:solidFill>
                <a:latin typeface="Calibri"/>
              </a:rPr>
              <a:t>• </a:t>
            </a:r>
            <a:r>
              <a:rPr dirty="0" err="1">
                <a:solidFill>
                  <a:srgbClr val="666666"/>
                </a:solidFill>
                <a:latin typeface="Calibri"/>
              </a:rPr>
              <a:t>V06</a:t>
            </a:r>
            <a:r>
              <a:rPr dirty="0">
                <a:solidFill>
                  <a:srgbClr val="666666"/>
                </a:solidFill>
                <a:latin typeface="Calibri"/>
              </a:rPr>
              <a:t> — Data Fundamentals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خريطة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المسار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 </a:t>
            </a:r>
            <a:r>
              <a:rPr sz="2400" dirty="0">
                <a:solidFill>
                  <a:srgbClr val="333333"/>
                </a:solidFill>
                <a:latin typeface="Arial"/>
              </a:rPr>
              <a:t> / Roadmap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أنواع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  </a:t>
            </a:r>
            <a:r>
              <a:rPr sz="2400" dirty="0">
                <a:solidFill>
                  <a:srgbClr val="333333"/>
                </a:solidFill>
                <a:latin typeface="Arial"/>
              </a:rPr>
              <a:t> / Data Types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التنسيقات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 / Formats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lang="ar-EG" sz="2400" dirty="0">
                <a:solidFill>
                  <a:srgbClr val="333333"/>
                </a:solidFill>
                <a:latin typeface="Arial"/>
              </a:rPr>
              <a:t>مسارات </a:t>
            </a:r>
            <a:r>
              <a:rPr sz="2400" dirty="0">
                <a:solidFill>
                  <a:srgbClr val="333333"/>
                </a:solidFill>
                <a:latin typeface="Arial"/>
              </a:rPr>
              <a:t> ETL / ELT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مقارنة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أنماط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المعالجة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/ Processing Patterns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جدول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المقارنة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السريع</a:t>
            </a:r>
            <a:r>
              <a:rPr sz="2400" dirty="0">
                <a:solidFill>
                  <a:srgbClr val="333333"/>
                </a:solidFill>
                <a:latin typeface="Arial"/>
              </a:rPr>
              <a:t> / Quick Comparison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endParaRPr sz="240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2/13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Arial"/>
              </a:rPr>
              <a:t>وحدات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المقرر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 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/ Course Modules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V06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أساسيات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dirty="0">
                <a:solidFill>
                  <a:srgbClr val="333333"/>
                </a:solidFill>
                <a:latin typeface="Arial"/>
              </a:rPr>
              <a:t> / Data Fundamentals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V07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المستودعات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والبحيرات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ومعمارية</a:t>
            </a:r>
            <a:r>
              <a:rPr dirty="0">
                <a:solidFill>
                  <a:srgbClr val="333333"/>
                </a:solidFill>
                <a:latin typeface="Arial"/>
              </a:rPr>
              <a:t> Lakehouse / Warehouses, Data Lakes &amp; Lakehouse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V08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هندسة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الخصائص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ومخازنها</a:t>
            </a:r>
            <a:r>
              <a:rPr dirty="0">
                <a:solidFill>
                  <a:srgbClr val="333333"/>
                </a:solidFill>
                <a:latin typeface="Arial"/>
              </a:rPr>
              <a:t> / Feature Engineering &amp; Feature Stores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V09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قواعد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المتجهية</a:t>
            </a:r>
            <a:r>
              <a:rPr dirty="0">
                <a:solidFill>
                  <a:srgbClr val="333333"/>
                </a:solidFill>
                <a:latin typeface="Arial"/>
              </a:rPr>
              <a:t> + RAG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التطبيقي</a:t>
            </a:r>
            <a:r>
              <a:rPr dirty="0">
                <a:solidFill>
                  <a:srgbClr val="333333"/>
                </a:solidFill>
                <a:latin typeface="Arial"/>
              </a:rPr>
              <a:t> /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V10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تصنيف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على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نطاق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واسع</a:t>
            </a:r>
            <a:r>
              <a:rPr dirty="0">
                <a:solidFill>
                  <a:srgbClr val="333333"/>
                </a:solidFill>
                <a:latin typeface="Arial"/>
              </a:rPr>
              <a:t> / Labeling at Scale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V11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حوكمة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وسلسلة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العهدة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والفهرسة</a:t>
            </a:r>
            <a:r>
              <a:rPr dirty="0">
                <a:solidFill>
                  <a:srgbClr val="333333"/>
                </a:solidFill>
                <a:latin typeface="Arial"/>
              </a:rPr>
              <a:t> / Data Governance, Lineage &amp; Cataloging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333333"/>
                </a:solidFill>
                <a:latin typeface="Arial"/>
              </a:rPr>
              <a:t>• </a:t>
            </a:r>
            <a:r>
              <a:rPr dirty="0" err="1">
                <a:solidFill>
                  <a:srgbClr val="333333"/>
                </a:solidFill>
                <a:latin typeface="Arial"/>
              </a:rPr>
              <a:t>V12</a:t>
            </a:r>
            <a:r>
              <a:rPr dirty="0">
                <a:solidFill>
                  <a:srgbClr val="333333"/>
                </a:solidFill>
                <a:latin typeface="Arial"/>
              </a:rPr>
              <a:t> — </a:t>
            </a:r>
            <a:r>
              <a:rPr dirty="0" err="1">
                <a:solidFill>
                  <a:srgbClr val="333333"/>
                </a:solidFill>
                <a:latin typeface="Arial"/>
              </a:rPr>
              <a:t>أساسيات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MLOps</a:t>
            </a:r>
            <a:r>
              <a:rPr dirty="0">
                <a:solidFill>
                  <a:srgbClr val="333333"/>
                </a:solidFill>
                <a:latin typeface="Arial"/>
              </a:rPr>
              <a:t> + </a:t>
            </a:r>
            <a:r>
              <a:rPr dirty="0" err="1">
                <a:solidFill>
                  <a:srgbClr val="333333"/>
                </a:solidFill>
                <a:latin typeface="Arial"/>
              </a:rPr>
              <a:t>تمهيد</a:t>
            </a:r>
            <a:r>
              <a:rPr dirty="0">
                <a:solidFill>
                  <a:srgbClr val="333333"/>
                </a:solidFill>
                <a:latin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</a:rPr>
              <a:t>للمختبر</a:t>
            </a:r>
            <a:r>
              <a:rPr dirty="0">
                <a:solidFill>
                  <a:srgbClr val="333333"/>
                </a:solidFill>
                <a:latin typeface="Arial"/>
              </a:rPr>
              <a:t> / </a:t>
            </a:r>
            <a:r>
              <a:rPr dirty="0" err="1">
                <a:solidFill>
                  <a:srgbClr val="333333"/>
                </a:solidFill>
                <a:latin typeface="Arial"/>
              </a:rPr>
              <a:t>MLOps</a:t>
            </a:r>
            <a:r>
              <a:rPr dirty="0">
                <a:solidFill>
                  <a:srgbClr val="333333"/>
                </a:solidFill>
                <a:latin typeface="Arial"/>
              </a:rPr>
              <a:t> Fundamentals + Lab Introduction</a:t>
            </a:r>
            <a:r>
              <a:rPr lang="en-US" dirty="0">
                <a:solidFill>
                  <a:srgbClr val="333333"/>
                </a:solidFill>
                <a:latin typeface="Arial"/>
              </a:rPr>
              <a:t> </a:t>
            </a:r>
            <a:endParaRPr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4/13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5AEDC0-A51B-8277-2AE8-D9F725D903F7}"/>
              </a:ext>
            </a:extLst>
          </p:cNvPr>
          <p:cNvSpPr/>
          <p:nvPr/>
        </p:nvSpPr>
        <p:spPr>
          <a:xfrm>
            <a:off x="502920" y="44856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البيانات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Data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662F9941-5774-4EA0-31B9-D46973B2BF45}"/>
              </a:ext>
            </a:extLst>
          </p:cNvPr>
          <p:cNvSpPr/>
          <p:nvPr/>
        </p:nvSpPr>
        <p:spPr>
          <a:xfrm>
            <a:off x="1746504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4FA325-D073-7A9D-72FA-FA37D1A23A3B}"/>
              </a:ext>
            </a:extLst>
          </p:cNvPr>
          <p:cNvSpPr/>
          <p:nvPr/>
        </p:nvSpPr>
        <p:spPr>
          <a:xfrm>
            <a:off x="1883664" y="44856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التخزين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Storage</a:t>
            </a: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84A7F68B-A26A-E8C6-6076-3FBB6B23C661}"/>
              </a:ext>
            </a:extLst>
          </p:cNvPr>
          <p:cNvSpPr/>
          <p:nvPr/>
        </p:nvSpPr>
        <p:spPr>
          <a:xfrm>
            <a:off x="3127248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FCA2F2-FF5D-5082-26D5-11134A56FF39}"/>
              </a:ext>
            </a:extLst>
          </p:cNvPr>
          <p:cNvSpPr/>
          <p:nvPr/>
        </p:nvSpPr>
        <p:spPr>
          <a:xfrm>
            <a:off x="3264408" y="44856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ADD5BF94-6C4B-8428-263D-AC61C98AFA7B}"/>
              </a:ext>
            </a:extLst>
          </p:cNvPr>
          <p:cNvSpPr/>
          <p:nvPr/>
        </p:nvSpPr>
        <p:spPr>
          <a:xfrm>
            <a:off x="4507992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183B6F-1EEE-E04B-8E13-80BE0440918B}"/>
              </a:ext>
            </a:extLst>
          </p:cNvPr>
          <p:cNvSpPr/>
          <p:nvPr/>
        </p:nvSpPr>
        <p:spPr>
          <a:xfrm>
            <a:off x="4645152" y="44856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الفهارس المتجهية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Vector Indexes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6EFA0D59-CB58-52C2-DFB3-0A7EF8DAF084}"/>
              </a:ext>
            </a:extLst>
          </p:cNvPr>
          <p:cNvSpPr/>
          <p:nvPr/>
        </p:nvSpPr>
        <p:spPr>
          <a:xfrm>
            <a:off x="5888736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11C77A7-1AAA-1657-7A00-002BD767D34F}"/>
              </a:ext>
            </a:extLst>
          </p:cNvPr>
          <p:cNvSpPr/>
          <p:nvPr/>
        </p:nvSpPr>
        <p:spPr>
          <a:xfrm>
            <a:off x="6025896" y="44856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التصنيف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Labeling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5083684E-388E-1033-22DE-1B95D34BB71C}"/>
              </a:ext>
            </a:extLst>
          </p:cNvPr>
          <p:cNvSpPr/>
          <p:nvPr/>
        </p:nvSpPr>
        <p:spPr>
          <a:xfrm>
            <a:off x="7269480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17B6A8-B811-6AB1-A9E0-A4DEB02EFA40}"/>
              </a:ext>
            </a:extLst>
          </p:cNvPr>
          <p:cNvSpPr/>
          <p:nvPr/>
        </p:nvSpPr>
        <p:spPr>
          <a:xfrm>
            <a:off x="7406640" y="44856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EF746D35-6CF7-F402-280F-F235E2FFEBC3}"/>
              </a:ext>
            </a:extLst>
          </p:cNvPr>
          <p:cNvSpPr/>
          <p:nvPr/>
        </p:nvSpPr>
        <p:spPr>
          <a:xfrm>
            <a:off x="8650224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7464C6-67B5-48B9-BE78-44334113A5F3}"/>
              </a:ext>
            </a:extLst>
          </p:cNvPr>
          <p:cNvSpPr/>
          <p:nvPr/>
        </p:nvSpPr>
        <p:spPr>
          <a:xfrm>
            <a:off x="8787384" y="44856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329C66AF-0757-AAFC-0D19-B7D33E53EB08}"/>
              </a:ext>
            </a:extLst>
          </p:cNvPr>
          <p:cNvSpPr/>
          <p:nvPr/>
        </p:nvSpPr>
        <p:spPr>
          <a:xfrm>
            <a:off x="10030968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B7EAFC-AE52-2BC7-062F-EFAC3B3BA0E5}"/>
              </a:ext>
            </a:extLst>
          </p:cNvPr>
          <p:cNvSpPr/>
          <p:nvPr/>
        </p:nvSpPr>
        <p:spPr>
          <a:xfrm>
            <a:off x="10168128" y="44856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المختبر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1985" y="137160"/>
            <a:ext cx="8420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طيف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والتنسيقات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Data Spectrum &amp; Formats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20440" cy="9601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مهيكلة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Structured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جداول / Tables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CSV • Parquet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9601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شبه مهيكلة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Semi-structured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سجلات مرنة / Flexible records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JSON • Avro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520440" cy="9601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غير مهيكلة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Unstructured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نصوص وصور وصوت / Text, images, audio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PDF • JPG • 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160520"/>
            <a:ext cx="9235440" cy="7772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اختر التنسيق حسب الاستخدام: تبادل بسيط ← تحليلات سريعة ← محتوى غني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Choose the format for the job: simple exchange ← fast analytics ← rich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Parquet عمودي للتحليلات؛ JSON مرن للواجهات؛ الملفات الغنية تحتاج استخراج محتوى.</a:t>
            </a:r>
          </a:p>
          <a:p>
            <a:pPr algn="r" rtl="0"/>
            <a:r>
              <a:t>Parquet is columnar for analytics; JSON is flexible for APIs; rich files need content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7/13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b="1" dirty="0">
                <a:solidFill>
                  <a:srgbClr val="1F3B5C"/>
                </a:solidFill>
                <a:latin typeface="Arial"/>
              </a:rPr>
              <a:t>مسارات 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ETL / 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800" dirty="0">
                <a:solidFill>
                  <a:srgbClr val="333333"/>
                </a:solidFill>
                <a:latin typeface="Arial"/>
              </a:rPr>
              <a:t> </a:t>
            </a:r>
            <a:r>
              <a:rPr lang="en-EG" sz="2800" dirty="0">
                <a:solidFill>
                  <a:srgbClr val="333333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>
                <a:solidFill>
                  <a:srgbClr val="333333"/>
                </a:solidFill>
                <a:latin typeface="Arial"/>
              </a:rPr>
              <a:t> ETL: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التحويل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قبل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التحميل</a:t>
            </a:r>
            <a:r>
              <a:rPr sz="2800" dirty="0">
                <a:solidFill>
                  <a:srgbClr val="333333"/>
                </a:solidFill>
                <a:latin typeface="Arial"/>
              </a:rPr>
              <a:t>؛ ELT: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التحميل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أولاً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ثم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التحويل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داخل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المنصة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المستهدفة</a:t>
            </a:r>
            <a:r>
              <a:rPr sz="28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666666"/>
                </a:solidFill>
                <a:latin typeface="Calibri"/>
              </a:rPr>
              <a:t>• ETL: transform before loading; ELT: load first, transform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lang="en-US" sz="28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>
                <a:solidFill>
                  <a:srgbClr val="333333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333333"/>
                </a:solidFill>
                <a:latin typeface="Arial"/>
              </a:rPr>
              <a:t>  </a:t>
            </a:r>
            <a:r>
              <a:rPr sz="2800" dirty="0">
                <a:solidFill>
                  <a:srgbClr val="333333"/>
                </a:solidFill>
                <a:latin typeface="Arial"/>
              </a:rPr>
              <a:t> ELT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هو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النمط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السائد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في</a:t>
            </a:r>
            <a:r>
              <a:rPr sz="2800" dirty="0">
                <a:solidFill>
                  <a:srgbClr val="333333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بيئات</a:t>
            </a:r>
            <a:r>
              <a:rPr sz="2800" dirty="0">
                <a:solidFill>
                  <a:srgbClr val="333333"/>
                </a:solidFill>
                <a:latin typeface="Arial"/>
              </a:rPr>
              <a:t> Lakehouse </a:t>
            </a:r>
            <a:r>
              <a:rPr sz="2800" dirty="0" err="1">
                <a:solidFill>
                  <a:srgbClr val="333333"/>
                </a:solidFill>
                <a:latin typeface="Arial"/>
              </a:rPr>
              <a:t>الحديثة</a:t>
            </a:r>
            <a:r>
              <a:rPr sz="28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666666"/>
                </a:solidFill>
                <a:latin typeface="Calibri"/>
              </a:rPr>
              <a:t>• ELT is the dominant pattern in modern </a:t>
            </a:r>
            <a:r>
              <a:rPr sz="2400" dirty="0" err="1">
                <a:solidFill>
                  <a:srgbClr val="666666"/>
                </a:solidFill>
                <a:latin typeface="Calibri"/>
              </a:rPr>
              <a:t>lakehouse</a:t>
            </a:r>
            <a:r>
              <a:rPr sz="2400" dirty="0">
                <a:solidFill>
                  <a:srgbClr val="666666"/>
                </a:solidFill>
                <a:latin typeface="Calibri"/>
              </a:rPr>
              <a:t>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8/13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Arial"/>
              </a:rPr>
              <a:t>مقارنة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أنماط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المعالجة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/ Processing Patterns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المعمارية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المتدرِّجة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 Medallion (Lakehouse): </a:t>
            </a:r>
            <a:endParaRPr lang="en-US" sz="2000" b="1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</a:rPr>
              <a:t>Bronze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خام</a:t>
            </a:r>
            <a:r>
              <a:rPr sz="2000" dirty="0">
                <a:solidFill>
                  <a:srgbClr val="333333"/>
                </a:solidFill>
                <a:latin typeface="Arial"/>
              </a:rPr>
              <a:t> → Silver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منقَّى</a:t>
            </a:r>
            <a:r>
              <a:rPr sz="2000" dirty="0">
                <a:solidFill>
                  <a:srgbClr val="333333"/>
                </a:solidFill>
                <a:latin typeface="Arial"/>
              </a:rPr>
              <a:t> → Gold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جاهز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للتحليل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إدارة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مركزية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الأنسب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للتحليلات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وخطوط</a:t>
            </a:r>
            <a:r>
              <a:rPr sz="2000" dirty="0">
                <a:solidFill>
                  <a:srgbClr val="333333"/>
                </a:solidFill>
                <a:latin typeface="Arial"/>
              </a:rPr>
              <a:t> AI/ML/RAG.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Medallion (Lakehouse): raw Bronze → cleansed Silver → analytics-ready Gold; central ownership; best for analytics and AI/ML/RAG pipelines.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مستودع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: ETL/ELT → Staging →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المستودع</a:t>
            </a:r>
            <a:r>
              <a:rPr sz="2000" dirty="0">
                <a:solidFill>
                  <a:srgbClr val="333333"/>
                </a:solidFill>
                <a:latin typeface="Arial"/>
              </a:rPr>
              <a:t> →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أسواق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حوكمة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مركزية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الأنسب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للتقارير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وذكاء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الأعمال</a:t>
            </a:r>
            <a:r>
              <a:rPr sz="20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Data warehouse: ETL/ELT → staging → warehouse → data marts; central governance; best for reporting and BI.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شبكة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400" b="1" dirty="0">
                <a:solidFill>
                  <a:srgbClr val="333333"/>
                </a:solidFill>
                <a:latin typeface="Arial"/>
              </a:rPr>
              <a:t> Data Mesh: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ملكية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لامركزية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بالمجالات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منتجات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بعقود</a:t>
            </a:r>
            <a:r>
              <a:rPr sz="2000" dirty="0">
                <a:solidFill>
                  <a:srgbClr val="333333"/>
                </a:solidFill>
                <a:latin typeface="Arial"/>
              </a:rPr>
              <a:t> (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مخطط</a:t>
            </a:r>
            <a:r>
              <a:rPr sz="2000" dirty="0">
                <a:solidFill>
                  <a:srgbClr val="333333"/>
                </a:solidFill>
                <a:latin typeface="Arial"/>
              </a:rPr>
              <a:t>،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أمان</a:t>
            </a:r>
            <a:r>
              <a:rPr sz="2000" dirty="0">
                <a:solidFill>
                  <a:srgbClr val="333333"/>
                </a:solidFill>
                <a:latin typeface="Arial"/>
              </a:rPr>
              <a:t>، SLA)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وكتالوج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موحد</a:t>
            </a:r>
            <a:r>
              <a:rPr sz="2000" dirty="0">
                <a:solidFill>
                  <a:srgbClr val="333333"/>
                </a:solidFill>
                <a:latin typeface="Arial"/>
              </a:rPr>
              <a:t>؛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الأنسب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للمؤسسات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الكبيرة</a:t>
            </a:r>
            <a:r>
              <a:rPr sz="20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Data mesh: decentralized domain ownership; data products with contracts (schema, security, SLA) and a unified catalog; best for large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9/13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جدول المقارنة: Medallion / المستودع / Data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028835"/>
              </p:ext>
            </p:extLst>
          </p:nvPr>
        </p:nvGraphicFramePr>
        <p:xfrm>
          <a:off x="640080" y="1371600"/>
          <a:ext cx="109728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المعيار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Medallion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المستودع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Data Mesh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الفكرة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طبقات Bronze→Silver→Gold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Staging→Warehouse→Marts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منتجات بالمجالات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المالك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هندسة 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فرق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فرق المجالات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الأنسب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تحليلات و AI/RAG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تقارير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مؤسسات كبيرة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الحوكمة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جودة بين الطبقات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>
                          <a:solidFill>
                            <a:srgbClr val="333333"/>
                          </a:solidFill>
                          <a:latin typeface="Arial"/>
                        </a:rPr>
                        <a:t>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 dirty="0" err="1">
                          <a:solidFill>
                            <a:srgbClr val="333333"/>
                          </a:solidFill>
                          <a:latin typeface="Arial"/>
                        </a:rPr>
                        <a:t>موحدة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"/>
                        </a:rPr>
                        <a:t> + </a:t>
                      </a:r>
                      <a:r>
                        <a:rPr sz="2000" dirty="0" err="1">
                          <a:solidFill>
                            <a:srgbClr val="333333"/>
                          </a:solidFill>
                          <a:latin typeface="Arial"/>
                        </a:rPr>
                        <a:t>عقود</a:t>
                      </a:r>
                      <a:endParaRPr sz="200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10/13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الفرق الجوهري بين ETL وELT؟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the key difference between ETL and ELT?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أين تُستخدم طبقة Gold في المعمارية المتدرِّجة؟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Where is the Gold layer used in the Medallion architecture?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أي نمط يناسب مؤسسة كبيرة بفرق مستقلة وملكية لامركزية؟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pattern suits a large organization with independent, decentralized teams?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التنسيق الأنسب للتحليلات عالية الأداء ولماذا؟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format suits high-performance analytics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11/13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ETL يحوّل قبل التحميل؛ ELT يحمّل أولاً ثم يحوّل داخل المنصة الهدف.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ETL transforms before loading; ELT loads first and transforms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تجميعات على مستوى الأعمال جاهزة للتحليل.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Business-level aggregates that are analytics-ready.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شبكة البيانات Data Mesh.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mesh.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Parquet — تنسيق عمودي يقلل الحجم ويسرّع القراءة.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Parquet — columnar, smaller and faster for analytical 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12/13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V06 — Data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المستودعات والبحيرات ومعمارية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Warehouses, Data Lakes &amp;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V07</a:t>
            </a:r>
            <a:r>
              <a:rPr sz="2000" dirty="0">
                <a:solidFill>
                  <a:srgbClr val="333333"/>
                </a:solidFill>
                <a:latin typeface="Arial"/>
              </a:rPr>
              <a:t> —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المستودعات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والبحيرات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ومعمارية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</a:t>
            </a:r>
            <a:r>
              <a:rPr sz="1600" dirty="0" err="1">
                <a:solidFill>
                  <a:srgbClr val="666666"/>
                </a:solidFill>
                <a:latin typeface="Calibri"/>
              </a:rPr>
              <a:t>V07</a:t>
            </a:r>
            <a:r>
              <a:rPr sz="1600" dirty="0">
                <a:solidFill>
                  <a:srgbClr val="666666"/>
                </a:solidFill>
                <a:latin typeface="Calibri"/>
              </a:rPr>
              <a:t> — Warehouses, Data Lakes &amp;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المستودع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مقابل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البحيرة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Warehouse vs Lake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معمارية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Lakehouse /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منتجات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وعقودها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Data Products &amp; Contracts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متى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تختار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كل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نموذج</a:t>
            </a:r>
            <a:r>
              <a:rPr sz="2000" dirty="0">
                <a:solidFill>
                  <a:srgbClr val="333333"/>
                </a:solidFill>
                <a:latin typeface="Arial"/>
              </a:rPr>
              <a:t>؟ / When to Choose Which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ربط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بالمقرر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Course Tie-in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2/15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قرار: المستودع مقابل البحيرة / Warehouse vs Lake Decision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2920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32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20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5029200" cy="822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32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  <a:p>
            <a:pPr algn="ctr" rtl="0"/>
            <a:r>
              <a:rPr sz="200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مخطط عند الكتابة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Schema on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مخطط عند القراءة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Schema on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بيانات منظمة + SQL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Curated data +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كل التنسيقات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Any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تقارير وذكاء أعمال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Reporting and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استكشاف وAI/ML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Exploration and AI/ML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100" y="5212080"/>
            <a:ext cx="5194300" cy="6400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>
                <a:solidFill>
                  <a:srgbClr val="333333"/>
                </a:solidFill>
                <a:latin typeface="Arial"/>
              </a:rPr>
              <a:t>Lakehouse =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مرونة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البحيرة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موثوقية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المستودع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Lakehouse = lake flexibility + warehouse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لا يوجد فائز دائم: ابدأ من نوع السؤال، والفريق، ومتطلبات الحوكمة.</a:t>
            </a:r>
          </a:p>
          <a:p>
            <a:pPr algn="r" rtl="0"/>
            <a:r>
              <a:t>There is no universal winner: start with the question, team, and governance needs.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Left Arrow 5"/>
          <p:cNvSpPr/>
          <p:nvPr/>
        </p:nvSpPr>
        <p:spPr>
          <a:xfrm>
            <a:off x="5897880" y="245059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 Arrow 6"/>
          <p:cNvSpPr/>
          <p:nvPr/>
        </p:nvSpPr>
        <p:spPr>
          <a:xfrm>
            <a:off x="5897880" y="395935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6/15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3519" y="137160"/>
            <a:ext cx="866936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منتج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وعقد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البيانات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Data Product &amp; Contract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28270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800" b="1">
                <a:solidFill>
                  <a:srgbClr val="333333"/>
                </a:solidFill>
                <a:latin typeface="Arial"/>
              </a:rPr>
              <a:t>منتج البيانات</a:t>
            </a:r>
          </a:p>
          <a:p>
            <a:pPr algn="ctr" rtl="0"/>
            <a:r>
              <a:rPr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8270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800" b="1">
                <a:solidFill>
                  <a:srgbClr val="333333"/>
                </a:solidFill>
                <a:latin typeface="Arial"/>
              </a:rPr>
              <a:t>عقد البيانات</a:t>
            </a:r>
          </a:p>
          <a:p>
            <a:pPr algn="ctr" rtl="0"/>
            <a:r>
              <a:rPr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39243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811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066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مستوى الخدمة / SLA</a:t>
            </a:r>
          </a:p>
        </p:txBody>
      </p:sp>
      <p:sp>
        <p:nvSpPr>
          <p:cNvPr id="8" name="Left Arrow 7"/>
          <p:cNvSpPr/>
          <p:nvPr/>
        </p:nvSpPr>
        <p:spPr>
          <a:xfrm>
            <a:off x="5257800" y="4198620"/>
            <a:ext cx="1737360" cy="36576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8/15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Arial"/>
              </a:rPr>
              <a:t>متى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تختار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كل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نموذج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؟ / Decision Matrix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21604"/>
              </p:ext>
            </p:extLst>
          </p:nvPr>
        </p:nvGraphicFramePr>
        <p:xfrm>
          <a:off x="640080" y="1371600"/>
          <a:ext cx="109728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 rtl="1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الحالة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الاختيار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السبب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فريق مركزي + تحليلات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Medallion / Lakehouse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مرونة + حوكمة طبقية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تقارير صارمة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Warehouse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SQL سريع + مخطط ثابت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فرق مستقلة كبيرة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>
                          <a:solidFill>
                            <a:srgbClr val="333333"/>
                          </a:solidFill>
                          <a:latin typeface="Arial"/>
                        </a:rPr>
                        <a:t>Data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dirty="0" err="1">
                          <a:solidFill>
                            <a:srgbClr val="333333"/>
                          </a:solidFill>
                          <a:latin typeface="Arial"/>
                        </a:rPr>
                        <a:t>ملكية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dirty="0" err="1">
                          <a:solidFill>
                            <a:srgbClr val="333333"/>
                          </a:solidFill>
                          <a:latin typeface="Arial"/>
                        </a:rPr>
                        <a:t>لامركزية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Arial"/>
                        </a:rPr>
                        <a:t> + </a:t>
                      </a:r>
                      <a:r>
                        <a:rPr sz="1800" dirty="0" err="1">
                          <a:solidFill>
                            <a:srgbClr val="333333"/>
                          </a:solidFill>
                          <a:latin typeface="Arial"/>
                        </a:rPr>
                        <a:t>عقود</a:t>
                      </a:r>
                      <a:endParaRPr sz="180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11/15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3111" y="137160"/>
            <a:ext cx="78197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أنماط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معالجة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الثلاثة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Three Data Patterns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>
                <a:solidFill>
                  <a:srgbClr val="333333"/>
                </a:solidFill>
                <a:latin typeface="Arial"/>
              </a:rPr>
              <a:t>شبكة البيانات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12/15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معنى «مخطط عند القراءة»؟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'schema-on-read' mean?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ما مكونات عقد البيانات الثلاثة؟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are the three components of a data contract?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ماذا يضيف Lakehouse عن البحيرة المجردة؟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a lakehouse add over a raw lake?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13/15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لا يُفرض المخطط عند الكتابة بل عند القراءة — سمة البحيرات.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Schema is enforced at read time, not write time — a lake trait.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المخطط، الأمان، مستوى الخدمة SLA.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Schema, security, and SLA.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معاملات ACID وأداء SQL وحوكمة.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ACID transactions, SQL performance,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14/15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V07 — Warehouses, Lakes &amp; Lakehouse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هندسة الخصائص ومخازنها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Feature Engineering &amp; Feature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1/11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V08</a:t>
            </a:r>
            <a:r>
              <a:rPr sz="2000" dirty="0">
                <a:solidFill>
                  <a:srgbClr val="333333"/>
                </a:solidFill>
                <a:latin typeface="Arial"/>
              </a:rPr>
              <a:t> —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هندسة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الخصائص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ومخازنها</a:t>
            </a:r>
            <a:endParaRPr sz="20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</a:t>
            </a:r>
            <a:r>
              <a:rPr sz="1600" dirty="0" err="1">
                <a:solidFill>
                  <a:srgbClr val="666666"/>
                </a:solidFill>
                <a:latin typeface="Calibri"/>
              </a:rPr>
              <a:t>V08</a:t>
            </a:r>
            <a:r>
              <a:rPr sz="1600" dirty="0">
                <a:solidFill>
                  <a:srgbClr val="666666"/>
                </a:solidFill>
                <a:latin typeface="Calibri"/>
              </a:rPr>
              <a:t> — Feature Engineering &amp;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هندسة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الخصائص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Feature Engineering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مخازن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الخصائص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اتساق</a:t>
            </a:r>
            <a:r>
              <a:rPr sz="2000" dirty="0">
                <a:solidFill>
                  <a:srgbClr val="333333"/>
                </a:solidFill>
                <a:latin typeface="Arial"/>
              </a:rPr>
              <a:t> Offline/Online / Consistency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الربط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بالتطبيقات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الوكيلة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Agentic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2/11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4433" y="137160"/>
            <a:ext cx="860844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من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الخام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إلى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الخصائص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Raw Data to Features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46888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أحداث خام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Raw events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6888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تنظيف وتحويل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Clean &amp; transform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0819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246888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تعريف الخصائص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Feature definitions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3427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9418320" y="2011680"/>
            <a:ext cx="246888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تدريب + خدمة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Training +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977639"/>
            <a:ext cx="60807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مخزن الخصائص: تعريف واحد متسق للتدريب والخدمة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Feature store: one consistent definition for training and 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الاتساق هو النتيجة: نفس حساب الميزة يمنع انحراف التدريب والخدمة.</a:t>
            </a:r>
          </a:p>
          <a:p>
            <a:pPr algn="r" rtl="0"/>
            <a:r>
              <a:t>Consistency is the outcome: the same feature calculation prevents training-serving skew.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4/11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0417" y="137160"/>
            <a:ext cx="87624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معمارية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مخزن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الخصائص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Feature Store Architecture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مصادر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Sources</a:t>
            </a:r>
          </a:p>
        </p:txBody>
      </p:sp>
      <p:sp>
        <p:nvSpPr>
          <p:cNvPr id="4" name="Left Arrow 3"/>
          <p:cNvSpPr/>
          <p:nvPr/>
        </p:nvSpPr>
        <p:spPr>
          <a:xfrm>
            <a:off x="2724912" y="30175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خط الخصائص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Feature Pipeline
هندسة + تحويل</a:t>
            </a:r>
          </a:p>
        </p:txBody>
      </p:sp>
      <p:sp>
        <p:nvSpPr>
          <p:cNvPr id="6" name="Left Arrow 5"/>
          <p:cNvSpPr/>
          <p:nvPr/>
        </p:nvSpPr>
        <p:spPr>
          <a:xfrm>
            <a:off x="5468112" y="23317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Left Arrow 6"/>
          <p:cNvSpPr/>
          <p:nvPr/>
        </p:nvSpPr>
        <p:spPr>
          <a:xfrm>
            <a:off x="5468112" y="361188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المخزن غير المتصل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Offline Store
تدريب النماذج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المخزن المتصل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Online Store
استدلال منخفض زمن الاستجابة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التدريب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الاستدلال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Serving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449056" y="201168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Left Arrow 12"/>
          <p:cNvSpPr/>
          <p:nvPr/>
        </p:nvSpPr>
        <p:spPr>
          <a:xfrm>
            <a:off x="8449056" y="402336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7/11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الربط بالتطبيقات الوكيلة / Agentic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الوكلاء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يحتاجون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ميزات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لحظية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متسقة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لقرارات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التخصيص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والمخاطر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والتوجيه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Agents need consistent real-time features for personalization, risk, and routing.</a:t>
            </a:r>
            <a:endParaRPr lang="en-US" sz="2000" dirty="0">
              <a:solidFill>
                <a:srgbClr val="666666"/>
              </a:solidFill>
              <a:latin typeface="Calibri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sz="2000" dirty="0">
              <a:solidFill>
                <a:srgbClr val="666666"/>
              </a:solidFill>
              <a:latin typeface="Calibri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lang="en-US"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مخزن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الخصائص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هو</a:t>
            </a:r>
            <a:r>
              <a:rPr sz="2400" dirty="0">
                <a:solidFill>
                  <a:srgbClr val="333333"/>
                </a:solidFill>
                <a:latin typeface="Arial"/>
              </a:rPr>
              <a:t> «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مصدر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الحقيقة</a:t>
            </a:r>
            <a:r>
              <a:rPr sz="2400" dirty="0">
                <a:solidFill>
                  <a:srgbClr val="333333"/>
                </a:solidFill>
                <a:latin typeface="Arial"/>
              </a:rPr>
              <a:t>»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للميزات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أمام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أي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وكيل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ذكي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The feature store is the single source of truth behind any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8/11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المشكلة التي يحلها مخزن الخصائص؟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problem does a feature store solve?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فرّق بين المخزن Offline وOnline.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offline vs online stores.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اذكر أداتين لمخازن الخصائص.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two feature-store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9/11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انحراف الميزات بين التدريب والخدمة وتكرار العمل.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Feature skew between training/serving and duplicated work.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Offline للتدريب التاريخي؛ Online لخدمة فورية منخفضة الكمون.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Offline for historical training; online for low-latency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Feast وHopsworks (أو Tecton).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Feast and Hopsworks (or Tecton).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10/11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V08 — Feature Engineering &amp; Stores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قواعد البيانات المتجهية + RAG التطبيقي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Vector Databases + Applied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1/15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V09</a:t>
            </a:r>
            <a:r>
              <a:rPr sz="2000" dirty="0">
                <a:solidFill>
                  <a:srgbClr val="333333"/>
                </a:solidFill>
                <a:latin typeface="Arial"/>
              </a:rPr>
              <a:t> —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قواعد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المتجهية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+ RAG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التطبيقي</a:t>
            </a:r>
            <a:endParaRPr sz="2000" dirty="0">
              <a:solidFill>
                <a:srgbClr val="333333"/>
              </a:solidFill>
              <a:latin typeface="Arial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 dirty="0">
                <a:solidFill>
                  <a:srgbClr val="666666"/>
                </a:solidFill>
                <a:latin typeface="Calibri"/>
              </a:rPr>
              <a:t>• </a:t>
            </a:r>
            <a:r>
              <a:rPr sz="1600" dirty="0" err="1">
                <a:solidFill>
                  <a:srgbClr val="666666"/>
                </a:solidFill>
                <a:latin typeface="Calibri"/>
              </a:rPr>
              <a:t>V09</a:t>
            </a:r>
            <a:r>
              <a:rPr sz="1600" dirty="0">
                <a:solidFill>
                  <a:srgbClr val="666666"/>
                </a:solidFill>
                <a:latin typeface="Calibri"/>
              </a:rPr>
              <a:t> —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قواعد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البيانات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المتجهية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Vector Databases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1)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الفهرسة</a:t>
            </a:r>
            <a:r>
              <a:rPr sz="2000" dirty="0">
                <a:solidFill>
                  <a:srgbClr val="333333"/>
                </a:solidFill>
                <a:latin typeface="Arial"/>
              </a:rPr>
              <a:t>: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استراتيجيات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التقسيم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Indexing: Chunking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2)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الاسترجاع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Retrieval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3)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التوليد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Generation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4)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التقييم</a:t>
            </a:r>
            <a:r>
              <a:rPr sz="2000" dirty="0">
                <a:solidFill>
                  <a:srgbClr val="333333"/>
                </a:solidFill>
                <a:latin typeface="Arial"/>
              </a:rPr>
              <a:t> + 5)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التحسين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Evaluation + Optimization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الأخطاء</a:t>
            </a:r>
            <a:r>
              <a:rPr sz="2000" dirty="0">
                <a:solidFill>
                  <a:srgbClr val="333333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rial"/>
              </a:rPr>
              <a:t>الشائعة</a:t>
            </a:r>
            <a:r>
              <a:rPr sz="2000" dirty="0">
                <a:solidFill>
                  <a:srgbClr val="333333"/>
                </a:solidFill>
                <a:latin typeface="Arial"/>
              </a:rPr>
              <a:t> / 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2/15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3038" y="137160"/>
            <a:ext cx="550984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خط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lang="ar-EG" sz="3000" b="1" dirty="0">
                <a:solidFill>
                  <a:srgbClr val="1F3B5C"/>
                </a:solidFill>
                <a:latin typeface="Arial"/>
              </a:rPr>
              <a:t>مسارات 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RAG /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1)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الفهرسة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Indexing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32888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2)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الاسترجاع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Retrieval</a:t>
            </a:r>
          </a:p>
        </p:txBody>
      </p:sp>
      <p:sp>
        <p:nvSpPr>
          <p:cNvPr id="6" name="Left Arrow 5"/>
          <p:cNvSpPr/>
          <p:nvPr/>
        </p:nvSpPr>
        <p:spPr>
          <a:xfrm>
            <a:off x="4754880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3)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التوليد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Generation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76872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4) 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التقييم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Evaluation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198864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Arial"/>
              </a:rPr>
              <a:t>5)</a:t>
            </a:r>
            <a:r>
              <a:rPr sz="2000" b="1" dirty="0" err="1">
                <a:solidFill>
                  <a:srgbClr val="333333"/>
                </a:solidFill>
                <a:latin typeface="Arial"/>
              </a:rPr>
              <a:t>التحسين</a:t>
            </a:r>
            <a:endParaRPr sz="2000" b="1" dirty="0">
              <a:solidFill>
                <a:srgbClr val="333333"/>
              </a:solidFill>
              <a:latin typeface="Arial"/>
            </a:endParaRPr>
          </a:p>
          <a:p>
            <a:pPr algn="ctr" rtl="0"/>
            <a:r>
              <a:rPr sz="1600" dirty="0">
                <a:solidFill>
                  <a:srgbClr val="666666"/>
                </a:solidFill>
                <a:latin typeface="Calibri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تقسيم تكراري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بحث هجين + إعادة ترتيب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موجِّه مقيَّد بالمصادر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مثلث RAG (RAGAS)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تخزين مؤقت + توجيه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4/15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7852" y="137160"/>
            <a:ext cx="80650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Arial"/>
              </a:rPr>
              <a:t>استراتيجيات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تقسيم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Arial"/>
              </a:rPr>
              <a:t>النصوص</a:t>
            </a:r>
            <a:r>
              <a:rPr sz="3000" b="1" dirty="0">
                <a:solidFill>
                  <a:srgbClr val="1F3B5C"/>
                </a:solidFill>
                <a:latin typeface="Arial"/>
              </a:rPr>
              <a:t> / Chunking Strategies</a:t>
            </a:r>
            <a:r>
              <a:rPr lang="en-US" sz="3000" b="1" dirty="0">
                <a:solidFill>
                  <a:srgbClr val="1F3B5C"/>
                </a:solidFill>
                <a:latin typeface="Arial"/>
              </a:rPr>
              <a:t>  </a:t>
            </a:r>
            <a:endParaRPr sz="30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0040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ثابت الحجم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472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أبسطها — يقطع الجُمل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40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دلالي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72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تماسك أفضل — حساس للعتبة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40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تكراري ★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72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الموصى به افتراضيًا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40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بحسب البنية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72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عناوين وأقسام — يُدمج مع التكراري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40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بالنموذج اللغوي</a:t>
            </a:r>
          </a:p>
          <a:p>
            <a:pPr algn="ctr" rtl="0"/>
            <a:r>
              <a:rPr sz="1600">
                <a:solidFill>
                  <a:srgbClr val="666666"/>
                </a:solidFill>
                <a:latin typeface="Calibri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472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>
                <a:solidFill>
                  <a:srgbClr val="333333"/>
                </a:solidFill>
                <a:latin typeface="Arial"/>
              </a:rPr>
              <a:t>الأدق — الأغلى حسابيًا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★ التقسيم التكراري: فصل بالفقرات ثم تقسيم ما تجاوز الحد الأقصى.</a:t>
            </a:r>
          </a:p>
          <a:p>
            <a:pPr algn="r" rtl="0"/>
            <a:r>
              <a:t>★ Recursive: split by paragraphs, then oversized chunks.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6/15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b="1" dirty="0">
                <a:solidFill>
                  <a:srgbClr val="1F3B5C"/>
                </a:solidFill>
                <a:latin typeface="Arial"/>
              </a:rPr>
              <a:t>  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2)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الاسترجاع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/ Retrieval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.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بحث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هجين</a:t>
            </a:r>
            <a:r>
              <a:rPr sz="2400" dirty="0">
                <a:solidFill>
                  <a:srgbClr val="333333"/>
                </a:solidFill>
                <a:latin typeface="Arial"/>
              </a:rPr>
              <a:t>: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كثيف</a:t>
            </a:r>
            <a:r>
              <a:rPr sz="2400" dirty="0">
                <a:solidFill>
                  <a:srgbClr val="333333"/>
                </a:solidFill>
                <a:latin typeface="Arial"/>
              </a:rPr>
              <a:t> (Dense) +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متناثر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(BM25)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يغطي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المعنى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والكلمات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المفتاحية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معًا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Hybrid search: dense + sparse (BM25) covers meaning and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إعادة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ترتيب</a:t>
            </a:r>
            <a:r>
              <a:rPr sz="2400" dirty="0">
                <a:solidFill>
                  <a:srgbClr val="333333"/>
                </a:solidFill>
                <a:latin typeface="Arial"/>
              </a:rPr>
              <a:t> Cross-encoder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وتحويل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الاستعلام</a:t>
            </a:r>
            <a:r>
              <a:rPr sz="2400" dirty="0">
                <a:solidFill>
                  <a:srgbClr val="333333"/>
                </a:solidFill>
                <a:latin typeface="Arial"/>
              </a:rPr>
              <a:t> Multi-Query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يرفعان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دقة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النتائج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Cross-encoder reranking and multi-query transformation improve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7/15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C7B1AB-0BF7-7352-117D-0D92A7D17614}"/>
              </a:ext>
            </a:extLst>
          </p:cNvPr>
          <p:cNvSpPr/>
          <p:nvPr/>
        </p:nvSpPr>
        <p:spPr>
          <a:xfrm>
            <a:off x="152401" y="3162300"/>
            <a:ext cx="120396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en-US" sz="3200" b="1" dirty="0">
                <a:solidFill>
                  <a:srgbClr val="1F3B5C"/>
                </a:solidFill>
                <a:latin typeface="Arial"/>
              </a:rPr>
              <a:t>     </a:t>
            </a:r>
            <a:r>
              <a:rPr lang="ar-EG" sz="3200" b="1" dirty="0">
                <a:solidFill>
                  <a:srgbClr val="1F3B5C"/>
                </a:solidFill>
                <a:latin typeface="Arial"/>
              </a:rPr>
              <a:t>3)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</a:t>
            </a:r>
            <a:r>
              <a:rPr lang="ar-EG" sz="3200" b="1" dirty="0">
                <a:solidFill>
                  <a:srgbClr val="1F3B5C"/>
                </a:solidFill>
                <a:latin typeface="Arial"/>
              </a:rPr>
              <a:t> التوليد / 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Generation</a:t>
            </a:r>
            <a:r>
              <a:rPr lang="en-US" b="1" dirty="0">
                <a:solidFill>
                  <a:srgbClr val="1F3B5C"/>
                </a:solidFill>
                <a:latin typeface="Arial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6898E-1982-3370-F011-CA6303ED9B8E}"/>
              </a:ext>
            </a:extLst>
          </p:cNvPr>
          <p:cNvSpPr txBox="1"/>
          <p:nvPr/>
        </p:nvSpPr>
        <p:spPr>
          <a:xfrm>
            <a:off x="792480" y="4442460"/>
            <a:ext cx="109728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موجِّه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مقيَّد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بالمصادر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المسترجعة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(Grounded Prompting)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مع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الاستشهاد</a:t>
            </a:r>
            <a:r>
              <a:rPr sz="2400" dirty="0">
                <a:solidFill>
                  <a:srgbClr val="333333"/>
                </a:solidFill>
                <a:latin typeface="Arial"/>
              </a:rPr>
              <a:t>: «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أجب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فقط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السياق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المرفق</a:t>
            </a:r>
            <a:r>
              <a:rPr sz="2400" dirty="0">
                <a:solidFill>
                  <a:srgbClr val="333333"/>
                </a:solidFill>
                <a:latin typeface="Arial"/>
              </a:rPr>
              <a:t>».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Grounded prompting strictly on retrieved sources with citations: 'answer only from the provided context'.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>
                <a:solidFill>
                  <a:srgbClr val="1F3B5C"/>
                </a:solidFill>
                <a:latin typeface="Arial"/>
              </a:rPr>
              <a:t>3)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التوليد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/ Generation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موجِّه مقيَّد بالمصادر المسترجعة (Grounded Prompting) مع الاستشهاد: «أجب فقط من السياق المرفق».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Grounded prompting strictly on retrieved sources with citations: 'answer only from the provided context'.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8/15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نمط الإجابة المؤرَّضة / Grounded Answer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سؤال المتعلِّم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Learner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7432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ما الاستراتيجية الافتراضية للتقسيم؟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Which chunking default should I use?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063240" cy="10058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أدلة مسترجعة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Retrieved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514600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[1] الفقرات ← الجمل ← التقسيم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[1] paragraphs → sentences →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10128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[2] التكراري هو الخيار الموصى به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[2] recursive is the recommended default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إجابة موثقة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Grounded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337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ابدأ بالتقسيم التكراري [1][2]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Start with recursive chunking [1][2]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7818120" cy="6858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لا دليل مسترجع؟ قل: لا أعرف / No retrieved evidence? Say: I don't know.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القاعدة: لا تتجاوز الأدلة، واربط كل ادعاء بمصدر.</a:t>
            </a:r>
          </a:p>
          <a:p>
            <a:pPr algn="r" rtl="0"/>
            <a:r>
              <a:t>Rule: do not go beyond the evidence; connect every claim to a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9/15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>
                <a:solidFill>
                  <a:srgbClr val="1F3B5C"/>
                </a:solidFill>
                <a:latin typeface="Arial"/>
              </a:rPr>
              <a:t>4)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التقييم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+ 5) </a:t>
            </a:r>
            <a:r>
              <a:rPr sz="3200" b="1" dirty="0" err="1">
                <a:solidFill>
                  <a:srgbClr val="1F3B5C"/>
                </a:solidFill>
                <a:latin typeface="Arial"/>
              </a:rPr>
              <a:t>التحسين</a:t>
            </a:r>
            <a:r>
              <a:rPr sz="3200" b="1" dirty="0">
                <a:solidFill>
                  <a:srgbClr val="1F3B5C"/>
                </a:solidFill>
                <a:latin typeface="Arial"/>
              </a:rPr>
              <a:t> / Evaluation + Optimization</a:t>
            </a:r>
            <a:r>
              <a:rPr lang="en-US" sz="3200" b="1" dirty="0">
                <a:solidFill>
                  <a:srgbClr val="1F3B5C"/>
                </a:solidFill>
                <a:latin typeface="Arial"/>
              </a:rPr>
              <a:t>  </a:t>
            </a:r>
            <a:endParaRPr sz="3200" b="1" dirty="0">
              <a:solidFill>
                <a:srgbClr val="1F3B5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مثلث</a:t>
            </a:r>
            <a:r>
              <a:rPr sz="2400" dirty="0">
                <a:solidFill>
                  <a:srgbClr val="333333"/>
                </a:solidFill>
                <a:latin typeface="Arial"/>
              </a:rPr>
              <a:t> RAG: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الوفاء</a:t>
            </a:r>
            <a:r>
              <a:rPr sz="2400" dirty="0">
                <a:solidFill>
                  <a:srgbClr val="333333"/>
                </a:solidFill>
                <a:latin typeface="Arial"/>
              </a:rPr>
              <a:t> (Faithfulness)،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ملاءمة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الإجابة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(Answer Relevancy)،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دقة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السياق</a:t>
            </a:r>
            <a:r>
              <a:rPr sz="2400" dirty="0">
                <a:solidFill>
                  <a:srgbClr val="333333"/>
                </a:solidFill>
                <a:latin typeface="Arial"/>
              </a:rPr>
              <a:t> (Context Precision) —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بإطار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RAGAS.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666666"/>
                </a:solidFill>
                <a:latin typeface="Calibri"/>
              </a:rPr>
              <a:t>• RAG triad: faithfulness, answer relevancy, context precision — measured with RAGAS.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التحسين</a:t>
            </a:r>
            <a:r>
              <a:rPr sz="2400" dirty="0">
                <a:solidFill>
                  <a:srgbClr val="333333"/>
                </a:solidFill>
                <a:latin typeface="Arial"/>
              </a:rPr>
              <a:t>: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تخزين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دلالي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مؤقت</a:t>
            </a:r>
            <a:r>
              <a:rPr sz="2400" dirty="0">
                <a:solidFill>
                  <a:srgbClr val="333333"/>
                </a:solidFill>
                <a:latin typeface="Arial"/>
              </a:rPr>
              <a:t>،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توجيه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الطلبات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بين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النماذج</a:t>
            </a:r>
            <a:r>
              <a:rPr sz="2400" dirty="0">
                <a:solidFill>
                  <a:srgbClr val="333333"/>
                </a:solidFill>
                <a:latin typeface="Arial"/>
              </a:rPr>
              <a:t>،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ومراقبة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مستمرة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dirty="0">
                <a:solidFill>
                  <a:srgbClr val="666666"/>
                </a:solidFill>
                <a:latin typeface="Calibri"/>
              </a:rPr>
              <a:t>• Optimization: semantic caching, model routing, continuous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10/15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مثلث تقييم RAG / RAG Evaluation Triad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دقة السياق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يُقاس بإطار RAGAS — الوفاء يمنع الهلوسة والملاءمة تجعل الإجابة نافعة.</a:t>
            </a:r>
          </a:p>
          <a:p>
            <a:pPr algn="r" rtl="0"/>
            <a:r>
              <a:t>Measured with RAGAS — faithfulness prevents hallucination; relevancy keeps answers useful.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11/15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الأخطاء الشائعة / 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تقسيم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يكسر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الجداول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أو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الأكواد</a:t>
            </a:r>
            <a:r>
              <a:rPr sz="2400" dirty="0">
                <a:solidFill>
                  <a:srgbClr val="333333"/>
                </a:solidFill>
                <a:latin typeface="Arial"/>
              </a:rPr>
              <a:t>؛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إهمال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إعادة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الترتيب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فيضيع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الأكثر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ملاءمة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Chunking that breaks tables/code; skipping reranking loses the most relevant hits.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Arial"/>
              </a:rPr>
              <a:t>•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غياب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تقييم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الوفاء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فيسمح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بالهلوسة</a:t>
            </a:r>
            <a:r>
              <a:rPr sz="2400" dirty="0">
                <a:solidFill>
                  <a:srgbClr val="333333"/>
                </a:solidFill>
                <a:latin typeface="Arial"/>
              </a:rPr>
              <a:t>؛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استرجاع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أعلى-ك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دون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حد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أدنى</a:t>
            </a:r>
            <a:r>
              <a:rPr sz="2400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للدرجة</a:t>
            </a:r>
            <a:r>
              <a:rPr sz="2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2000" dirty="0">
                <a:solidFill>
                  <a:srgbClr val="666666"/>
                </a:solidFill>
                <a:latin typeface="Calibri"/>
              </a:rPr>
              <a:t>• No faithfulness evaluation allows hallucination; top-k without a score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12/15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استراتيجية التقسيم الموصى بها افتراضيًا؟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chunking strategy is the recommended default?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نجمع البحث الكثيف مع BM25؟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combine dense search with BM25?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مكونات مثلث تقييم RAG الثلاثة؟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the three parts of the RAG evaluation triad.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وظيفة إعادة الترتيب Cross-encoder؟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cross-encoder reranking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5. كيف يقلل التخزين الدلالي المؤقت التكلفة؟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How does semantic caching cut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13/15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التقسيم التكراري Recursive Chunking.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Recursive chunking.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الكثيف يفهم المعنى وBM25 يطابق الكلمات النادرة حرفيًا.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Dense captures meaning; BM25 matches rare exact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الوفاء، ملاءمة الإجابة، دقة السياق.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Faithfulness, answer relevancy, context precision.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يعيد ترتيب المرشحين بنموذج أدق لرفع ملاءمة النتائج.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Re-scores candidates with a more accurate model.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5. يعيد استخدام إجابات الأسئلة المشابهة بدل استدعاء النموذج كل مرة.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Reuses answers for similar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14/15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Daily Dose of DS — استراتيجيات تقسيم RAG.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Daily Dose of DS — RAG chunking strategies.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RAGAS لإطار التقييم.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RAGAS evaluation framework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ChromaDB والفهرسة HNSW.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ChromaDB docs and HNSW indexing.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15/15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V09 — Vector DBs + Applied RAG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تصنيف البيانات على نطاق واسع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Labeling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1/10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V10 — تصنيف البيانات على نطاق واسع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V10 — Labeling at Scale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لماذا التصنيف؟ / Why Labeling?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الأدوات / Tools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التصنيف بمساعدة LLM / LLM-assisted 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2/10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لماذا التصنيف؟ / Why Labeling?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جودة التصنيفات تحدد سقف أداء أي نموذج تعلّم مُوجَّه.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Label quality caps the performance of any supervised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3/10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حلقة جودة التصنيف / Label Quality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480560" cy="8229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تسميات متسرعة أو غير متسقة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Rushed or inconsistent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480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ضوضاء ← نموذج ضعيف ← تصحيحات أكثر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Noise → weak model → more corrections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94960" y="2834640"/>
            <a:ext cx="68580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4805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اقتراح LLM + مراجعة بشرية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suggestion + 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48056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موثوقة ← نموذج أفضل ← تغذية راجعة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Trusted labels → better model →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617720"/>
            <a:ext cx="6080760" cy="71323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قِس اتفاق المقيمين قبل قبول البيانات / Measure reviewer agreement before accepting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العمل؛ الإنسان يظل مسؤولًا عن القبول والجودة.</a:t>
            </a:r>
          </a:p>
          <a:p>
            <a:pPr algn="r" rtl="0"/>
            <a:r>
              <a:t>The LLM accelerates work; people remain accountable for acceptance and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4/10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الأدوات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Label Studio للتعددية، Roboflow للرؤية الحاسوبية، Scale AI للتوسع المؤسسي.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Label Studio for versatility, Roboflow for vision, Scale AI for enterprise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5/10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التصنيف بمساعدة LLM / LLM-assisted Labeling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نموذج لغوي يقترح التصنيفات مبدئيًا لتسريع العملية وخفض التكلفة.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An LLM pre-labels examples to speed up the process and cut cost.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التحقق البشري (Human-in-the-loop) إلزامي قبل القبول، مع قياس اتفاق النموذج مع البشر.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Human-in-the-loop validation is mandatory before acceptance, measuring human–model 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6/10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2624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Left Arrow 5"/>
          <p:cNvSpPr/>
          <p:nvPr/>
        </p:nvSpPr>
        <p:spPr>
          <a:xfrm>
            <a:off x="4910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Left Arrow 7"/>
          <p:cNvSpPr/>
          <p:nvPr/>
        </p:nvSpPr>
        <p:spPr>
          <a:xfrm>
            <a:off x="7196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482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7/10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لماذا لا نعتمد تصنيفات LLM مباشرة دون مراجعة؟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not accept LLM labels directly without review?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أي أداة تناسب مشاريع الرؤية الحاسوبية؟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tool fits computer-vision projects?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8/10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لأن النموذج قد يخطئ أو يتحيز — التحقق البشري يضمن الجودة.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The model can err or be biased — human validation guarantees quality.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Roboflow.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Roboflow.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9/10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Label Studio.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Label Studio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Roboflow.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Roboflow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10/10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V10 — Labeling at Scale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حوكمة البيانات وسلسلة العهدة والفهرسة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Governance, Lineage &amp; Cataloging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1/10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V11 — حوكمة البيانات وسلسلة العهدة والفهرسة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V11 — Data Governance, Lineage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الحوكمة والفهرسة / Governance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(1/2) / GenAI Reference Architecture (1/2)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(2/2) / GenAI Reference Architecture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2/10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الحوكمة والفهرسة / Governance &amp; Cataloging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سلسلة العهدة (Lineage) تتبع أصل البيانات وتحولاتها؛ الفهرسة تجعلها قابلة للاكتشاف.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Lineage traces data origin and transformations; cataloging makes it discoverable.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أدوات: Apache Atlas، Collibra، DataHub.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Tools: Apache Atlas, Collibra, DataHub.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3/10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سلسلة العهدة / Data Lineage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2560320" cy="8686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CRM /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2783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1874519"/>
            <a:ext cx="2560320" cy="8686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تحويل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تنظيف + توحيد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0819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256032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منتج بيانات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مخطط + مالك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8855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2560320" cy="8686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استهلاك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لوحة / نموذج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709160"/>
            <a:ext cx="7635240" cy="7315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لكل خطوة: مالك + وقت + سياسة + أثر التغيير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For every step: owner + time + policy + change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اسأل «من أين جاءت هذه النتيجة؟» ثم اتبع السلسلة إلى المصدر.</a:t>
            </a:r>
          </a:p>
          <a:p>
            <a:pPr algn="r" rtl="0"/>
            <a:r>
              <a:t>Ask “where did this result come from?” then follow the chain to its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4/10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(1/2) / GenAI Reference Architecture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أ. بوابة منصة GenAI: نافذة موحدة بكتالوج حلول ومحفظة POC → MVP → PROD موثقة.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A. Portal: unified pane of glass with a solution catalog and documented POC → MVP → PROD portfolio.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ب. الأتمتة والامتثال: خطوط CI/CD ببوابات تحكم آلية وموافقات مرحلية وفق DevSecOps.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B. Automation &amp; compliance: CI/CD with automated control gates and stage-gate approvals (DevSecOps).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5/10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(2/2) / GenAI Reference Architecture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ج. الخدمات المشتركة: بوابة AI موحدة، مكتبة موجِّهات، خدمة التغذية الراجعة، قاعدة تدقيق LLM، حواجز حماية Guardrails.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C. Shared services: unified AI gateway, prompt library, feedback service, LLM audit database, guardrails.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د. الحوكمة والمراقبة: أمن البيانات، الذكاء المسؤول (تدقيق التحيّز والهلوسة)، وإدارة التكاليف FinOps.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D. Governance &amp; monitoring: data security, responsible AI (bias/hallucination audits), FinOps.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6/10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المرجعية للذكاء التوليدي / GenAI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أ. بوابة منصة GenAI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A. Platform Portal —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ب. الأتمتة والامتثال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B. Automation &amp; Compliance — CI/CD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ج. الخدمات المشتركة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C. Shared Services —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د. الحوكمة والمراقبة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D. Governance &amp; Monitoring — Responsible AI,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النمط المرجعي المؤسسي (McKinsey) — نافذة موحدة فوق خدمات مشتركة محكومة.</a:t>
            </a:r>
          </a:p>
          <a:p>
            <a:pPr algn="r" rtl="0"/>
            <a:r>
              <a:t>Enterprise reference pattern (McKinsey) — a unified pane over governed shared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7/10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وظيفة بوابة AI الموحدة (AI Gateway)؟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a unified AI gateway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نحتاج قاعدة تدقيق لنماذج LLM؟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keep an LLM audit database?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دور CI/CD في حوكمة GenAI؟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CI/CD's role in GenAI governance?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8/10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نقطة دخول موحدة تفرض المصادقة والحدود والتسجيل على كل الاستدعاءات.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 single entry point enforcing auth, limits, and logging for all calls.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لتتبع الموجِّهات والإجابات والامتثال والتحقيق في الحوادث.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To trace prompts/answers for compliance and investigation.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بوابات تحكم وموافقات مرحلية آلية قبل 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Automated control gates and approvals before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9/10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DataHub وApache Atlas.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DataHub and Apache Atlas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المعمارية المرجعية للذكاء التوليدي — McKinsey.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GenAI reference architecture — McKinsey.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10/10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V11 — Governance, Lineage &amp; Catalog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MLOps + تمهيد للمختبر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MLOps Fundamentals + Lab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1/13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V12 — أساسيات MLOps + تمهيد للمختبر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V12 — MLOps Fundamentals + Lab Introduction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MLOps والأدوات / MLOps &amp; Tools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تمييز المفاهيم / Concept Distinctions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RAG الوكيلي / Agentic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التكلفة والأداء عمليًا / Practical Cost &amp; Performance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تمهيد للمختبر L03 / Lab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2/13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MLOps والأدوات / MLOps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MLflow لتتبع التجارب والنماذج، Kubeflow لأتمتة الخطوط، 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MLflow for tracking, Kubeflow for pipeline automation,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3/13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دورة حياة MLOps / MLOps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تجربة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Experiment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640" y="1965960"/>
            <a:ext cx="2011680" cy="11430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تحقق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Validate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66360" y="1965960"/>
            <a:ext cx="2011680" cy="11430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نشر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Deploy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0" y="1965960"/>
            <a:ext cx="201168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مراقبة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5548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980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إعادة 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023360"/>
            <a:ext cx="832104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سجّل الإصدارات والقياسات في كل مرحلة — ثم أعد التعلم من الإنتاج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Record versions and metrics at every stage — then learn again from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MLOps ليس «نشرًا مرة واحدة»؛ إنه حلقة قابلة للقياس والتحسين.</a:t>
            </a:r>
          </a:p>
          <a:p>
            <a:pPr algn="r" rtl="0"/>
            <a:r>
              <a:t>MLOps is not “deploy once”; it is a measurable improvement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4/13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تمييز المفاهيم / Concept Distinctions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LLM: يرمّز النص ويتنبأ بالرموز التالية. الذكاء التوليدي: يولّد محتوى جديدًا (نص/صورة/صوت).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LLM: predicts next tokens. Generative AI: generates new content (text/image/audio).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الوكلاء: يكشفون النية ويستدعون الأدوات. الأنظمة الوكيلة: تخطيط ذاتي وتنفيذ متعدد الخطوات مع تقييم للنتائج.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Agents: detect intent and call tools. Agentic AI: self-directed multi-step planning with outcome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5/13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LLM إلى الأنظمة الوكيلة / From LLM to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تنبؤ بالرموز التالية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Predicts next tokens</a:t>
            </a:r>
          </a:p>
        </p:txBody>
      </p:sp>
      <p:sp>
        <p:nvSpPr>
          <p:cNvPr id="5" name="Left Arrow 4"/>
          <p:cNvSpPr/>
          <p:nvPr/>
        </p:nvSpPr>
        <p:spPr>
          <a:xfrm>
            <a:off x="307238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الذكاء التوليدي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يولّد محتوى جديدًا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Generates new content</a:t>
            </a:r>
          </a:p>
        </p:txBody>
      </p:sp>
      <p:sp>
        <p:nvSpPr>
          <p:cNvPr id="8" name="Left Arrow 7"/>
          <p:cNvSpPr/>
          <p:nvPr/>
        </p:nvSpPr>
        <p:spPr>
          <a:xfrm>
            <a:off x="590702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الوكلاء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نية + استدعاء أدوات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Intent + tool calls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4166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الأنظمة الوكيلة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تخطيط وتنفيذ متعدد الخطوات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Agentic RAG = بحث متجهي + جلب عبر الواجهات بذاكرة متجددة وتحقق قبل التسليم.</a:t>
            </a:r>
          </a:p>
          <a:p>
            <a:pPr algn="r" rtl="0"/>
            <a:r>
              <a:t>Agentic RAG = vector search + API fetching with refreshed memory and verification.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6/13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RAG الوكيلي /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يجمع البحث المتجهي وجلب البيانات عبر الواجهات في عملية متعددة الخطوات، بذاكرة محدَّثة وتحقق من النتائج قبل التسليم.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Combines vector search and API fetching in multi-step flows, with refreshed memory and verification before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7/13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التكلفة والأداء عمليًا / Practical Cost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التضمين (Embedding) أقل تكلفة بمرتبة كاملة من التوليد (Generation) — الاسترجاع أرخص من التوليد.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Embedding costs an order of magnitude less than generation — retrieval is cheaper than generation.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التخزين الدلالي المؤقت يخفض الكمون والتكلفة؛ توجيه الطلبات يرسل المهام البسيطة لنماذج أصغر أرخص.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Semantic caching cuts latency and cost; routing sends easy tasks to smaller, cheaper models.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قاعدة FinOps: قِس التكلفة لكل طلب (per-request) قبل التوسع.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FinOps rule: measure per-request cost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8/13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التكلفة عمليًا: التضمين مقابل التوليد / Cost: Embedding vs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التضمين 1x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Embedding —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التوليد ~10x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 —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الحل: تخزين مؤقت + توجيه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Fix: caching +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قاعدة FinOps: قِس التكلفة لكل طلب قبل التوسع.</a:t>
            </a:r>
          </a:p>
          <a:p>
            <a:pPr algn="r" rtl="0"/>
            <a:r>
              <a:t>FinOps rule: measure per-request cost before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9/13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تمهيد للمختبر L03 / Lab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المختبر: خط محلي خفيف — Python venv + SQLite مدمجة (Bronze/Silver) + ChromaDB (Gold) — دون Docker، بنقطة نهاية FastAPI على المسار /query.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The lab: lightweight local pipeline — Python venv + built-in SQLite (Bronze/Silver) + ChromaDB (Gold) — no Docker, ending in a FastAPI /query endpoint.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10/13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مختبر L03 / L03 Lab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خط ETL ‏(etl_pipeline.py):‏ Bronze ‏(SQLite خام) ← Silver ‏(تنظيف + تقسيم 500/50) ← Gold ‏(ChromaDB HNSW cosine، دفعات 10)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ETL (etl_pipeline.py): Bronze (raw SQLite) → Silver (clean + 500/50 chunk) → Gold (ChromaDB HNSW cosine, batches of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الخلفية ‏(rag_api.py:8000):‏ استرجاع كثيف top-k=5 حد 0.2 ← توليد مؤرَّض OpenRouter free ← كاش دلالي 0.92 ← تقييم golden (12 سؤالًا)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Backend (rag_api.py :8000): dense top-k=5 ≥0.2 → grounded OpenRouter free → semantic cache 0.92 → golden eval (12 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الواجهة ‏(streamlit_ui.py:8501):‏ 5 تبويبات ثنائية — رفع/مستندات/استعلام/تقييم/حول — تُعيد استخدام نفس عميل Chroma مع حذف المجموعة وإعادة إنشائها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Frontend (streamlit_ui.py :8501): 5 bilingual tabs — upload/docs/query/eval/about — same Chroma client, drop &amp; recreate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المخازن: l03_lab.db ‏(bronze_docs/silver_chunks)‏ + chroma_db ‏(gold_chunks بُعد 384)‏ + golden_dataset.json + env.‏ للمفتاح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Stores: l03_lab.db (bronze_docs/silver_chunks) + chroma_db (gold_chunks dim 384) + golden_dataset.json + .env for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التفاصيل الكاملة في l03_lab/ARCHITECTURE.md.</a:t>
            </a:r>
          </a:p>
          <a:p>
            <a:pPr algn="r" rtl="0"/>
            <a:r>
              <a:t>Full detail in l03_lab/ARCHITECTURE.md.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تشغيل مختبر L03 / Running the L03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cd l03_lab  +  source .venv/bin/activate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18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OMP_NUM_THREADS=1 MKL_NUM_THREADS=1 TOKENIZERS_PARALLELISM=false  python -u etl_pipeline.py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8541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./run_ui.sh   →   http://localhost:8501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52344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uvicorn rag_api:app --reload   →   http://localhost:8000/docs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927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python rag_api.py evaluate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دائمًا من داخل الـ venv — التشغيل الخارجي يسبب segfault.</a:t>
            </a:r>
          </a:p>
          <a:p>
            <a:pPr algn="r" rtl="0"/>
            <a:r>
              <a:t>Always inside the venv — outside env segfaults.</a:t>
            </a:r>
          </a:p>
        </p:txBody>
      </p:sp>
    </p:spTree>
    <p:extLst>
      <p:ext uri="{BB962C8B-B14F-4D97-AF65-F5344CB8AC3E}">
        <p14:creationId xmlns:p14="http://schemas.microsoft.com/office/powerpoint/2010/main" val="4787600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فرّق بين AI Agent وAgentic AI.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an AI agent from agentic AI.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ما أرخص: تضمين أم توليد؟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is cheaper: embedding or generation?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أدوات تتبع التجارب وإصدارات البيانات؟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tools track experiments and version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11/13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الوكيل يستجيب ويستدعي أدوات؛ الوكيلي يخطط ذاتيًا وينفذ خطوات متعددة ويتكيف.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An agent responds and calls tools; agentic AI self-plans multi-step execution.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التضمين — أقل بتكلفة مرتبة كاملة.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Embedding — roughly an order of magnitude cheaper.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MLflow للتتبع وDVC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MLflow for tracking,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12/13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V12 — MLOps + Lab Introduction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المصطلحات والاختبارات القصيرة</a:t>
            </a:r>
          </a:p>
          <a:p>
            <a:pPr algn="r" rtl="0"/>
            <a:r>
              <a:rPr sz="2600" b="0">
                <a:solidFill>
                  <a:srgbClr val="666666"/>
                </a:solidFill>
                <a:latin typeface="Calibri"/>
              </a:rPr>
              <a:t>Glossary &amp; Short Quizzes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Arial"/>
              </a:rPr>
              <a:t>الوحدة الثانية — مادة مساندة / Module 02 — Supporting Material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المصطلحات / Glossary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البيانات والتخزين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10972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47472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RAG والاسترجاع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RAG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3429000"/>
            <a:ext cx="3474720" cy="10972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452628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تعلم المصطلحات كمجموعات مترابطة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Learn terms as connected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استخدم هذه الخريطة قبل الرجوع إلى التعريفات التفصيلية.</a:t>
            </a:r>
          </a:p>
          <a:p>
            <a:pPr algn="r" rtl="0"/>
            <a:r>
              <a:t>Use this map before returning to the detailed definitions.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(1)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Arial"/>
              </a:rPr>
              <a:t>خط</a:t>
            </a:r>
            <a:r>
              <a:rPr sz="1700" b="1" dirty="0">
                <a:solidFill>
                  <a:srgbClr val="333333"/>
                </a:solidFill>
                <a:latin typeface="Arial"/>
              </a:rPr>
              <a:t> </a:t>
            </a:r>
            <a:r>
              <a:rPr lang="ar-EG" sz="1700" b="1" dirty="0">
                <a:solidFill>
                  <a:srgbClr val="333333"/>
                </a:solidFill>
                <a:latin typeface="Arial"/>
              </a:rPr>
              <a:t>مسارات </a:t>
            </a:r>
            <a:r>
              <a:rPr sz="17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Arial"/>
              </a:rPr>
              <a:t>البيانات</a:t>
            </a:r>
            <a:endParaRPr sz="17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والتحويل والتحميل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ETL (Extract, Transform, 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والتحميل والتحويل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Medallion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(2)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معمارية بحيرة البيانات الموحدة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Lakehouse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شبكة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منتج البيانات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عقد البيانات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سلسلة العهدة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Lineage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البيانات / الكتالوج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(3)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هندسة الخصائص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مخزن الخصائص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انحراف الميزات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Skew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قاعدة البيانات المتجهية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Vector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التمثيل المتجهي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التقريبي لأقرب الجيران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ANN (Approximate Nearest Neighbor)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(4)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HNSW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التكراري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Recursive Chunking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الدلالي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Chunking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الهجين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Hybrid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الكثيف / المتناثر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Dense / Sparse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إعادة الترتيب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(5)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الموجِّه المقيَّد بالمصادر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Grounded 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التوليد المعزَّز بالاسترجاع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RAG (Retrieval-Augmented Generation)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RAG الوكيلي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Agentic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دقة السياق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(6)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التخزين الدلالي المؤقت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عميل ChromaDB واحد (لا قفل 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Single ChromaDB client (no SQLite lock)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حذف المجموعة وإعادة إنشائها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Drop &amp; recreate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الترميز بدفعات 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Batched encoding (10)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توجيه الطلبات بين النماذج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Model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التصنيف بمساعدة النموذج اللغوي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LLM-assisted Labeling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(7)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التحقق البشري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بوابة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مكتبة الموجِّهات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Prompt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حواجز الحماية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Guardrails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الذكاء الاصطناعي المسؤول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Responsible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إدارة التكاليف السحابية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FinOps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(8)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تتبع التجارب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إصدارات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6142</Words>
  <Application>Microsoft Macintosh PowerPoint</Application>
  <PresentationFormat>Widescreen</PresentationFormat>
  <Paragraphs>872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Sameh Saeed</cp:lastModifiedBy>
  <cp:revision>33</cp:revision>
  <dcterms:created xsi:type="dcterms:W3CDTF">2013-01-27T09:14:16Z</dcterms:created>
  <dcterms:modified xsi:type="dcterms:W3CDTF">2026-09-09T16:46:01Z</dcterms:modified>
  <cp:category/>
</cp:coreProperties>
</file>