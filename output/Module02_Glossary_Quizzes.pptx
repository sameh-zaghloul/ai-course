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400" b="1">
                <a:solidFill>
                  <a:srgbClr val="1F3B5C"/>
                </a:solidFill>
                <a:latin typeface="Arial"/>
              </a:rPr>
              <a:t>المصطلحات والاختبارات القصيرة</a:t>
            </a:r>
          </a:p>
          <a:p>
            <a:pPr algn="r" rtl="0"/>
            <a:r>
              <a:rPr sz="2600" b="0">
                <a:solidFill>
                  <a:srgbClr val="666666"/>
                </a:solidFill>
                <a:latin typeface="Calibri"/>
              </a:rPr>
              <a:t>Glossary &amp; Short Quizzes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>
                <a:solidFill>
                  <a:srgbClr val="666666"/>
                </a:solidFill>
                <a:latin typeface="Arial"/>
              </a:rPr>
              <a:t>الوحدة الثانية — مادة مساندة / Module 02 — Supporting Material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خريطة المصطلحات / Glossary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7472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البيانات والتخزين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Data &amp;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234440"/>
            <a:ext cx="3474720" cy="109728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الخصائص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234440"/>
            <a:ext cx="3474720" cy="109728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RAG والاسترجاع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RAG &amp;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3429000"/>
            <a:ext cx="3474720" cy="10972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الحوكمة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429000"/>
            <a:ext cx="3474720" cy="109728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1">
                <a:solidFill>
                  <a:srgbClr val="333333"/>
                </a:solidFill>
                <a:latin typeface="Arial"/>
              </a:rPr>
              <a:t>MLOps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MLOps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331720"/>
            <a:ext cx="4526280" cy="64008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300" b="1">
                <a:solidFill>
                  <a:srgbClr val="333333"/>
                </a:solidFill>
                <a:latin typeface="Arial"/>
              </a:rPr>
              <a:t>تعلم المصطلحات كمجموعات مترابطة</a:t>
            </a:r>
          </a:p>
          <a:p>
            <a:pPr algn="ctr" rtl="0"/>
            <a:r>
              <a:rPr sz="1100">
                <a:solidFill>
                  <a:srgbClr val="666666"/>
                </a:solidFill>
                <a:latin typeface="Calibri"/>
              </a:rPr>
              <a:t>Learn terms as connected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استخدم هذه الخريطة قبل الرجوع إلى التعريفات التفصيلية.</a:t>
            </a:r>
          </a:p>
          <a:p>
            <a:pPr algn="r" rtl="0"/>
            <a:r>
              <a:t>Use this map before returning to the detailed definitions.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(1)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خط أنابيب البيانات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الاستخراج والتحويل والتحميل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ETL (Extract, Transform, 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الاستخراج والتحميل والتحويل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المعمارية المتدرِّجة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Medallion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مستودع البيانات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بحيرة البيانات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Lake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(2)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معمارية بحيرة البيانات الموحدة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Lakehouse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شبكة البيانات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منتج البيانات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عقد البيانات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Contract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سلسلة العهدة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Lineage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فهرس البيانات / الكتالوج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Catalog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(3)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هندسة الخصائص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مخزن الخصائص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Feature 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انحراف الميزات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Feature Skew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قاعدة البيانات المتجهية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Vector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التمثيل المتجهي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Embedding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البحث التقريبي لأقرب الجيران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ANN (Approximate Nearest Neighbor)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(4)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فهرس HNSW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HNSW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التقسيم التكراري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Recursive Chunking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التقسيم الدلالي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Semantic Chunking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البحث الهجين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Hybrid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البحث الكثيف / المتناثر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Dense / Sparse Retrieval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إعادة الترتيب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Reranking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(5)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الموجِّه المقيَّد بالمصادر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Grounded Prompting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التوليد المعزَّز بالاسترجاع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RAG (Retrieval-Augmented Generation)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RAG الوكيلي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Agentic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الوفاء بالمصدر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Faithfulness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ملاءمة الإجابة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Answer Relevancy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دقة السياق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Context Precision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(6)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التخزين الدلالي المؤقت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Semantic Caching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عميل ChromaDB واحد (لا قفل SQLite)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Single ChromaDB client (no SQLite lock)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حذف المجموعة وإعادة إنشائها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Drop &amp; recreate collection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الترميز بدفعات (10)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Batched encoding (10)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توجيه الطلبات بين النماذج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Model Routing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التصنيف بمساعدة النموذج اللغوي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LLM-assisted Labeling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(7)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التحقق البشري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Human-in-the-loop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بوابة الذكاء الاصطناعي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AI Gateway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66090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مكتبة الموجِّهات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60904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Prompt Library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37560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46557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حواجز الحماية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Guardrails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42232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270248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الذكاء الاصطناعي المسؤول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Responsible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46904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507492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إدارة التكاليف السحابية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FinOps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5157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المصطلحات (8) /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051560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تتبع التجارب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Experiment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28216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85623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>
                <a:solidFill>
                  <a:srgbClr val="333333"/>
                </a:solidFill>
                <a:latin typeface="Arial"/>
              </a:rPr>
              <a:t>إصدارات البيانات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5394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0">
                <a:solidFill>
                  <a:srgbClr val="666666"/>
                </a:solidFill>
                <a:latin typeface="Calibri"/>
              </a:rPr>
              <a:t>Data Versioning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32888"/>
            <a:ext cx="10972800" cy="9525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معمارية مختبر L03 / L03 Lab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10972800" cy="112014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خط ETL ‏(etl_pipeline.py):‏ Bronze ‏(SQLite خام) ← Silver ‏(تنظيف + تقسيم 500/50) ← Gold ‏(ChromaDB HNSW cosine، دفعات 10)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ETL (etl_pipeline.py): Bronze (raw SQLite) → Silver (clean + 500/50 chunk) → Gold (ChromaDB HNSW cosine, batches of 10)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63140"/>
            <a:ext cx="10972800" cy="11201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الخلفية ‏(rag_api.py:8000):‏ استرجاع كثيف top-k=5 حد 0.2 ← توليد مؤرَّض OpenRouter free ← كاش دلالي 0.92 ← تقييم golden (12 سؤالًا)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Backend (rag_api.py :8000): dense top-k=5 ≥0.2 → grounded OpenRouter free → semantic cache 0.92 → golden eval (12 Q)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74720"/>
            <a:ext cx="10972800" cy="11201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الواجهة ‏(streamlit_ui.py:8501):‏ 5 تبويبات ثنائية — رفع/مستندات/استعلام/تقييم/حول — تُعيد استخدام نفس عميل Chroma مع حذف المجموعة وإعادة إنشائها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Frontend (streamlit_ui.py :8501): 5 bilingual tabs — upload/docs/query/eval/about — same Chroma client, drop &amp; recreate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86300"/>
            <a:ext cx="10972800" cy="11201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المخازن: l03_lab.db ‏(bronze_docs/silver_chunks)‏ + chroma_db ‏(gold_chunks بُعد 384)‏ + golden_dataset.json + env.‏ للمفتاح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Stores: l03_lab.db (bronze_docs/silver_chunks) + chroma_db (gold_chunks dim 384) + golden_dataset.json + .env for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التفاصيل الكاملة في l03_lab/ARCHITECTURE.md.</a:t>
            </a:r>
          </a:p>
          <a:p>
            <a:pPr algn="r" rtl="0"/>
            <a:r>
              <a:t>Full detail in l03_lab/ARCHITECTURE.md.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تشغيل مختبر L03 / Running the L03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cd l03_lab  +  source .venv/bin/activate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184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OMP_NUM_THREADS=1 MKL_NUM_THREADS=1 TOKENIZERS_PARALLELISM=false  python -u etl_pipeline.py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85416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./run_ui.sh   →   http://localhost:8501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52344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uvicorn rag_api:app --reload   →   http://localhost:8000/docs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1927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sz="1500" b="1">
                <a:solidFill>
                  <a:srgbClr val="333333"/>
                </a:solidFill>
                <a:latin typeface="Calibri"/>
              </a:rPr>
              <a:t>python rag_api.py evaluate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دائمًا من داخل الـ venv — التشغيل الخارجي يسبب segfault.</a:t>
            </a:r>
          </a:p>
          <a:p>
            <a:pPr algn="r" rtl="0"/>
            <a:r>
              <a:t>Always inside the venv — outside env segfaults.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دروس الجمود / Freeze Lessons (مطبَّقة في الكود)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51560"/>
            <a:ext cx="10972800" cy="112014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عميل ChromaDB واحد فقط — عميل ثانٍ = قفل SQLite وتجمّد بعد [Silver]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Single ChromaDB client only — a 2nd client = SQLite lock, freeze after [Silver]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63140"/>
            <a:ext cx="10972800" cy="11201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حذف المجموعة وإعادة إنشائها بدل delete+add على مقطع HNSW مستخدَم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Drop &amp; recreate collection instead of delete+add on a used HNSW segment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74720"/>
            <a:ext cx="10972800" cy="11201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ترميز صريح بدفعات 10 + سجلات encode/inserting/done + شريط تقدم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Explicit encoding in batches of 10 + encode/inserting/done logs + progress bar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686300"/>
            <a:ext cx="10972800" cy="11201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Arial"/>
              </a:rPr>
              <a:t>macOS: ‏OMP/MKL=1‏ + ‏TOKENIZERS_PARALLELISM=false‏ قبل استيراد onnx + ‏python -u‏ + اسم ‏gold_chunks‏ موحّد</a:t>
            </a:r>
          </a:p>
          <a:p>
            <a:pPr algn="ctr" rtl="0"/>
            <a:r>
              <a:rPr sz="1200">
                <a:solidFill>
                  <a:srgbClr val="666666"/>
                </a:solidFill>
                <a:latin typeface="Calibri"/>
              </a:rPr>
              <a:t>macOS: OMP/MKL=1 + TOKENIZERS_PARALLELISM=false before onnx import + python -u + one gold_chunks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Arial"/>
              </a:rPr>
              <a:t>أول تشغيل لـ Gold يُنزّل all-MiniLM-L6-v2 ‏(~80MB)‏ لمرة واحدة.</a:t>
            </a:r>
          </a:p>
          <a:p>
            <a:pPr algn="r" rtl="0"/>
            <a:r>
              <a:t>First Gold run downloads all-MiniLM-L6-v2 (~80MB) once.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V06 — أساسيات البيانات / Data Fundamentals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الفرق الجوهري بين ETL وELT؟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is the key difference between ETL and ELT?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أين تُستخدم طبقة Gold في المعمارية المتدرِّجة؟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Where is the Gold layer used in the Medallion architecture?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أي نمط يناسب مؤسسة كبيرة بفرق مستقلة وملكية لامركزية؟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pattern suits a large organization with independent, decentralized teams?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التنسيق الأنسب للتحليلات عالية الأداء ولماذا؟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format suits high-performance analytics and why?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V06 — أساسيات البيانات / Data Fundamentals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ETL يحوّل قبل التحميل؛ ELT يحمّل أولاً ثم يحوّل داخل المنصة الهدف.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ETL transforms before loading; ELT loads first and transforms inside the target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تجميعات على مستوى الأعمال جاهزة للتحليل.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Business-level aggregates that are analytics-ready.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شبكة البيانات Data Mesh.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Data mesh.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Parquet — تنسيق عمودي يقلل الحجم ويسرّع القراءة.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Parquet — columnar, smaller and faster for analytical reads.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V07 — المستودعات والبحيرات ومعمارية Lakehouse / Warehouses, Data Lakes &amp; Lakehouse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معنى «مخطط عند القراءة»؟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does 'schema-on-read'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مكونات عقد البيانات الثلاثة؟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are the three components of a data contract?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ماذا يضيف Lakehouse عن البحيرة المجردة؟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does a lakehouse add over a raw lake?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V07 — المستودعات والبحيرات ومعمارية Lakehouse / Warehouses, Data Lakes &amp; Lakehouse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لا يُفرض المخطط عند الكتابة بل عند القراءة — سمة البحيرات.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Schema is enforced at read time, not write time — a lake trait.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المخطط، الأمان، مستوى الخدمة SLA.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Schema, security, and SLA.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معاملات ACID وأداء SQL وحوكمة.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ACID transactions, SQL performance, and governance.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V08 — هندسة الخصائص ومخازنها / Feature Engineering &amp; Feature Stores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المشكلة التي يحلها مخزن الخصائص؟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problem does a feature store solve?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فرّق بين المخزن Offline وOnline.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Differentiate offline vs online stores.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اذكر أداتين لمخازن الخصائص.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Name two feature-store tools.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V08 — هندسة الخصائص ومخازنها / Feature Engineering &amp; Feature Stores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انحراف الميزات بين التدريب والخدمة وتكرار العمل.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Feature skew between training/serving and duplicated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Offline للتدريب التاريخي؛ Online لخدمة فورية منخفضة الكمون.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Offline for historical training; online for low-latency serving.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Feast وHopsworks (أو Tecton).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Feast and Hopsworks (or Tecton).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V09 — قواعد البيانات المتجهية + RAG التطبيقي / Vector Databases + Applied RAG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استراتيجية التقسيم الموصى بها افتراضيًا؟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chunking strategy is the recommended default?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لماذا نجمع البحث الكثيف مع BM25؟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Why combine dense search with BM25?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مكونات مثلث تقييم RAG الثلاثة؟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Name the three parts of the RAG evaluation triad.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وظيفة إعادة الترتيب Cross-encoder؟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does cross-encoder reranking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كيف يقلل التخزين الدلالي المؤقت التكلفة؟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How does semantic caching cut cost?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V09 — قواعد البيانات المتجهية + RAG التطبيقي / Vector Databases + Applied RAG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التقسيم التكراري Recursive Chunking.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Recursive chunking.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الكثيف يفهم المعنى وBM25 يطابق الكلمات النادرة حرفيًا.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Dense captures meaning; BM25 matches rare exact keywords.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الوفاء، ملاءمة الإجابة، دقة السياق.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Faithfulness, answer relevancy, context precision.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يعيد ترتيب المرشحين بنموذج أدق لرفع ملاءمة النتائج.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Re-scores candidates with a more accurate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يعيد استخدام إجابات الأسئلة المشابهة بدل استدعاء النموذج كل مرة.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Reuses answers for similar questions.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V10 — تصنيف البيانات على نطاق واسع / Labeling at Scale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لماذا لا نعتمد تصنيفات LLM مباشرة دون مراجعة؟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Why not accept LLM labels directly without review?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أي أداة تناسب مشاريع الرؤية الحاسوبية؟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tool fits computer-vision projects?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V10 — تصنيف البيانات على نطاق واسع / Labeling at Scale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لأن النموذج قد يخطئ أو يتحيز — التحقق البشري يضمن الجودة.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The model can err or be biased — human validation guarantees quality.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Roboflow.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Roboflow.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V11 — حوكمة البيانات وسلسلة العهدة والفهرسة / Data Governance, Lineage &amp; Cataloging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وظيفة بوابة AI الموحدة (AI Gateway)؟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does a unified AI gateway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لماذا نحتاج قاعدة تدقيق لنماذج LLM؟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Why keep an LLM audit database?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دور CI/CD في حوكمة GenAI؟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What is CI/CD's role in GenAI governance?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V11 — حوكمة البيانات وسلسلة العهدة والفهرسة / Data Governance, Lineage &amp; Cataloging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نقطة دخول موحدة تفرض المصادقة والحدود والتسجيل على كل الاستدعاءات.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A single entry point enforcing auth, limits, and logging for all calls.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لتتبع الموجِّهات والإجابات والامتثال والتحقيق في الحوادث.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To trace prompts/answers for compliance and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بوابات تحكم وموافقات مرحلية آلية قبل الإنتاج.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Automated control gates and approvals before production.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V12 — أساسيات MLOps + تمهيد للمختبر / MLOps Fundamentals + Lab Introduction — أسئلة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فرّق بين AI Agent وAgentic AI.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Differentiate an AI agent from agentic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أرخص: تضمين أم توليد؟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is cheaper: embedding or generation?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>
                <a:solidFill>
                  <a:srgbClr val="333333"/>
                </a:solidFill>
                <a:latin typeface="Arial"/>
              </a:rPr>
              <a:t>س: ما أدوات تتبع التجارب وإصدارات البيانات؟</a:t>
            </a:r>
          </a:p>
          <a:p>
            <a:pPr algn="r" rtl="0"/>
            <a:r>
              <a:rPr sz="1200" b="0">
                <a:solidFill>
                  <a:srgbClr val="666666"/>
                </a:solidFill>
                <a:latin typeface="Calibri"/>
              </a:rPr>
              <a:t>Q: Which tools track experiments and version data?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Arial"/>
              </a:rPr>
              <a:t>V12 — أساسيات MLOps + تمهيد للمختبر / MLOps Fundamentals + Lab Introduction — إجابات /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الوكيل يستجيب ويستدعي أدوات؛ الوكيلي يخطط ذاتيًا وينفذ خطوات متعددة ويتكيف.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An agent responds and calls tools; agentic AI self-plans multi-step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التضمين — أقل بتكلفة مرتبة كاملة.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Embedding — roughly an order of magnitude cheaper.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F4E79"/>
                </a:solidFill>
                <a:latin typeface="Arial"/>
              </a:rPr>
              <a:t>✅ MLflow للتتبع وDVC لإصدارات البيانات.</a:t>
            </a:r>
          </a:p>
          <a:p>
            <a:pPr algn="r" rtl="0"/>
            <a:r>
              <a:rPr sz="1100" b="0">
                <a:solidFill>
                  <a:srgbClr val="666666"/>
                </a:solidFill>
                <a:latin typeface="Calibri"/>
              </a:rPr>
              <a:t>✅ MLflow for tracking, DVC for data versioning.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