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4" r:id="rId15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972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0"/>
            <a:r>
              <a:rPr sz="2800" b="1">
                <a:solidFill>
                  <a:srgbClr val="1F4E79"/>
                </a:solidFill>
                <a:latin typeface="Calibri"/>
                <a:cs typeface="Arial"/>
                <a:ea typeface="Calibri"/>
              </a:rPr>
              <a:t>Module 02  |  V10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4400" b="1">
                <a:solidFill>
                  <a:srgbClr val="1F3B5C"/>
                </a:solidFill>
                <a:latin typeface="Arial"/>
                <a:cs typeface="Arial"/>
                <a:ea typeface="Calibri"/>
              </a:rPr>
              <a:t>تصنيف البيانات على نطاق واسع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2004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0"/>
            <a:r>
              <a:rPr sz="3000" b="0">
                <a:solidFill>
                  <a:srgbClr val="333333"/>
                </a:solidFill>
                <a:latin typeface="Calibri"/>
                <a:cs typeface="Arial"/>
                <a:ea typeface="Calibri"/>
              </a:rPr>
              <a:t>Labeling at Scale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9377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0"/>
            <a:r>
              <a:rPr sz="14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Light theme  |  Bilingual AR/EN  |  Ready to present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V10  •  1/11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10_  •  1/9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10_  •  1/9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  <a:cs typeface="Arial"/>
                <a:ea typeface="Calibri"/>
              </a:rPr>
              <a:t>أجندة العرض / 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V10 — تصنيف البيانات على نطاق واسع</a:t>
            </a:r>
          </a:p>
          <a:p>
            <a:pPr algn="r" rtl="0">
              <a:spcBef>
                <a:spcPts val="200"/>
              </a:spcBef>
              <a:spcAft>
                <a:spcPts val="1000"/>
              </a:spcAft>
            </a:pPr>
            <a:r>
              <a:rPr sz="13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• V10 — Labeling at Scale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لماذا التصنيف؟ / Why Labeling?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الأدوات / Tools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التصنيف بمساعدة LLM / LLM-assisted Labeling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V10  •  2/11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10_  •  2/9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10_  •  2/9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  <a:cs typeface="Arial"/>
                <a:ea typeface="Calibri"/>
              </a:rPr>
              <a:t>لماذا التصنيف؟ / Why Labeling?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جودة التصنيفات تحدد سقف أداء أي نموذج تعلّم مُوجَّه.</a:t>
            </a:r>
          </a:p>
          <a:p>
            <a:pPr algn="r" rtl="0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• Label quality caps the performance of any supervised model.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V10  •  3/11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10_  •  3/9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10_  •  3/9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  <a:cs typeface="Arial"/>
                <a:ea typeface="Calibri"/>
              </a:rPr>
              <a:t>الأدوات / 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Label Studio للتعددية، Roboflow للرؤية الحاسوبية، Scale AI للتوسع المؤسسي.</a:t>
            </a:r>
          </a:p>
          <a:p>
            <a:pPr algn="r" rtl="0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• Label Studio for versatility, Roboflow for vision, Scale AI for enterprise scale.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V10  •  4/11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10_  •  4/9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10_  •  4/9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  <a:cs typeface="Arial"/>
                <a:ea typeface="Calibri"/>
              </a:rPr>
              <a:t>التصنيف بمساعدة LLM / LLM-assisted Labeling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نموذج لغوي يقترح التصنيفات مبدئيًا لتسريع العملية وخفض التكلفة.</a:t>
            </a:r>
          </a:p>
          <a:p>
            <a:pPr algn="r" rtl="0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• An LLM pre-labels examples to speed up the process and cut cost.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التحقق البشري (Human-in-the-loop) إلزامي قبل القبول، مع قياس اتفاق النموذج مع البشر.</a:t>
            </a:r>
          </a:p>
          <a:p>
            <a:pPr algn="r" rtl="0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• Human-in-the-loop validation is mandatory before acceptance, measuring human–model agreement.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V10  •  5/11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10_  •  5/9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10_  •  5/9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  <a:cs typeface="Arial"/>
                <a:ea typeface="Calibri"/>
              </a:rPr>
              <a:t>سير عمل التصنيف بمساعدة LLM / LLM-assisted Labeling Workflow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2103120"/>
            <a:ext cx="1965960" cy="128016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بيانات خام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Raw data</a:t>
            </a:r>
          </a:p>
        </p:txBody>
      </p:sp>
      <p:sp>
        <p:nvSpPr>
          <p:cNvPr id="4" name="Left Arrow 3"/>
          <p:cNvSpPr/>
          <p:nvPr/>
        </p:nvSpPr>
        <p:spPr>
          <a:xfrm>
            <a:off x="2624328" y="2606040"/>
            <a:ext cx="274320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926080" y="2103120"/>
            <a:ext cx="1965960" cy="128016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تسمية مبدئية بالـ LLM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LLM pre-labeling</a:t>
            </a:r>
          </a:p>
        </p:txBody>
      </p:sp>
      <p:sp>
        <p:nvSpPr>
          <p:cNvPr id="6" name="Left Arrow 5"/>
          <p:cNvSpPr/>
          <p:nvPr/>
        </p:nvSpPr>
        <p:spPr>
          <a:xfrm>
            <a:off x="4910328" y="2606040"/>
            <a:ext cx="274320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212080" y="2103120"/>
            <a:ext cx="1965960" cy="128016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مراجعة وتصحيح بشري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Human review (HITL)</a:t>
            </a:r>
          </a:p>
        </p:txBody>
      </p:sp>
      <p:sp>
        <p:nvSpPr>
          <p:cNvPr id="8" name="Left Arrow 7"/>
          <p:cNvSpPr/>
          <p:nvPr/>
        </p:nvSpPr>
        <p:spPr>
          <a:xfrm>
            <a:off x="7196328" y="2606040"/>
            <a:ext cx="274320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498080" y="2103120"/>
            <a:ext cx="1965960" cy="1280160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تسميات معتمدة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Approved labels</a:t>
            </a:r>
          </a:p>
        </p:txBody>
      </p:sp>
      <p:sp>
        <p:nvSpPr>
          <p:cNvPr id="10" name="Left Arrow 9"/>
          <p:cNvSpPr/>
          <p:nvPr/>
        </p:nvSpPr>
        <p:spPr>
          <a:xfrm>
            <a:off x="9482328" y="2606040"/>
            <a:ext cx="274320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784080" y="2103120"/>
            <a:ext cx="1965960" cy="128016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تدريب النموذج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Model training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0" y="4023360"/>
            <a:ext cx="6766560" cy="73152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3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حلقة تغذية راجعة: تصحيحات البشر تُحسِّن موجِّهات الـ LLM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Feedback loop: human corrections improve LLM prompts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>
                <a:solidFill>
                  <a:srgbClr val="666666"/>
                </a:solidFill>
                <a:latin typeface="Arial"/>
                <a:cs typeface="Arial"/>
                <a:ea typeface="Calibri"/>
              </a:rPr>
              <a:t>الـ LLM يسرّع التسمية والبشر يضمنون الجودة — أفضل الممارسات الحديثة.</a:t>
            </a:r>
          </a:p>
          <a:p>
            <a:pPr algn="r" rtl="0"/>
            <a:r>
              <a:rPr>
                <a:latin typeface="Calibri"/>
                <a:cs typeface="Arial"/>
                <a:ea typeface="Calibri"/>
              </a:rPr>
              <a:t>LLM accelerates labeling; humans guarantee quality — modern best practice.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10_  •  6/9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10_  •  6/9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  <a:cs typeface="Arial"/>
                <a:ea typeface="Calibri"/>
              </a:rPr>
              <a:t>اختبار قصير / Quick Quiz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1. لماذا لا نعتمد تصنيفات LLM مباشرة دون مراجعة؟</a:t>
            </a:r>
          </a:p>
          <a:p>
            <a:pPr algn="r" rtl="0">
              <a:spcBef>
                <a:spcPts val="200"/>
              </a:spcBef>
              <a:spcAft>
                <a:spcPts val="1000"/>
              </a:spcAft>
            </a:pPr>
            <a:r>
              <a:rPr sz="17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• Why not accept LLM labels directly without review?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2. أي أداة تناسب مشاريع الرؤية الحاسوبية؟</a:t>
            </a:r>
          </a:p>
          <a:p>
            <a:pPr algn="r" rtl="0">
              <a:spcBef>
                <a:spcPts val="200"/>
              </a:spcBef>
              <a:spcAft>
                <a:spcPts val="1000"/>
              </a:spcAft>
            </a:pPr>
            <a:r>
              <a:rPr sz="17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• Which tool fits computer-vision projects?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V10  •  6/11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10_  •  7/9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10_  •  7/9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  <a:cs typeface="Arial"/>
                <a:ea typeface="Calibri"/>
              </a:rPr>
              <a:t>إجابات الاختبار / Quiz Answers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1. لأن النموذج قد يخطئ أو يتحيز — التحقق البشري يضمن الجودة.</a:t>
            </a:r>
          </a:p>
          <a:p>
            <a:pPr algn="r" rtl="0">
              <a:spcBef>
                <a:spcPts val="200"/>
              </a:spcBef>
              <a:spcAft>
                <a:spcPts val="1000"/>
              </a:spcAft>
            </a:pPr>
            <a:r>
              <a:rPr sz="15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• The model can err or be biased — human validation guarantees quality.</a:t>
            </a:r>
          </a:p>
          <a:p>
            <a:pPr algn="r" rtl="0">
              <a:spcBef>
                <a:spcPts val="200"/>
              </a:spcBef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Calibri"/>
                <a:cs typeface="Arial"/>
                <a:ea typeface="Calibri"/>
              </a:rPr>
              <a:t>• 2. Roboflow.</a:t>
            </a:r>
          </a:p>
          <a:p>
            <a:pPr algn="r" rtl="0">
              <a:spcBef>
                <a:spcPts val="200"/>
              </a:spcBef>
              <a:spcAft>
                <a:spcPts val="1000"/>
              </a:spcAft>
            </a:pPr>
            <a:r>
              <a:rPr sz="15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• Roboflow.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V10  •  7/11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10_  •  8/9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10_  •  8/9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  <a:cs typeface="Arial"/>
                <a:ea typeface="Calibri"/>
              </a:rPr>
              <a:t>للاستزادة / Further Reading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توثيق Label Studio.</a:t>
            </a:r>
          </a:p>
          <a:p>
            <a:pPr algn="r" rtl="0">
              <a:spcBef>
                <a:spcPts val="200"/>
              </a:spcBef>
              <a:spcAft>
                <a:spcPts val="1000"/>
              </a:spcAft>
            </a:pPr>
            <a:r>
              <a:rPr sz="17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• Label Studio docs.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توثيق Roboflow.</a:t>
            </a:r>
          </a:p>
          <a:p>
            <a:pPr algn="r" rtl="0">
              <a:spcBef>
                <a:spcPts val="200"/>
              </a:spcBef>
              <a:spcAft>
                <a:spcPts val="1000"/>
              </a:spcAft>
            </a:pPr>
            <a:r>
              <a:rPr sz="17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• Roboflow docs.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V10  •  8/11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10_  •  9/9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10_  •  9/9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