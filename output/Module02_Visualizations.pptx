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خريطة المسار / Track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البيانات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46504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83664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التخزين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Storage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27248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64408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الخصائص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07992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الفهارس المتجهية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Vector Indexes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88736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25896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التصنيف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Labeling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69480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الحوكمة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0224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87384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MLOps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30968" y="2926080"/>
            <a:ext cx="1280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68128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المختبر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رحلة الوحدة الثانية من البيانات الخام إلى نقطة نهاية RAG.</a:t>
            </a:r>
          </a:p>
          <a:p>
            <a:pPr algn="r" rtl="0"/>
            <a:r>
              <a:t>Module 02 journey: from raw data to a RAG endpoint.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المعمارية المتدرِّجة Medallion / Medallion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Bronze — بيانات خام غير قابلة للتغيير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Silver — بيانات منقَّاة ومنظَّمة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Gold — تجميعات جاهزة للتحليل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Analytics-ready aggregates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97880" y="2450592"/>
            <a:ext cx="3657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897880" y="3959352"/>
            <a:ext cx="3657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الحوكمة عبر تحسين الجودة بين الطبقات — إدارة مركزية.</a:t>
            </a:r>
          </a:p>
          <a:p>
            <a:pPr algn="r" rtl="0"/>
            <a:r>
              <a:t>Governance via quality improvement between layers — central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أنماط معالجة البيانات الثلاثة / Three Data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المعمارية المتدرِّجة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فريق مركزي — تحليلات وAI/ML/RAG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مستودع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فرق BI — تقارير وذكاء أعمال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شبكة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فرق المجالات — مؤسسات كبيرة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المعايير: الفكرة الجوهرية / المالك / الحوكمة / حالة الاستخدام المثلى.</a:t>
            </a:r>
          </a:p>
          <a:p>
            <a:pPr algn="r" rtl="0"/>
            <a:r>
              <a:t>Criteria: core idea / ownership / governance / best use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منتج البيانات وعقد البيانات / Data Product &amp;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Calibri"/>
              </a:rPr>
              <a:t>منتج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Product — موثوق • موثّق • قابل للاكتشاف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645920"/>
            <a:ext cx="42062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Calibri"/>
              </a:rPr>
              <a:t>عقد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743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المخطط /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668904631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الأمان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37806519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مستوى الخدمة / SLA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57800" y="3017520"/>
            <a:ext cx="1737360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وحدة التسليم الحديثة في هندسة البيانات.</a:t>
            </a:r>
          </a:p>
          <a:p>
            <a:pPr algn="r" rtl="0"/>
            <a:r>
              <a:t>The modern delivery unit in data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خط أنابيب RAG /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1) الفهرسة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Indexing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32888" y="2514600"/>
            <a:ext cx="21945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0632" y="201168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2) 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Retrieval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54880" y="2514600"/>
            <a:ext cx="21945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2624" y="201168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3) التوليد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76872" y="2514600"/>
            <a:ext cx="21945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4616" y="201168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4) التقييم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Evaluation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98864" y="2514600"/>
            <a:ext cx="21945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5) التحسين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Calibri"/>
              </a:rPr>
              <a:t>تقسيم تكراري + HNSW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Calibri"/>
              </a:rPr>
              <a:t>بحث هجين + إعادة ترتيب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Calibri"/>
              </a:rPr>
              <a:t>موجِّه مقيَّد بالمصادر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Calibri"/>
              </a:rPr>
              <a:t>مثلث RAG (RAGAS)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200" b="1">
                <a:solidFill>
                  <a:srgbClr val="333333"/>
                </a:solidFill>
                <a:latin typeface="Calibri"/>
              </a:rPr>
              <a:t>تخزين مؤقت + توجيه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من الفهرسة إلى التقييم — المسار التطبيقي في مختبر L03.</a:t>
            </a:r>
          </a:p>
          <a:p>
            <a:pPr algn="r" rtl="0"/>
            <a:r>
              <a:t>From indexing to evaluation — applied in lab L03.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استراتيجيات تقسيم النصوص / Chunking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ثابت الحجم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Fixed-size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2344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أبسطها — يقطع الجُمل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دلالي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488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تماسك أفضل — حساس للعتبة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256032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تكراري ★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Recursive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0632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الموصى به افتراضيًا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بحسب البنية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Structure-based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9776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عناوين وأقسام — يُدمج مع التكراري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بالنموذج اللغوي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LLM-based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8920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الأدق — الأغلى حسابيًا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★ التقسيم التكراري: فصل بالفقرات ثم تقسيم ما تجاوز الحد الأقصى.</a:t>
            </a:r>
          </a:p>
          <a:p>
            <a:pPr algn="r" rtl="0"/>
            <a:r>
              <a:t>★ Recursive: split by paragraphs, then oversized chunks.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مثلث تقييم RAG / RAG Evaluation Triad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3749039" y="1463040"/>
            <a:ext cx="4572000" cy="3840480"/>
          </a:xfrm>
          <a:prstGeom prst="triangle">
            <a:avLst/>
          </a:prstGeom>
          <a:solidFill>
            <a:srgbClr val="DCE6F1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10896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الوفاء بالمصدر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846320"/>
            <a:ext cx="3108960" cy="7315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ملاءمة الإجابة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846320"/>
            <a:ext cx="31089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Calibri"/>
              </a:rPr>
              <a:t>دقة السياق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يُقاس بإطار RAGAS — الوفاء يمنع الهلوسة والملاءمة تجعل الإجابة نافعة.</a:t>
            </a:r>
          </a:p>
          <a:p>
            <a:pPr algn="r" rtl="0"/>
            <a:r>
              <a:t>Measured with RAGAS — faithfulness prevents hallucination; relevancy keeps answers useful.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المعمارية المرجعية للذكاء التوليدي / GenAI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أ. بوابة منصة GenAI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A. Platform Portal — POC → MVP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87168"/>
            <a:ext cx="9966960" cy="10515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ب. الأتمتة والامتثال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B. Automation &amp; Compliance — CI/CD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94176"/>
            <a:ext cx="9966960" cy="10515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ج. الخدمات المشتركة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C. Shared Services — Gateway, Prompts, Audit,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01184"/>
            <a:ext cx="9966960" cy="10515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د. الحوكمة والمراقبة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D. Governance &amp; Monitoring — Responsible AI, FinOps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النمط المرجعي المؤسسي (McKinsey) — نافذة موحدة فوق خدمات مشتركة محكومة.</a:t>
            </a:r>
          </a:p>
          <a:p>
            <a:pPr algn="r" rtl="0"/>
            <a:r>
              <a:t>Enterprise reference pattern (McKinsey) — a unified pane over governed shared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التكلفة عمليًا: التضمين مقابل التوليد / Cost: Embedding vs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840480"/>
            <a:ext cx="2194560" cy="14630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التضمين 1x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Embedding —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2194560" cy="3749039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التوليد ~10x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Generation —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108960"/>
            <a:ext cx="2651760" cy="2194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الحل: تخزين مؤقت + توجيه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Fix: caching +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قاعدة FinOps: قِس التكلفة لكل طلب قبل التوسع.</a:t>
            </a:r>
          </a:p>
          <a:p>
            <a:pPr algn="r" rtl="0"/>
            <a:r>
              <a:t>FinOps rule: measure per-request cost before scaling.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من LLM إلى الأنظمة الوكيلة / From LLM to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تنبؤ بالرموز التالية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Predicts next tokens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72384" y="1965960"/>
            <a:ext cx="34747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الذكاء التوليدي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يولّد محتوى جديدًا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Generates new content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07024" y="1965960"/>
            <a:ext cx="34747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الوكلاء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نية + استدعاء أدوات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Intent + tool calls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41664" y="1965960"/>
            <a:ext cx="34747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الأنظمة الوكيلة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تخطيط وتنفيذ متعدد الخطوات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Multi-step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Agentic RAG = بحث متجهي + جلب عبر الواجهات بذاكرة متجددة وتحقق قبل التسليم.</a:t>
            </a:r>
          </a:p>
          <a:p>
            <a:pPr algn="r" rtl="0"/>
            <a:r>
              <a:t>Agentic RAG = vector search + API fetching with refreshed memory and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معمارية مخزن الخصائص / Feature Store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201168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مصادر البيانات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Data Sources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24912" y="301752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194560" cy="11887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خط الخصائص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Feature Pipeline
هندسة + تحويل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68112" y="233172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468112" y="361188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46888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المخزن غير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Offline Store
تدريب النماذج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566160"/>
            <a:ext cx="2468880" cy="11887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المخزن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Online Store
استدلال منخفض زمن الاستجابة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الاستدلال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Serving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49056" y="2011680"/>
            <a:ext cx="658368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49056" y="4023360"/>
            <a:ext cx="658368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قيمة مخزن الخصائص: نفس تعريف الخصائص للتدريب والاستدلال — لا انحراف.</a:t>
            </a:r>
          </a:p>
          <a:p>
            <a:pPr algn="r" rtl="0"/>
            <a:r>
              <a:t>Core value: one feature definition for training and serving — no skew.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سير عمل التصنيف بمساعدة LLM / LLM-assisted Labeling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بيانات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24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تسمية مبدئية بالـ LLM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pre-labeling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10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مراجعة وتصحيح بشري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Human review (HITL)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96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تسميات معتمدة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Approved labels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82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تدريب النموذج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حلقة تغذية راجعة: تصحيحات البشر تُحسِّن موجِّهات الـ LLM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Feedback loop: human corrections improve LLM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الـ LLM يسرّع التسمية والبشر يضمنون الجودة — أفضل الممارسات الحديثة.</a:t>
            </a:r>
          </a:p>
          <a:p>
            <a:pPr algn="r" rtl="0"/>
            <a:r>
              <a:t>LLM accelerates labeling; humans guarantee quality — modern best practice.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