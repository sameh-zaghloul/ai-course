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</a:rPr>
              <a:t>خريطة المسار / Track Roadmap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377440"/>
            <a:ext cx="1234440" cy="137160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</a:rPr>
              <a:t>البيانات</a:t>
            </a:r>
          </a:p>
          <a:p>
            <a:pPr algn="ctr" rtl="0"/>
            <a:r>
              <a:rPr sz="1000">
                <a:solidFill>
                  <a:srgbClr val="666666"/>
                </a:solidFill>
                <a:latin typeface="Calibri"/>
              </a:rPr>
              <a:t>Data</a:t>
            </a:r>
          </a:p>
        </p:txBody>
      </p:sp>
      <p:sp>
        <p:nvSpPr>
          <p:cNvPr id="4" name="Left Arrow 3"/>
          <p:cNvSpPr/>
          <p:nvPr/>
        </p:nvSpPr>
        <p:spPr>
          <a:xfrm>
            <a:off x="1746504" y="2926080"/>
            <a:ext cx="128016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883664" y="2377440"/>
            <a:ext cx="1234440" cy="137160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</a:rPr>
              <a:t>التخزين</a:t>
            </a:r>
          </a:p>
          <a:p>
            <a:pPr algn="ctr" rtl="0"/>
            <a:r>
              <a:rPr sz="1000">
                <a:solidFill>
                  <a:srgbClr val="666666"/>
                </a:solidFill>
                <a:latin typeface="Calibri"/>
              </a:rPr>
              <a:t>Storage</a:t>
            </a:r>
          </a:p>
        </p:txBody>
      </p:sp>
      <p:sp>
        <p:nvSpPr>
          <p:cNvPr id="6" name="Left Arrow 5"/>
          <p:cNvSpPr/>
          <p:nvPr/>
        </p:nvSpPr>
        <p:spPr>
          <a:xfrm>
            <a:off x="3127248" y="2926080"/>
            <a:ext cx="128016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264408" y="2377440"/>
            <a:ext cx="1234440" cy="137160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</a:rPr>
              <a:t>الخصائص</a:t>
            </a:r>
          </a:p>
          <a:p>
            <a:pPr algn="ctr" rtl="0"/>
            <a:r>
              <a:rPr sz="1000">
                <a:solidFill>
                  <a:srgbClr val="666666"/>
                </a:solidFill>
                <a:latin typeface="Calibri"/>
              </a:rPr>
              <a:t>Features</a:t>
            </a:r>
          </a:p>
        </p:txBody>
      </p:sp>
      <p:sp>
        <p:nvSpPr>
          <p:cNvPr id="8" name="Left Arrow 7"/>
          <p:cNvSpPr/>
          <p:nvPr/>
        </p:nvSpPr>
        <p:spPr>
          <a:xfrm>
            <a:off x="4507992" y="2926080"/>
            <a:ext cx="128016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645152" y="2377440"/>
            <a:ext cx="1234440" cy="137160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</a:rPr>
              <a:t>الفهارس المتجهية</a:t>
            </a:r>
          </a:p>
          <a:p>
            <a:pPr algn="ctr" rtl="0"/>
            <a:r>
              <a:rPr sz="1000">
                <a:solidFill>
                  <a:srgbClr val="666666"/>
                </a:solidFill>
                <a:latin typeface="Calibri"/>
              </a:rPr>
              <a:t>Vector Indexes</a:t>
            </a:r>
          </a:p>
        </p:txBody>
      </p:sp>
      <p:sp>
        <p:nvSpPr>
          <p:cNvPr id="10" name="Left Arrow 9"/>
          <p:cNvSpPr/>
          <p:nvPr/>
        </p:nvSpPr>
        <p:spPr>
          <a:xfrm>
            <a:off x="5888736" y="2926080"/>
            <a:ext cx="128016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025896" y="2377440"/>
            <a:ext cx="1234440" cy="137160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</a:rPr>
              <a:t>التصنيف</a:t>
            </a:r>
          </a:p>
          <a:p>
            <a:pPr algn="ctr" rtl="0"/>
            <a:r>
              <a:rPr sz="1000">
                <a:solidFill>
                  <a:srgbClr val="666666"/>
                </a:solidFill>
                <a:latin typeface="Calibri"/>
              </a:rPr>
              <a:t>Labeling</a:t>
            </a:r>
          </a:p>
        </p:txBody>
      </p:sp>
      <p:sp>
        <p:nvSpPr>
          <p:cNvPr id="12" name="Left Arrow 11"/>
          <p:cNvSpPr/>
          <p:nvPr/>
        </p:nvSpPr>
        <p:spPr>
          <a:xfrm>
            <a:off x="7269480" y="2926080"/>
            <a:ext cx="128016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406640" y="2377440"/>
            <a:ext cx="1234440" cy="137160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</a:rPr>
              <a:t>الحوكمة</a:t>
            </a:r>
          </a:p>
          <a:p>
            <a:pPr algn="ctr" rtl="0"/>
            <a:r>
              <a:rPr sz="1000">
                <a:solidFill>
                  <a:srgbClr val="666666"/>
                </a:solidFill>
                <a:latin typeface="Calibri"/>
              </a:rPr>
              <a:t>Governance</a:t>
            </a:r>
          </a:p>
        </p:txBody>
      </p:sp>
      <p:sp>
        <p:nvSpPr>
          <p:cNvPr id="14" name="Left Arrow 13"/>
          <p:cNvSpPr/>
          <p:nvPr/>
        </p:nvSpPr>
        <p:spPr>
          <a:xfrm>
            <a:off x="8650224" y="2926080"/>
            <a:ext cx="128016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787384" y="2377440"/>
            <a:ext cx="1234440" cy="137160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</a:rPr>
              <a:t>MLOps</a:t>
            </a:r>
          </a:p>
          <a:p>
            <a:pPr algn="ctr" rtl="0"/>
            <a:r>
              <a:rPr sz="1000">
                <a:solidFill>
                  <a:srgbClr val="666666"/>
                </a:solidFill>
                <a:latin typeface="Calibri"/>
              </a:rPr>
              <a:t>MLOps</a:t>
            </a:r>
          </a:p>
        </p:txBody>
      </p:sp>
      <p:sp>
        <p:nvSpPr>
          <p:cNvPr id="16" name="Left Arrow 15"/>
          <p:cNvSpPr/>
          <p:nvPr/>
        </p:nvSpPr>
        <p:spPr>
          <a:xfrm>
            <a:off x="10030968" y="2926080"/>
            <a:ext cx="128016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0168128" y="2377440"/>
            <a:ext cx="1234440" cy="137160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</a:rPr>
              <a:t>المختبر</a:t>
            </a:r>
          </a:p>
          <a:p>
            <a:pPr algn="ctr" rtl="0"/>
            <a:r>
              <a:rPr sz="1000">
                <a:solidFill>
                  <a:srgbClr val="666666"/>
                </a:solidFill>
                <a:latin typeface="Calibri"/>
              </a:rPr>
              <a:t>Lab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>
                <a:solidFill>
                  <a:srgbClr val="666666"/>
                </a:solidFill>
                <a:latin typeface="Arial"/>
              </a:rPr>
              <a:t>رحلة الوحدة الثانية من البيانات الخام إلى نقطة نهاية RAG.</a:t>
            </a:r>
          </a:p>
          <a:p>
            <a:pPr algn="r" rtl="0"/>
            <a:r>
              <a:t>Module 02 journey: from raw data to a RAG endpoint.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</a:rPr>
              <a:t>المعمارية المتدرِّجة Medallion / Medallion Layers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286000" y="1188720"/>
            <a:ext cx="7589520" cy="123444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</a:rPr>
              <a:t>Bronze — بيانات خام غير قابلة للتغيير</a:t>
            </a:r>
          </a:p>
          <a:p>
            <a:pPr algn="ctr" rtl="0"/>
            <a:r>
              <a:rPr sz="1300">
                <a:solidFill>
                  <a:srgbClr val="666666"/>
                </a:solidFill>
                <a:latin typeface="Calibri"/>
              </a:rPr>
              <a:t>Raw immutable data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286000" y="2697480"/>
            <a:ext cx="7589520" cy="12344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</a:rPr>
              <a:t>Silver — بيانات منقَّاة ومنظَّمة</a:t>
            </a:r>
          </a:p>
          <a:p>
            <a:pPr algn="ctr" rtl="0"/>
            <a:r>
              <a:rPr sz="1300">
                <a:solidFill>
                  <a:srgbClr val="666666"/>
                </a:solidFill>
                <a:latin typeface="Calibri"/>
              </a:rPr>
              <a:t>Cleansed &amp; structured data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0" y="4206240"/>
            <a:ext cx="7589520" cy="123444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</a:rPr>
              <a:t>Gold — تجميعات جاهزة للتحليل</a:t>
            </a:r>
          </a:p>
          <a:p>
            <a:pPr algn="ctr" rtl="0"/>
            <a:r>
              <a:rPr sz="1300">
                <a:solidFill>
                  <a:srgbClr val="666666"/>
                </a:solidFill>
                <a:latin typeface="Calibri"/>
              </a:rPr>
              <a:t>Analytics-ready aggregates</a:t>
            </a:r>
          </a:p>
        </p:txBody>
      </p:sp>
      <p:sp>
        <p:nvSpPr>
          <p:cNvPr id="6" name="Left Arrow 5"/>
          <p:cNvSpPr/>
          <p:nvPr/>
        </p:nvSpPr>
        <p:spPr>
          <a:xfrm>
            <a:off x="5897880" y="2450592"/>
            <a:ext cx="365760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eft Arrow 6"/>
          <p:cNvSpPr/>
          <p:nvPr/>
        </p:nvSpPr>
        <p:spPr>
          <a:xfrm>
            <a:off x="5897880" y="3959352"/>
            <a:ext cx="365760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>
                <a:solidFill>
                  <a:srgbClr val="666666"/>
                </a:solidFill>
                <a:latin typeface="Arial"/>
              </a:rPr>
              <a:t>الحوكمة عبر تحسين الجودة بين الطبقات — إدارة مركزية.</a:t>
            </a:r>
          </a:p>
          <a:p>
            <a:pPr algn="r" rtl="0"/>
            <a:r>
              <a:t>Governance via quality improvement between layers — central ownership.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</a:rPr>
              <a:t>أنماط معالجة البيانات الثلاثة / Three Data Patterns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371600"/>
            <a:ext cx="3566160" cy="91440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</a:rPr>
              <a:t>المعمارية المتدرِّجة</a:t>
            </a:r>
          </a:p>
          <a:p>
            <a:pPr algn="ctr" rtl="0"/>
            <a:r>
              <a:rPr sz="1300">
                <a:solidFill>
                  <a:srgbClr val="666666"/>
                </a:solidFill>
                <a:latin typeface="Calibri"/>
              </a:rPr>
              <a:t>Medallion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468880"/>
            <a:ext cx="3566160" cy="256032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</a:rPr>
              <a:t>فريق مركزي — تحليلات وAI/ML/RAG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19" y="1371600"/>
            <a:ext cx="3566160" cy="91440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</a:rPr>
              <a:t>مستودع البيانات</a:t>
            </a:r>
          </a:p>
          <a:p>
            <a:pPr algn="ctr" rtl="0"/>
            <a:r>
              <a:rPr sz="1300">
                <a:solidFill>
                  <a:srgbClr val="666666"/>
                </a:solidFill>
                <a:latin typeface="Calibri"/>
              </a:rPr>
              <a:t>Data Warehouse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19" y="2468880"/>
            <a:ext cx="3566160" cy="256032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</a:rPr>
              <a:t>فرق BI — تقارير وذكاء أعمال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8158" y="1371600"/>
            <a:ext cx="3566160" cy="91440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</a:rPr>
              <a:t>شبكة البيانات</a:t>
            </a:r>
          </a:p>
          <a:p>
            <a:pPr algn="ctr" rtl="0"/>
            <a:r>
              <a:rPr sz="1300">
                <a:solidFill>
                  <a:srgbClr val="666666"/>
                </a:solidFill>
                <a:latin typeface="Calibri"/>
              </a:rPr>
              <a:t>Data Mesh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58" y="2468880"/>
            <a:ext cx="3566160" cy="256032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</a:rPr>
              <a:t>فرق المجالات — مؤسسات كبيرة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>
                <a:solidFill>
                  <a:srgbClr val="666666"/>
                </a:solidFill>
                <a:latin typeface="Arial"/>
              </a:rPr>
              <a:t>المعايير: الفكرة الجوهرية / المالك / الحوكمة / حالة الاستخدام المثلى.</a:t>
            </a:r>
          </a:p>
          <a:p>
            <a:pPr algn="r" rtl="0"/>
            <a:r>
              <a:t>Criteria: core idea / ownership / governance / best use case.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</a:rPr>
              <a:t>منتج البيانات وعقد البيانات / Data Product &amp; Contract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645920"/>
            <a:ext cx="4206240" cy="310896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2000" b="1">
                <a:solidFill>
                  <a:srgbClr val="333333"/>
                </a:solidFill>
                <a:latin typeface="Arial"/>
              </a:rPr>
              <a:t>منتج البيانات</a:t>
            </a:r>
          </a:p>
          <a:p>
            <a:pPr algn="ctr" rtl="0"/>
            <a:r>
              <a:rPr sz="1400">
                <a:solidFill>
                  <a:srgbClr val="666666"/>
                </a:solidFill>
                <a:latin typeface="Calibri"/>
              </a:rPr>
              <a:t>Data Product — موثوق • موثّق • قابل للاكتشاف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223760" y="1645920"/>
            <a:ext cx="4206240" cy="91440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2000" b="1">
                <a:solidFill>
                  <a:srgbClr val="333333"/>
                </a:solidFill>
                <a:latin typeface="Arial"/>
              </a:rPr>
              <a:t>عقد البيانات</a:t>
            </a:r>
          </a:p>
          <a:p>
            <a:pPr algn="ctr" rtl="0"/>
            <a:r>
              <a:rPr sz="1400">
                <a:solidFill>
                  <a:srgbClr val="666666"/>
                </a:solidFill>
                <a:latin typeface="Calibri"/>
              </a:rPr>
              <a:t>Data Contract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0" y="2743200"/>
            <a:ext cx="3474720" cy="59436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</a:rPr>
              <a:t>المخطط / Schema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589520" y="668904631200"/>
            <a:ext cx="3474720" cy="59436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</a:rPr>
              <a:t>الأمان / Security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89520" y="1337806519200"/>
            <a:ext cx="3474720" cy="59436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</a:rPr>
              <a:t>مستوى الخدمة / SLA</a:t>
            </a:r>
          </a:p>
        </p:txBody>
      </p:sp>
      <p:sp>
        <p:nvSpPr>
          <p:cNvPr id="8" name="Left Arrow 7"/>
          <p:cNvSpPr/>
          <p:nvPr/>
        </p:nvSpPr>
        <p:spPr>
          <a:xfrm>
            <a:off x="5257800" y="3017520"/>
            <a:ext cx="1737360" cy="36576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>
                <a:solidFill>
                  <a:srgbClr val="666666"/>
                </a:solidFill>
                <a:latin typeface="Arial"/>
              </a:rPr>
              <a:t>وحدة التسليم الحديثة في هندسة البيانات.</a:t>
            </a:r>
          </a:p>
          <a:p>
            <a:pPr algn="r" rtl="0"/>
            <a:r>
              <a:t>The modern delivery unit in data engineering.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</a:rPr>
              <a:t>خط أنابيب RAG / RAG Pipeline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2011680"/>
            <a:ext cx="1965960" cy="128016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600" b="1">
                <a:solidFill>
                  <a:srgbClr val="333333"/>
                </a:solidFill>
                <a:latin typeface="Arial"/>
              </a:rPr>
              <a:t>1) الفهرسة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Indexing</a:t>
            </a:r>
          </a:p>
        </p:txBody>
      </p:sp>
      <p:sp>
        <p:nvSpPr>
          <p:cNvPr id="4" name="Left Arrow 3"/>
          <p:cNvSpPr/>
          <p:nvPr/>
        </p:nvSpPr>
        <p:spPr>
          <a:xfrm>
            <a:off x="2532888" y="2514600"/>
            <a:ext cx="219456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770632" y="2011680"/>
            <a:ext cx="1965960" cy="128016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600" b="1">
                <a:solidFill>
                  <a:srgbClr val="333333"/>
                </a:solidFill>
                <a:latin typeface="Arial"/>
              </a:rPr>
              <a:t>2) الاسترجاع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Retrieval</a:t>
            </a:r>
          </a:p>
        </p:txBody>
      </p:sp>
      <p:sp>
        <p:nvSpPr>
          <p:cNvPr id="6" name="Left Arrow 5"/>
          <p:cNvSpPr/>
          <p:nvPr/>
        </p:nvSpPr>
        <p:spPr>
          <a:xfrm>
            <a:off x="4754880" y="2514600"/>
            <a:ext cx="219456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992624" y="2011680"/>
            <a:ext cx="1965960" cy="128016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600" b="1">
                <a:solidFill>
                  <a:srgbClr val="333333"/>
                </a:solidFill>
                <a:latin typeface="Arial"/>
              </a:rPr>
              <a:t>3) التوليد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Generation</a:t>
            </a:r>
          </a:p>
        </p:txBody>
      </p:sp>
      <p:sp>
        <p:nvSpPr>
          <p:cNvPr id="8" name="Left Arrow 7"/>
          <p:cNvSpPr/>
          <p:nvPr/>
        </p:nvSpPr>
        <p:spPr>
          <a:xfrm>
            <a:off x="6976872" y="2514600"/>
            <a:ext cx="219456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214616" y="2011680"/>
            <a:ext cx="1965960" cy="128016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600" b="1">
                <a:solidFill>
                  <a:srgbClr val="333333"/>
                </a:solidFill>
                <a:latin typeface="Arial"/>
              </a:rPr>
              <a:t>4) التقييم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Evaluation</a:t>
            </a:r>
          </a:p>
        </p:txBody>
      </p:sp>
      <p:sp>
        <p:nvSpPr>
          <p:cNvPr id="10" name="Left Arrow 9"/>
          <p:cNvSpPr/>
          <p:nvPr/>
        </p:nvSpPr>
        <p:spPr>
          <a:xfrm>
            <a:off x="9198864" y="2514600"/>
            <a:ext cx="219456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436608" y="2011680"/>
            <a:ext cx="1965960" cy="128016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600" b="1">
                <a:solidFill>
                  <a:srgbClr val="333333"/>
                </a:solidFill>
                <a:latin typeface="Arial"/>
              </a:rPr>
              <a:t>5) التحسين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Optimization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749039"/>
            <a:ext cx="1965960" cy="91440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200" b="1">
                <a:solidFill>
                  <a:srgbClr val="333333"/>
                </a:solidFill>
                <a:latin typeface="Arial"/>
              </a:rPr>
              <a:t>تقسيم تكراري + HNSW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70632" y="3749039"/>
            <a:ext cx="1965960" cy="91440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200" b="1">
                <a:solidFill>
                  <a:srgbClr val="333333"/>
                </a:solidFill>
                <a:latin typeface="Arial"/>
              </a:rPr>
              <a:t>بحث هجين + إعادة ترتيب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92624" y="3749039"/>
            <a:ext cx="1965960" cy="91440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200" b="1">
                <a:solidFill>
                  <a:srgbClr val="333333"/>
                </a:solidFill>
                <a:latin typeface="Arial"/>
              </a:rPr>
              <a:t>موجِّه مقيَّد بالمصادر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14616" y="3749039"/>
            <a:ext cx="1965960" cy="91440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200" b="1">
                <a:solidFill>
                  <a:srgbClr val="333333"/>
                </a:solidFill>
                <a:latin typeface="Arial"/>
              </a:rPr>
              <a:t>مثلث RAG (RAGAS)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436608" y="3749039"/>
            <a:ext cx="1965960" cy="91440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200" b="1">
                <a:solidFill>
                  <a:srgbClr val="333333"/>
                </a:solidFill>
                <a:latin typeface="Arial"/>
              </a:rPr>
              <a:t>تخزين مؤقت + توجيه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>
                <a:solidFill>
                  <a:srgbClr val="666666"/>
                </a:solidFill>
                <a:latin typeface="Arial"/>
              </a:rPr>
              <a:t>من الفهرسة إلى التقييم — المسار التطبيقي في مختبر L03.</a:t>
            </a:r>
          </a:p>
          <a:p>
            <a:pPr algn="r" rtl="0"/>
            <a:r>
              <a:t>From indexing to evaluation — applied in lab L03.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</a:rPr>
              <a:t>استراتيجيات تقسيم النصوص / Chunking Strategies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234440"/>
            <a:ext cx="2560320" cy="7772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</a:rPr>
              <a:t>ثابت الحجم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Fixed-size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566160" y="1234440"/>
            <a:ext cx="5669280" cy="7772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300" b="1">
                <a:solidFill>
                  <a:srgbClr val="333333"/>
                </a:solidFill>
                <a:latin typeface="Arial"/>
              </a:rPr>
              <a:t>أبسطها — يقطع الجُمل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148840"/>
            <a:ext cx="2560320" cy="7772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</a:rPr>
              <a:t>دلالي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Semantic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66160" y="2148840"/>
            <a:ext cx="5669280" cy="7772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300" b="1">
                <a:solidFill>
                  <a:srgbClr val="333333"/>
                </a:solidFill>
                <a:latin typeface="Arial"/>
              </a:rPr>
              <a:t>تماسك أفضل — حساس للعتبة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063240"/>
            <a:ext cx="2560320" cy="77724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</a:rPr>
              <a:t>تكراري ★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Recursive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66160" y="3063240"/>
            <a:ext cx="5669280" cy="7772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300" b="1">
                <a:solidFill>
                  <a:srgbClr val="333333"/>
                </a:solidFill>
                <a:latin typeface="Arial"/>
              </a:rPr>
              <a:t>الموصى به افتراضيًا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977640"/>
            <a:ext cx="2560320" cy="7772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</a:rPr>
              <a:t>بحسب البنية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Structure-based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66160" y="3977640"/>
            <a:ext cx="5669280" cy="7772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300" b="1">
                <a:solidFill>
                  <a:srgbClr val="333333"/>
                </a:solidFill>
                <a:latin typeface="Arial"/>
              </a:rPr>
              <a:t>عناوين وأقسام — يُدمج مع التكراري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892040"/>
            <a:ext cx="2560320" cy="7772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</a:rPr>
              <a:t>بالنموذج اللغوي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LLM-based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66160" y="4892040"/>
            <a:ext cx="5669280" cy="7772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300" b="1">
                <a:solidFill>
                  <a:srgbClr val="333333"/>
                </a:solidFill>
                <a:latin typeface="Arial"/>
              </a:rPr>
              <a:t>الأدق — الأغلى حسابيًا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>
                <a:solidFill>
                  <a:srgbClr val="666666"/>
                </a:solidFill>
                <a:latin typeface="Arial"/>
              </a:rPr>
              <a:t>★ التقسيم التكراري: فصل بالفقرات ثم تقسيم ما تجاوز الحد الأقصى.</a:t>
            </a:r>
          </a:p>
          <a:p>
            <a:pPr algn="r" rtl="0"/>
            <a:r>
              <a:t>★ Recursive: split by paragraphs, then oversized chunks.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</a:rPr>
              <a:t>مثلث تقييم RAG / RAG Evaluation Triad</a:t>
            </a:r>
          </a:p>
        </p:txBody>
      </p:sp>
      <p:sp>
        <p:nvSpPr>
          <p:cNvPr id="3" name="Isosceles Triangle 2"/>
          <p:cNvSpPr/>
          <p:nvPr/>
        </p:nvSpPr>
        <p:spPr>
          <a:xfrm>
            <a:off x="3749039" y="1463040"/>
            <a:ext cx="4572000" cy="3840480"/>
          </a:xfrm>
          <a:prstGeom prst="triangle">
            <a:avLst/>
          </a:prstGeom>
          <a:solidFill>
            <a:srgbClr val="DCE6F1"/>
          </a:solidFill>
          <a:ln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480560" y="1188720"/>
            <a:ext cx="3108960" cy="73152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600" b="1">
                <a:solidFill>
                  <a:srgbClr val="333333"/>
                </a:solidFill>
                <a:latin typeface="Arial"/>
              </a:rPr>
              <a:t>الوفاء بالمصدر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Faithfulness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94560" y="4846320"/>
            <a:ext cx="3108960" cy="73152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600" b="1">
                <a:solidFill>
                  <a:srgbClr val="333333"/>
                </a:solidFill>
                <a:latin typeface="Arial"/>
              </a:rPr>
              <a:t>ملاءمة الإجابة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Answer Relevancy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766560" y="4846320"/>
            <a:ext cx="3108960" cy="73152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600" b="1">
                <a:solidFill>
                  <a:srgbClr val="333333"/>
                </a:solidFill>
                <a:latin typeface="Arial"/>
              </a:rPr>
              <a:t>دقة السياق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Context Precision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>
                <a:solidFill>
                  <a:srgbClr val="666666"/>
                </a:solidFill>
                <a:latin typeface="Arial"/>
              </a:rPr>
              <a:t>يُقاس بإطار RAGAS — الوفاء يمنع الهلوسة والملاءمة تجعل الإجابة نافعة.</a:t>
            </a:r>
          </a:p>
          <a:p>
            <a:pPr algn="r" rtl="0"/>
            <a:r>
              <a:t>Measured with RAGAS — faithfulness prevents hallucination; relevancy keeps answers useful.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</a:rPr>
              <a:t>المعمارية المرجعية للذكاء التوليدي / GenAI Reference Architecture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97280" y="1280160"/>
            <a:ext cx="9966960" cy="105156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</a:rPr>
              <a:t>أ. بوابة منصة GenAI</a:t>
            </a:r>
          </a:p>
          <a:p>
            <a:pPr algn="ctr" rtl="0"/>
            <a:r>
              <a:rPr sz="1300">
                <a:solidFill>
                  <a:srgbClr val="666666"/>
                </a:solidFill>
                <a:latin typeface="Calibri"/>
              </a:rPr>
              <a:t>A. Platform Portal — POC → MVP → PROD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2487168"/>
            <a:ext cx="9966960" cy="105156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</a:rPr>
              <a:t>ب. الأتمتة والامتثال</a:t>
            </a:r>
          </a:p>
          <a:p>
            <a:pPr algn="ctr" rtl="0"/>
            <a:r>
              <a:rPr sz="1300">
                <a:solidFill>
                  <a:srgbClr val="666666"/>
                </a:solidFill>
                <a:latin typeface="Calibri"/>
              </a:rPr>
              <a:t>B. Automation &amp; Compliance — CI/CD gates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3694176"/>
            <a:ext cx="9966960" cy="105156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</a:rPr>
              <a:t>ج. الخدمات المشتركة</a:t>
            </a:r>
          </a:p>
          <a:p>
            <a:pPr algn="ctr" rtl="0"/>
            <a:r>
              <a:rPr sz="1300">
                <a:solidFill>
                  <a:srgbClr val="666666"/>
                </a:solidFill>
                <a:latin typeface="Calibri"/>
              </a:rPr>
              <a:t>C. Shared Services — Gateway, Prompts, Audit, Guardrails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4901184"/>
            <a:ext cx="9966960" cy="105156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</a:rPr>
              <a:t>د. الحوكمة والمراقبة</a:t>
            </a:r>
          </a:p>
          <a:p>
            <a:pPr algn="ctr" rtl="0"/>
            <a:r>
              <a:rPr sz="1300">
                <a:solidFill>
                  <a:srgbClr val="666666"/>
                </a:solidFill>
                <a:latin typeface="Calibri"/>
              </a:rPr>
              <a:t>D. Governance &amp; Monitoring — Responsible AI, FinOps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>
                <a:solidFill>
                  <a:srgbClr val="666666"/>
                </a:solidFill>
                <a:latin typeface="Arial"/>
              </a:rPr>
              <a:t>النمط المرجعي المؤسسي (McKinsey) — نافذة موحدة فوق خدمات مشتركة محكومة.</a:t>
            </a:r>
          </a:p>
          <a:p>
            <a:pPr algn="r" rtl="0"/>
            <a:r>
              <a:t>Enterprise reference pattern (McKinsey) — a unified pane over governed shared services.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</a:rPr>
              <a:t>التكلفة عمليًا: التضمين مقابل التوليد / Cost: Embedding vs Generation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828800" y="3840480"/>
            <a:ext cx="2194560" cy="146304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</a:rPr>
              <a:t>التضمين 1x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Embedding — cheap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0" y="1554480"/>
            <a:ext cx="2194560" cy="3749039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</a:rPr>
              <a:t>التوليد ~10x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Generation — costly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863840" y="3108960"/>
            <a:ext cx="2651760" cy="219456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</a:rPr>
              <a:t>الحل: تخزين مؤقت + توجيه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Fix: caching + routing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>
                <a:solidFill>
                  <a:srgbClr val="666666"/>
                </a:solidFill>
                <a:latin typeface="Arial"/>
              </a:rPr>
              <a:t>قاعدة FinOps: قِس التكلفة لكل طلب قبل التوسع.</a:t>
            </a:r>
          </a:p>
          <a:p>
            <a:pPr algn="r" rtl="0"/>
            <a:r>
              <a:t>FinOps rule: measure per-request cost before scaling.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</a:rPr>
              <a:t>من LLM إلى الأنظمة الوكيلة / From LLM to Agentic AI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645920"/>
            <a:ext cx="2377440" cy="91440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</a:rPr>
              <a:t>LLM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743200"/>
            <a:ext cx="2377440" cy="14630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300" b="1">
                <a:solidFill>
                  <a:srgbClr val="333333"/>
                </a:solidFill>
                <a:latin typeface="Arial"/>
              </a:rPr>
              <a:t>تنبؤ بالرموز التالية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Predicts next tokens</a:t>
            </a:r>
          </a:p>
        </p:txBody>
      </p:sp>
      <p:sp>
        <p:nvSpPr>
          <p:cNvPr id="5" name="Left Arrow 4"/>
          <p:cNvSpPr/>
          <p:nvPr/>
        </p:nvSpPr>
        <p:spPr>
          <a:xfrm>
            <a:off x="3072384" y="1965960"/>
            <a:ext cx="347472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474720" y="1645920"/>
            <a:ext cx="2377440" cy="91440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</a:rPr>
              <a:t>الذكاء التوليدي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2743200"/>
            <a:ext cx="2377440" cy="14630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300" b="1">
                <a:solidFill>
                  <a:srgbClr val="333333"/>
                </a:solidFill>
                <a:latin typeface="Arial"/>
              </a:rPr>
              <a:t>يولّد محتوى جديدًا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Generates new content</a:t>
            </a:r>
          </a:p>
        </p:txBody>
      </p:sp>
      <p:sp>
        <p:nvSpPr>
          <p:cNvPr id="8" name="Left Arrow 7"/>
          <p:cNvSpPr/>
          <p:nvPr/>
        </p:nvSpPr>
        <p:spPr>
          <a:xfrm>
            <a:off x="5907024" y="1965960"/>
            <a:ext cx="347472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309360" y="1645920"/>
            <a:ext cx="2377440" cy="91440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</a:rPr>
              <a:t>الوكلاء Agents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2743200"/>
            <a:ext cx="2377440" cy="14630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300" b="1">
                <a:solidFill>
                  <a:srgbClr val="333333"/>
                </a:solidFill>
                <a:latin typeface="Arial"/>
              </a:rPr>
              <a:t>نية + استدعاء أدوات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Intent + tool calls</a:t>
            </a:r>
          </a:p>
        </p:txBody>
      </p:sp>
      <p:sp>
        <p:nvSpPr>
          <p:cNvPr id="11" name="Left Arrow 10"/>
          <p:cNvSpPr/>
          <p:nvPr/>
        </p:nvSpPr>
        <p:spPr>
          <a:xfrm>
            <a:off x="8741664" y="1965960"/>
            <a:ext cx="347472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144000" y="1645920"/>
            <a:ext cx="2377440" cy="91440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</a:rPr>
              <a:t>الأنظمة الوكيلة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0" y="2743200"/>
            <a:ext cx="2377440" cy="14630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300" b="1">
                <a:solidFill>
                  <a:srgbClr val="333333"/>
                </a:solidFill>
                <a:latin typeface="Arial"/>
              </a:rPr>
              <a:t>تخطيط وتنفيذ متعدد الخطوات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Multi-step planning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>
                <a:solidFill>
                  <a:srgbClr val="666666"/>
                </a:solidFill>
                <a:latin typeface="Arial"/>
              </a:rPr>
              <a:t>Agentic RAG = بحث متجهي + جلب عبر الواجهات بذاكرة متجددة وتحقق قبل التسليم.</a:t>
            </a:r>
          </a:p>
          <a:p>
            <a:pPr algn="r" rtl="0"/>
            <a:r>
              <a:t>Agentic RAG = vector search + API fetching with refreshed memory and verification.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</a:rPr>
              <a:t>معمارية مخزن الخصائص / Feature Store Architecture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2560320"/>
            <a:ext cx="2011680" cy="118872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</a:rPr>
              <a:t>مصادر البيانات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Data Sources</a:t>
            </a:r>
          </a:p>
        </p:txBody>
      </p:sp>
      <p:sp>
        <p:nvSpPr>
          <p:cNvPr id="4" name="Left Arrow 3"/>
          <p:cNvSpPr/>
          <p:nvPr/>
        </p:nvSpPr>
        <p:spPr>
          <a:xfrm>
            <a:off x="2724912" y="3017520"/>
            <a:ext cx="411480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200400" y="2560320"/>
            <a:ext cx="2194560" cy="118872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</a:rPr>
              <a:t>خط الخصائص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Feature Pipeline
هندسة + تحويل</a:t>
            </a:r>
          </a:p>
        </p:txBody>
      </p:sp>
      <p:sp>
        <p:nvSpPr>
          <p:cNvPr id="6" name="Left Arrow 5"/>
          <p:cNvSpPr/>
          <p:nvPr/>
        </p:nvSpPr>
        <p:spPr>
          <a:xfrm>
            <a:off x="5468112" y="2331720"/>
            <a:ext cx="411480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Left Arrow 6"/>
          <p:cNvSpPr/>
          <p:nvPr/>
        </p:nvSpPr>
        <p:spPr>
          <a:xfrm>
            <a:off x="5468112" y="3611880"/>
            <a:ext cx="411480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943600" y="1554480"/>
            <a:ext cx="2468880" cy="118872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300" b="1">
                <a:solidFill>
                  <a:srgbClr val="333333"/>
                </a:solidFill>
                <a:latin typeface="Arial"/>
              </a:rPr>
              <a:t>المخزن غير المتصل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Offline Store
تدريب النماذج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0" y="3566160"/>
            <a:ext cx="2468880" cy="118872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300" b="1">
                <a:solidFill>
                  <a:srgbClr val="333333"/>
                </a:solidFill>
                <a:latin typeface="Arial"/>
              </a:rPr>
              <a:t>المخزن المتصل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Online Store
استدلال منخفض زمن الاستجابة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0" y="1554480"/>
            <a:ext cx="2194560" cy="118872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</a:rPr>
              <a:t>التدريب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Training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0" y="3566160"/>
            <a:ext cx="2194560" cy="118872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</a:rPr>
              <a:t>الاستدلال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Serving</a:t>
            </a:r>
          </a:p>
        </p:txBody>
      </p:sp>
      <p:sp>
        <p:nvSpPr>
          <p:cNvPr id="12" name="Left Arrow 11"/>
          <p:cNvSpPr/>
          <p:nvPr/>
        </p:nvSpPr>
        <p:spPr>
          <a:xfrm>
            <a:off x="8449056" y="2011680"/>
            <a:ext cx="658368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Left Arrow 12"/>
          <p:cNvSpPr/>
          <p:nvPr/>
        </p:nvSpPr>
        <p:spPr>
          <a:xfrm>
            <a:off x="8449056" y="4023360"/>
            <a:ext cx="658368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>
                <a:solidFill>
                  <a:srgbClr val="666666"/>
                </a:solidFill>
                <a:latin typeface="Arial"/>
              </a:rPr>
              <a:t>قيمة مخزن الخصائص: نفس تعريف الخصائص للتدريب والاستدلال — لا انحراف.</a:t>
            </a:r>
          </a:p>
          <a:p>
            <a:pPr algn="r" rtl="0"/>
            <a:r>
              <a:t>Core value: one feature definition for training and serving — no skew.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</a:rPr>
              <a:t>سير عمل التصنيف بمساعدة LLM / LLM-assisted Labeling Workflow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2103120"/>
            <a:ext cx="1965960" cy="128016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</a:rPr>
              <a:t>بيانات خام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Raw data</a:t>
            </a:r>
          </a:p>
        </p:txBody>
      </p:sp>
      <p:sp>
        <p:nvSpPr>
          <p:cNvPr id="4" name="Left Arrow 3"/>
          <p:cNvSpPr/>
          <p:nvPr/>
        </p:nvSpPr>
        <p:spPr>
          <a:xfrm>
            <a:off x="2624328" y="2606040"/>
            <a:ext cx="274320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926080" y="2103120"/>
            <a:ext cx="1965960" cy="128016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</a:rPr>
              <a:t>تسمية مبدئية بالـ LLM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LLM pre-labeling</a:t>
            </a:r>
          </a:p>
        </p:txBody>
      </p:sp>
      <p:sp>
        <p:nvSpPr>
          <p:cNvPr id="6" name="Left Arrow 5"/>
          <p:cNvSpPr/>
          <p:nvPr/>
        </p:nvSpPr>
        <p:spPr>
          <a:xfrm>
            <a:off x="4910328" y="2606040"/>
            <a:ext cx="274320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212080" y="2103120"/>
            <a:ext cx="1965960" cy="128016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</a:rPr>
              <a:t>مراجعة وتصحيح بشري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Human review (HITL)</a:t>
            </a:r>
          </a:p>
        </p:txBody>
      </p:sp>
      <p:sp>
        <p:nvSpPr>
          <p:cNvPr id="8" name="Left Arrow 7"/>
          <p:cNvSpPr/>
          <p:nvPr/>
        </p:nvSpPr>
        <p:spPr>
          <a:xfrm>
            <a:off x="7196328" y="2606040"/>
            <a:ext cx="274320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498080" y="2103120"/>
            <a:ext cx="1965960" cy="128016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</a:rPr>
              <a:t>تسميات معتمدة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Approved labels</a:t>
            </a:r>
          </a:p>
        </p:txBody>
      </p:sp>
      <p:sp>
        <p:nvSpPr>
          <p:cNvPr id="10" name="Left Arrow 9"/>
          <p:cNvSpPr/>
          <p:nvPr/>
        </p:nvSpPr>
        <p:spPr>
          <a:xfrm>
            <a:off x="9482328" y="2606040"/>
            <a:ext cx="274320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784080" y="2103120"/>
            <a:ext cx="1965960" cy="128016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</a:rPr>
              <a:t>تدريب النموذج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Model training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0" y="4023360"/>
            <a:ext cx="6766560" cy="73152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300" b="1">
                <a:solidFill>
                  <a:srgbClr val="333333"/>
                </a:solidFill>
                <a:latin typeface="Arial"/>
              </a:rPr>
              <a:t>حلقة تغذية راجعة: تصحيحات البشر تُحسِّن موجِّهات الـ LLM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Feedback loop: human corrections improve LLM prompts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>
                <a:solidFill>
                  <a:srgbClr val="666666"/>
                </a:solidFill>
                <a:latin typeface="Arial"/>
              </a:rPr>
              <a:t>الـ LLM يسرّع التسمية والبشر يضمنون الجودة — أفضل الممارسات الحديثة.</a:t>
            </a:r>
          </a:p>
          <a:p>
            <a:pPr algn="r" rtl="0"/>
            <a:r>
              <a:t>LLM accelerates labeling; humans guarantee quality — modern best practice.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</a:rPr>
              <a:t>نمط الإجابة المؤرَّضة / Grounded Answer Pattern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417320"/>
            <a:ext cx="2743200" cy="109728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</a:rPr>
              <a:t>سؤال المتعلِّم</a:t>
            </a:r>
          </a:p>
          <a:p>
            <a:pPr algn="ctr" rtl="0"/>
            <a:r>
              <a:rPr sz="1300">
                <a:solidFill>
                  <a:srgbClr val="666666"/>
                </a:solidFill>
                <a:latin typeface="Calibri"/>
              </a:rPr>
              <a:t>Learner question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697480"/>
            <a:ext cx="2743200" cy="114300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</a:rPr>
              <a:t>ما الاستراتيجية الافتراضية للتقسيم؟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Which chunking default should I use?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520440" y="3063240"/>
            <a:ext cx="594360" cy="274320"/>
          </a:xfrm>
          <a:prstGeom prst="righ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251960" y="1280160"/>
            <a:ext cx="3063240" cy="100584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</a:rPr>
              <a:t>أدلة مسترجعة</a:t>
            </a:r>
          </a:p>
          <a:p>
            <a:pPr algn="ctr" rtl="0"/>
            <a:r>
              <a:rPr sz="1300">
                <a:solidFill>
                  <a:srgbClr val="666666"/>
                </a:solidFill>
                <a:latin typeface="Calibri"/>
              </a:rPr>
              <a:t>Retrieved evidence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1960" y="2514600"/>
            <a:ext cx="3063240" cy="658368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200" b="1">
                <a:solidFill>
                  <a:srgbClr val="333333"/>
                </a:solidFill>
                <a:latin typeface="Arial"/>
              </a:rPr>
              <a:t>[1] الفقرات ← الجمل ← التقسيم</a:t>
            </a:r>
          </a:p>
          <a:p>
            <a:pPr algn="ctr" rtl="0"/>
            <a:r>
              <a:rPr sz="1000">
                <a:solidFill>
                  <a:srgbClr val="666666"/>
                </a:solidFill>
                <a:latin typeface="Calibri"/>
              </a:rPr>
              <a:t>[1] paragraphs → sentences → split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51960" y="3310128"/>
            <a:ext cx="3063240" cy="658368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200" b="1">
                <a:solidFill>
                  <a:srgbClr val="333333"/>
                </a:solidFill>
                <a:latin typeface="Arial"/>
              </a:rPr>
              <a:t>[2] التكراري هو الخيار الموصى به</a:t>
            </a:r>
          </a:p>
          <a:p>
            <a:pPr algn="ctr" rtl="0"/>
            <a:r>
              <a:rPr sz="1000">
                <a:solidFill>
                  <a:srgbClr val="666666"/>
                </a:solidFill>
                <a:latin typeface="Calibri"/>
              </a:rPr>
              <a:t>[2] recursive is the recommended default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452360" y="3063240"/>
            <a:ext cx="594360" cy="274320"/>
          </a:xfrm>
          <a:prstGeom prst="righ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183879" y="1417320"/>
            <a:ext cx="3337560" cy="109728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</a:rPr>
              <a:t>إجابة موثقة</a:t>
            </a:r>
          </a:p>
          <a:p>
            <a:pPr algn="ctr" rtl="0"/>
            <a:r>
              <a:rPr sz="1300">
                <a:solidFill>
                  <a:srgbClr val="666666"/>
                </a:solidFill>
                <a:latin typeface="Calibri"/>
              </a:rPr>
              <a:t>Grounded answer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83879" y="2697480"/>
            <a:ext cx="3337560" cy="114300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</a:rPr>
              <a:t>ابدأ بالتقسيم التكراري [1][2]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Start with recursive chunking [1][2]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94560" y="4892040"/>
            <a:ext cx="7818120" cy="68580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</a:rPr>
              <a:t>لا دليل مسترجع؟ قل: لا أعرف / No retrieved evidence? Say: I don't know.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>
                <a:solidFill>
                  <a:srgbClr val="666666"/>
                </a:solidFill>
                <a:latin typeface="Arial"/>
              </a:rPr>
              <a:t>القاعدة: لا تتجاوز الأدلة، واربط كل ادعاء بمصدر.</a:t>
            </a:r>
          </a:p>
          <a:p>
            <a:pPr algn="r" rtl="0"/>
            <a:r>
              <a:t>Rule: do not go beyond the evidence; connect every claim to a source.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</a:rPr>
              <a:t>طيف البيانات والتنسيقات / Data Spectrum &amp; Formats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325880"/>
            <a:ext cx="3520440" cy="96012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</a:rPr>
              <a:t>مهيكلة</a:t>
            </a:r>
          </a:p>
          <a:p>
            <a:pPr algn="ctr" rtl="0"/>
            <a:r>
              <a:rPr sz="1300">
                <a:solidFill>
                  <a:srgbClr val="666666"/>
                </a:solidFill>
                <a:latin typeface="Calibri"/>
              </a:rPr>
              <a:t>Structured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468880"/>
            <a:ext cx="3520440" cy="91440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</a:rPr>
              <a:t>جداول / Tables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CSV • Parquet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43400" y="1325880"/>
            <a:ext cx="3520440" cy="96012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</a:rPr>
              <a:t>شبه مهيكلة</a:t>
            </a:r>
          </a:p>
          <a:p>
            <a:pPr algn="ctr" rtl="0"/>
            <a:r>
              <a:rPr sz="1300">
                <a:solidFill>
                  <a:srgbClr val="666666"/>
                </a:solidFill>
                <a:latin typeface="Calibri"/>
              </a:rPr>
              <a:t>Semi-structured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2468880"/>
            <a:ext cx="3520440" cy="91440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</a:rPr>
              <a:t>سجلات مرنة / Flexible records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JSON • Avro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325880"/>
            <a:ext cx="3520440" cy="96012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800" b="1">
                <a:solidFill>
                  <a:srgbClr val="333333"/>
                </a:solidFill>
                <a:latin typeface="Arial"/>
              </a:rPr>
              <a:t>غير مهيكلة</a:t>
            </a:r>
          </a:p>
          <a:p>
            <a:pPr algn="ctr" rtl="0"/>
            <a:r>
              <a:rPr sz="1300">
                <a:solidFill>
                  <a:srgbClr val="666666"/>
                </a:solidFill>
                <a:latin typeface="Calibri"/>
              </a:rPr>
              <a:t>Unstructured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2468880"/>
            <a:ext cx="3520440" cy="91440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</a:rPr>
              <a:t>نصوص وصور وصوت / Text, images, audio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PDF • JPG • MP3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463040" y="4160520"/>
            <a:ext cx="9235440" cy="77724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</a:rPr>
              <a:t>اختر التنسيق حسب الاستخدام: تبادل بسيط ← تحليلات سريعة ← محتوى غني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Choose the format for the job: simple exchange ← fast analytics ← rich content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>
                <a:solidFill>
                  <a:srgbClr val="666666"/>
                </a:solidFill>
                <a:latin typeface="Arial"/>
              </a:rPr>
              <a:t>Parquet عمودي للتحليلات؛ JSON مرن للواجهات؛ الملفات الغنية تحتاج استخراج محتوى.</a:t>
            </a:r>
          </a:p>
          <a:p>
            <a:pPr algn="r" rtl="0"/>
            <a:r>
              <a:t>Parquet is columnar for analytics; JSON is flexible for APIs; rich files need content extraction.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</a:rPr>
              <a:t>خريطة قرار: المستودع مقابل البحيرة / Warehouse vs Lake Decision Map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34440"/>
            <a:ext cx="5029200" cy="82296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2000" b="1">
                <a:solidFill>
                  <a:srgbClr val="333333"/>
                </a:solidFill>
                <a:latin typeface="Arial"/>
              </a:rPr>
              <a:t>مستودع البيانات</a:t>
            </a:r>
          </a:p>
          <a:p>
            <a:pPr algn="ctr" rtl="0"/>
            <a:r>
              <a:rPr sz="1400">
                <a:solidFill>
                  <a:srgbClr val="666666"/>
                </a:solidFill>
                <a:latin typeface="Calibri"/>
              </a:rPr>
              <a:t>Data Warehouse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0" y="1234440"/>
            <a:ext cx="5029200" cy="82296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2000" b="1">
                <a:solidFill>
                  <a:srgbClr val="333333"/>
                </a:solidFill>
                <a:latin typeface="Arial"/>
              </a:rPr>
              <a:t>بحيرة البيانات</a:t>
            </a:r>
          </a:p>
          <a:p>
            <a:pPr algn="ctr" rtl="0"/>
            <a:r>
              <a:rPr sz="1400">
                <a:solidFill>
                  <a:srgbClr val="666666"/>
                </a:solidFill>
                <a:latin typeface="Calibri"/>
              </a:rPr>
              <a:t>Data Lake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331720"/>
            <a:ext cx="5029200" cy="73152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</a:rPr>
              <a:t>مخطط عند الكتابة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Schema on write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2331720"/>
            <a:ext cx="5029200" cy="73152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</a:rPr>
              <a:t>مخطط عند القراءة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Schema on read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200400"/>
            <a:ext cx="5029200" cy="73152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</a:rPr>
              <a:t>بيانات منظمة + SQL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Curated data + SQL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3200400"/>
            <a:ext cx="5029200" cy="73152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</a:rPr>
              <a:t>كل التنسيقات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Any format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069080"/>
            <a:ext cx="5029200" cy="73152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</a:rPr>
              <a:t>تقارير وذكاء أعمال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Reporting and BI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4069080"/>
            <a:ext cx="5029200" cy="73152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</a:rPr>
              <a:t>استكشاف وAI/ML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Exploration and AI/ML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86200" y="5212080"/>
            <a:ext cx="4434840" cy="64008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</a:rPr>
              <a:t>Lakehouse = مرونة البحيرة + موثوقية المستودع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Lakehouse = lake flexibility + warehouse reliability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>
                <a:solidFill>
                  <a:srgbClr val="666666"/>
                </a:solidFill>
                <a:latin typeface="Arial"/>
              </a:rPr>
              <a:t>لا يوجد فائز دائم: ابدأ من نوع السؤال، والفريق، ومتطلبات الحوكمة.</a:t>
            </a:r>
          </a:p>
          <a:p>
            <a:pPr algn="r" rtl="0"/>
            <a:r>
              <a:t>There is no universal winner: start with the question, team, and governance needs.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</a:rPr>
              <a:t>من البيانات الخام إلى الخصائص / Raw Data to Features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2011680"/>
            <a:ext cx="2468880" cy="128016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600" b="1">
                <a:solidFill>
                  <a:srgbClr val="333333"/>
                </a:solidFill>
                <a:latin typeface="Arial"/>
              </a:rPr>
              <a:t>أحداث خام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Raw events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182112" y="2514600"/>
            <a:ext cx="411480" cy="274320"/>
          </a:xfrm>
          <a:prstGeom prst="righ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66160" y="2011680"/>
            <a:ext cx="2468880" cy="128016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600" b="1">
                <a:solidFill>
                  <a:srgbClr val="333333"/>
                </a:solidFill>
                <a:latin typeface="Arial"/>
              </a:rPr>
              <a:t>تنظيف وتحويل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Clean &amp; transform</a:t>
            </a:r>
          </a:p>
        </p:txBody>
      </p:sp>
      <p:sp>
        <p:nvSpPr>
          <p:cNvPr id="6" name="Right Arrow 5"/>
          <p:cNvSpPr/>
          <p:nvPr/>
        </p:nvSpPr>
        <p:spPr>
          <a:xfrm>
            <a:off x="6108192" y="2514600"/>
            <a:ext cx="411480" cy="274320"/>
          </a:xfrm>
          <a:prstGeom prst="righ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92240" y="2011680"/>
            <a:ext cx="2468880" cy="128016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600" b="1">
                <a:solidFill>
                  <a:srgbClr val="333333"/>
                </a:solidFill>
                <a:latin typeface="Arial"/>
              </a:rPr>
              <a:t>تعريف الخصائص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Feature definitions</a:t>
            </a:r>
          </a:p>
        </p:txBody>
      </p:sp>
      <p:sp>
        <p:nvSpPr>
          <p:cNvPr id="8" name="Right Arrow 7"/>
          <p:cNvSpPr/>
          <p:nvPr/>
        </p:nvSpPr>
        <p:spPr>
          <a:xfrm>
            <a:off x="9034272" y="2514600"/>
            <a:ext cx="411480" cy="274320"/>
          </a:xfrm>
          <a:prstGeom prst="righ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418320" y="2011680"/>
            <a:ext cx="2468880" cy="128016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600" b="1">
                <a:solidFill>
                  <a:srgbClr val="333333"/>
                </a:solidFill>
                <a:latin typeface="Arial"/>
              </a:rPr>
              <a:t>تدريب + خدمة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Training + serving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63240" y="3977639"/>
            <a:ext cx="6080760" cy="82296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</a:rPr>
              <a:t>مخزن الخصائص: تعريف واحد متسق للتدريب والخدمة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Feature store: one consistent definition for training and serving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>
                <a:solidFill>
                  <a:srgbClr val="666666"/>
                </a:solidFill>
                <a:latin typeface="Arial"/>
              </a:rPr>
              <a:t>الاتساق هو النتيجة: نفس حساب الميزة يمنع انحراف التدريب والخدمة.</a:t>
            </a:r>
          </a:p>
          <a:p>
            <a:pPr algn="r" rtl="0"/>
            <a:r>
              <a:t>Consistency is the outcome: the same feature calculation prevents training-serving skew.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</a:rPr>
              <a:t>حلقة جودة التصنيف / Label Quality Loop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17320"/>
            <a:ext cx="4480560" cy="82296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600" b="1">
                <a:solidFill>
                  <a:srgbClr val="333333"/>
                </a:solidFill>
                <a:latin typeface="Arial"/>
              </a:rPr>
              <a:t>تسميات متسرعة أو غير متسقة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Rushed or inconsistent labels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468880"/>
            <a:ext cx="4480560" cy="114300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</a:rPr>
              <a:t>ضوضاء ← نموذج ضعيف ← تصحيحات أكثر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Noise → weak model → more corrections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5394960" y="2834640"/>
            <a:ext cx="685800" cy="274320"/>
          </a:xfrm>
          <a:prstGeom prst="righ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309360" y="1417320"/>
            <a:ext cx="4480560" cy="82296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600" b="1">
                <a:solidFill>
                  <a:srgbClr val="333333"/>
                </a:solidFill>
                <a:latin typeface="Arial"/>
              </a:rPr>
              <a:t>اقتراح LLM + مراجعة بشرية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LLM suggestion + human review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2468880"/>
            <a:ext cx="4480560" cy="114300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</a:rPr>
              <a:t>تسميات موثوقة ← نموذج أفضل ← تغذية راجعة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Trusted labels → better model → feedback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063240" y="4617720"/>
            <a:ext cx="6080760" cy="713232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300" b="1">
                <a:solidFill>
                  <a:srgbClr val="333333"/>
                </a:solidFill>
                <a:latin typeface="Arial"/>
              </a:rPr>
              <a:t>قِس اتفاق المقيمين قبل قبول البيانات / Measure reviewer agreement before accepting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>
                <a:solidFill>
                  <a:srgbClr val="666666"/>
                </a:solidFill>
                <a:latin typeface="Arial"/>
              </a:rPr>
              <a:t>الـ LLM يسرّع العمل؛ الإنسان يظل مسؤولًا عن القبول والجودة.</a:t>
            </a:r>
          </a:p>
          <a:p>
            <a:pPr algn="r" rtl="0"/>
            <a:r>
              <a:t>The LLM accelerates work; people remain accountable for acceptance and quality.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</a:rPr>
              <a:t>خريطة سلسلة العهدة / Data Lineage Map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874519"/>
            <a:ext cx="2560320" cy="86868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600" b="1">
                <a:solidFill>
                  <a:srgbClr val="333333"/>
                </a:solidFill>
                <a:latin typeface="Arial"/>
              </a:rPr>
              <a:t>مصدر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Source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2926080"/>
            <a:ext cx="2560320" cy="64008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200" b="1">
                <a:solidFill>
                  <a:srgbClr val="333333"/>
                </a:solidFill>
                <a:latin typeface="Arial"/>
              </a:rPr>
              <a:t>CRM / API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227832" y="2240280"/>
            <a:ext cx="329184" cy="274320"/>
          </a:xfrm>
          <a:prstGeom prst="righ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474720" y="1874519"/>
            <a:ext cx="2560320" cy="86868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600" b="1">
                <a:solidFill>
                  <a:srgbClr val="333333"/>
                </a:solidFill>
                <a:latin typeface="Arial"/>
              </a:rPr>
              <a:t>تحويل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Transform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2926080"/>
            <a:ext cx="2560320" cy="64008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200" b="1">
                <a:solidFill>
                  <a:srgbClr val="333333"/>
                </a:solidFill>
                <a:latin typeface="Arial"/>
              </a:rPr>
              <a:t>تنظيف + توحيد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108192" y="2240280"/>
            <a:ext cx="329184" cy="274320"/>
          </a:xfrm>
          <a:prstGeom prst="righ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355080" y="1874519"/>
            <a:ext cx="2560320" cy="86868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600" b="1">
                <a:solidFill>
                  <a:srgbClr val="333333"/>
                </a:solidFill>
                <a:latin typeface="Arial"/>
              </a:rPr>
              <a:t>منتج بيانات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Data product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926080"/>
            <a:ext cx="2560320" cy="64008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200" b="1">
                <a:solidFill>
                  <a:srgbClr val="333333"/>
                </a:solidFill>
                <a:latin typeface="Arial"/>
              </a:rPr>
              <a:t>مخطط + مالك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988552" y="2240280"/>
            <a:ext cx="329184" cy="274320"/>
          </a:xfrm>
          <a:prstGeom prst="righ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235440" y="1874519"/>
            <a:ext cx="2560320" cy="86868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600" b="1">
                <a:solidFill>
                  <a:srgbClr val="333333"/>
                </a:solidFill>
                <a:latin typeface="Arial"/>
              </a:rPr>
              <a:t>استهلاك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Consume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235440" y="2926080"/>
            <a:ext cx="2560320" cy="64008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200" b="1">
                <a:solidFill>
                  <a:srgbClr val="333333"/>
                </a:solidFill>
                <a:latin typeface="Arial"/>
              </a:rPr>
              <a:t>لوحة / نموذج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86000" y="4709160"/>
            <a:ext cx="7635240" cy="73152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</a:rPr>
              <a:t>لكل خطوة: مالك + وقت + سياسة + أثر التغيير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For every step: owner + time + policy + change impact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>
                <a:solidFill>
                  <a:srgbClr val="666666"/>
                </a:solidFill>
                <a:latin typeface="Arial"/>
              </a:rPr>
              <a:t>اسأل «من أين جاءت هذه النتيجة؟» ثم اتبع السلسلة إلى المصدر.</a:t>
            </a:r>
          </a:p>
          <a:p>
            <a:pPr algn="r" rtl="0"/>
            <a:r>
              <a:t>Ask “where did this result come from?” then follow the chain to its source.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</a:rPr>
              <a:t>دورة حياة MLOps / MLOps Lifecycle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965960"/>
            <a:ext cx="2011680" cy="114300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</a:rPr>
              <a:t>تجربة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Experiment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560320" y="2423160"/>
            <a:ext cx="256032" cy="274320"/>
          </a:xfrm>
          <a:prstGeom prst="righ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834640" y="1965960"/>
            <a:ext cx="2011680" cy="114300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</a:rPr>
              <a:t>تحقق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Validate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892040" y="2423160"/>
            <a:ext cx="256032" cy="274320"/>
          </a:xfrm>
          <a:prstGeom prst="righ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166360" y="1965960"/>
            <a:ext cx="2011680" cy="114300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</a:rPr>
              <a:t>نشر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Deploy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223760" y="2423160"/>
            <a:ext cx="256032" cy="274320"/>
          </a:xfrm>
          <a:prstGeom prst="righ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498080" y="1965960"/>
            <a:ext cx="2011680" cy="114300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</a:rPr>
              <a:t>مراقبة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Monitor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9555480" y="2423160"/>
            <a:ext cx="256032" cy="274320"/>
          </a:xfrm>
          <a:prstGeom prst="righ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829800" y="1965960"/>
            <a:ext cx="2011680" cy="114300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</a:rPr>
              <a:t>إعادة تدريب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Retrain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920240" y="4023360"/>
            <a:ext cx="8321040" cy="86868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</a:rPr>
              <a:t>سجّل الإصدارات والقياسات في كل مرحلة — ثم أعد التعلم من الإنتاج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Record versions and metrics at every stage — then learn again from production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>
                <a:solidFill>
                  <a:srgbClr val="666666"/>
                </a:solidFill>
                <a:latin typeface="Arial"/>
              </a:rPr>
              <a:t>MLOps ليس «نشرًا مرة واحدة»؛ إنه حلقة قابلة للقياس والتحسين.</a:t>
            </a:r>
          </a:p>
          <a:p>
            <a:pPr algn="r" rtl="0"/>
            <a:r>
              <a:t>MLOps is not “deploy once”; it is a measurable improvement loop.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</a:rPr>
              <a:t>خريطة المصطلحات / Glossary Map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34440"/>
            <a:ext cx="3474720" cy="109728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600" b="1">
                <a:solidFill>
                  <a:srgbClr val="333333"/>
                </a:solidFill>
                <a:latin typeface="Arial"/>
              </a:rPr>
              <a:t>البيانات والتخزين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Data &amp; storage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43400" y="1234440"/>
            <a:ext cx="3474720" cy="109728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600" b="1">
                <a:solidFill>
                  <a:srgbClr val="333333"/>
                </a:solidFill>
                <a:latin typeface="Arial"/>
              </a:rPr>
              <a:t>الخصائص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Features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955279" y="1234440"/>
            <a:ext cx="3474720" cy="109728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600" b="1">
                <a:solidFill>
                  <a:srgbClr val="333333"/>
                </a:solidFill>
                <a:latin typeface="Arial"/>
              </a:rPr>
              <a:t>RAG والاسترجاع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RAG &amp; retrieval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14600" y="3429000"/>
            <a:ext cx="3474720" cy="109728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600" b="1">
                <a:solidFill>
                  <a:srgbClr val="333333"/>
                </a:solidFill>
                <a:latin typeface="Arial"/>
              </a:rPr>
              <a:t>الحوكمة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Governance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3429000"/>
            <a:ext cx="3474720" cy="109728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600" b="1">
                <a:solidFill>
                  <a:srgbClr val="333333"/>
                </a:solidFill>
                <a:latin typeface="Arial"/>
              </a:rPr>
              <a:t>MLOps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</a:rPr>
              <a:t>MLOps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0" y="2331720"/>
            <a:ext cx="4526280" cy="64008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300" b="1">
                <a:solidFill>
                  <a:srgbClr val="333333"/>
                </a:solidFill>
                <a:latin typeface="Arial"/>
              </a:rPr>
              <a:t>تعلم المصطلحات كمجموعات مترابطة</a:t>
            </a:r>
          </a:p>
          <a:p>
            <a:pPr algn="ctr" rtl="0"/>
            <a:r>
              <a:rPr sz="1100">
                <a:solidFill>
                  <a:srgbClr val="666666"/>
                </a:solidFill>
                <a:latin typeface="Calibri"/>
              </a:rPr>
              <a:t>Learn terms as connected groups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>
                <a:solidFill>
                  <a:srgbClr val="666666"/>
                </a:solidFill>
                <a:latin typeface="Arial"/>
              </a:rPr>
              <a:t>استخدم هذه الخريطة قبل الرجوع إلى التعريفات التفصيلية.</a:t>
            </a:r>
          </a:p>
          <a:p>
            <a:pPr algn="r" rtl="0"/>
            <a:r>
              <a:t>Use this map before returning to the detailed definitions.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