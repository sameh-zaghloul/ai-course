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3716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3000" b="1">
                <a:solidFill>
                  <a:srgbClr val="1F3B5C"/>
                </a:solidFill>
                <a:latin typeface="Arial"/>
              </a:rPr>
              <a:t>خريطة المسار / Track Roadmap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2377440"/>
            <a:ext cx="1234440" cy="1371600"/>
          </a:xfrm>
          <a:prstGeom prst="roundRect">
            <a:avLst/>
          </a:prstGeom>
          <a:solidFill>
            <a:srgbClr val="DCE6F1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400" b="1">
                <a:solidFill>
                  <a:srgbClr val="333333"/>
                </a:solidFill>
                <a:latin typeface="Arial"/>
              </a:rPr>
              <a:t>البيانات</a:t>
            </a:r>
          </a:p>
          <a:p>
            <a:pPr algn="ctr" rtl="0"/>
            <a:r>
              <a:rPr sz="1000">
                <a:solidFill>
                  <a:srgbClr val="666666"/>
                </a:solidFill>
                <a:latin typeface="Calibri"/>
              </a:rPr>
              <a:t>Data</a:t>
            </a:r>
          </a:p>
        </p:txBody>
      </p:sp>
      <p:sp>
        <p:nvSpPr>
          <p:cNvPr id="4" name="Left Arrow 3"/>
          <p:cNvSpPr/>
          <p:nvPr/>
        </p:nvSpPr>
        <p:spPr>
          <a:xfrm>
            <a:off x="1746504" y="2926080"/>
            <a:ext cx="128016" cy="274320"/>
          </a:xfrm>
          <a:prstGeom prst="left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883664" y="2377440"/>
            <a:ext cx="1234440" cy="1371600"/>
          </a:xfrm>
          <a:prstGeom prst="roundRect">
            <a:avLst/>
          </a:prstGeom>
          <a:solidFill>
            <a:srgbClr val="E2EFDA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400" b="1">
                <a:solidFill>
                  <a:srgbClr val="333333"/>
                </a:solidFill>
                <a:latin typeface="Arial"/>
              </a:rPr>
              <a:t>التخزين</a:t>
            </a:r>
          </a:p>
          <a:p>
            <a:pPr algn="ctr" rtl="0"/>
            <a:r>
              <a:rPr sz="1000">
                <a:solidFill>
                  <a:srgbClr val="666666"/>
                </a:solidFill>
                <a:latin typeface="Calibri"/>
              </a:rPr>
              <a:t>Storage</a:t>
            </a:r>
          </a:p>
        </p:txBody>
      </p:sp>
      <p:sp>
        <p:nvSpPr>
          <p:cNvPr id="6" name="Left Arrow 5"/>
          <p:cNvSpPr/>
          <p:nvPr/>
        </p:nvSpPr>
        <p:spPr>
          <a:xfrm>
            <a:off x="3127248" y="2926080"/>
            <a:ext cx="128016" cy="274320"/>
          </a:xfrm>
          <a:prstGeom prst="left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264408" y="2377440"/>
            <a:ext cx="1234440" cy="1371600"/>
          </a:xfrm>
          <a:prstGeom prst="roundRect">
            <a:avLst/>
          </a:prstGeom>
          <a:solidFill>
            <a:srgbClr val="FDE9D9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400" b="1">
                <a:solidFill>
                  <a:srgbClr val="333333"/>
                </a:solidFill>
                <a:latin typeface="Arial"/>
              </a:rPr>
              <a:t>الخصائص</a:t>
            </a:r>
          </a:p>
          <a:p>
            <a:pPr algn="ctr" rtl="0"/>
            <a:r>
              <a:rPr sz="1000">
                <a:solidFill>
                  <a:srgbClr val="666666"/>
                </a:solidFill>
                <a:latin typeface="Calibri"/>
              </a:rPr>
              <a:t>Features</a:t>
            </a:r>
          </a:p>
        </p:txBody>
      </p:sp>
      <p:sp>
        <p:nvSpPr>
          <p:cNvPr id="8" name="Left Arrow 7"/>
          <p:cNvSpPr/>
          <p:nvPr/>
        </p:nvSpPr>
        <p:spPr>
          <a:xfrm>
            <a:off x="4507992" y="2926080"/>
            <a:ext cx="128016" cy="274320"/>
          </a:xfrm>
          <a:prstGeom prst="left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645152" y="2377440"/>
            <a:ext cx="1234440" cy="137160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400" b="1">
                <a:solidFill>
                  <a:srgbClr val="333333"/>
                </a:solidFill>
                <a:latin typeface="Arial"/>
              </a:rPr>
              <a:t>الفهارس المتجهية</a:t>
            </a:r>
          </a:p>
          <a:p>
            <a:pPr algn="ctr" rtl="0"/>
            <a:r>
              <a:rPr sz="1000">
                <a:solidFill>
                  <a:srgbClr val="666666"/>
                </a:solidFill>
                <a:latin typeface="Calibri"/>
              </a:rPr>
              <a:t>Vector Indexes</a:t>
            </a:r>
          </a:p>
        </p:txBody>
      </p:sp>
      <p:sp>
        <p:nvSpPr>
          <p:cNvPr id="10" name="Left Arrow 9"/>
          <p:cNvSpPr/>
          <p:nvPr/>
        </p:nvSpPr>
        <p:spPr>
          <a:xfrm>
            <a:off x="5888736" y="2926080"/>
            <a:ext cx="128016" cy="274320"/>
          </a:xfrm>
          <a:prstGeom prst="left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025896" y="2377440"/>
            <a:ext cx="1234440" cy="1371600"/>
          </a:xfrm>
          <a:prstGeom prst="roundRect">
            <a:avLst/>
          </a:prstGeom>
          <a:solidFill>
            <a:srgbClr val="DCE6F1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400" b="1">
                <a:solidFill>
                  <a:srgbClr val="333333"/>
                </a:solidFill>
                <a:latin typeface="Arial"/>
              </a:rPr>
              <a:t>التصنيف</a:t>
            </a:r>
          </a:p>
          <a:p>
            <a:pPr algn="ctr" rtl="0"/>
            <a:r>
              <a:rPr sz="1000">
                <a:solidFill>
                  <a:srgbClr val="666666"/>
                </a:solidFill>
                <a:latin typeface="Calibri"/>
              </a:rPr>
              <a:t>Labeling</a:t>
            </a:r>
          </a:p>
        </p:txBody>
      </p:sp>
      <p:sp>
        <p:nvSpPr>
          <p:cNvPr id="12" name="Left Arrow 11"/>
          <p:cNvSpPr/>
          <p:nvPr/>
        </p:nvSpPr>
        <p:spPr>
          <a:xfrm>
            <a:off x="7269480" y="2926080"/>
            <a:ext cx="128016" cy="274320"/>
          </a:xfrm>
          <a:prstGeom prst="left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406640" y="2377440"/>
            <a:ext cx="1234440" cy="1371600"/>
          </a:xfrm>
          <a:prstGeom prst="roundRect">
            <a:avLst/>
          </a:prstGeom>
          <a:solidFill>
            <a:srgbClr val="E2EFDA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400" b="1">
                <a:solidFill>
                  <a:srgbClr val="333333"/>
                </a:solidFill>
                <a:latin typeface="Arial"/>
              </a:rPr>
              <a:t>الحوكمة</a:t>
            </a:r>
          </a:p>
          <a:p>
            <a:pPr algn="ctr" rtl="0"/>
            <a:r>
              <a:rPr sz="1000">
                <a:solidFill>
                  <a:srgbClr val="666666"/>
                </a:solidFill>
                <a:latin typeface="Calibri"/>
              </a:rPr>
              <a:t>Governance</a:t>
            </a:r>
          </a:p>
        </p:txBody>
      </p:sp>
      <p:sp>
        <p:nvSpPr>
          <p:cNvPr id="14" name="Left Arrow 13"/>
          <p:cNvSpPr/>
          <p:nvPr/>
        </p:nvSpPr>
        <p:spPr>
          <a:xfrm>
            <a:off x="8650224" y="2926080"/>
            <a:ext cx="128016" cy="274320"/>
          </a:xfrm>
          <a:prstGeom prst="left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787384" y="2377440"/>
            <a:ext cx="1234440" cy="1371600"/>
          </a:xfrm>
          <a:prstGeom prst="roundRect">
            <a:avLst/>
          </a:prstGeom>
          <a:solidFill>
            <a:srgbClr val="FDE9D9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400" b="1">
                <a:solidFill>
                  <a:srgbClr val="333333"/>
                </a:solidFill>
                <a:latin typeface="Arial"/>
              </a:rPr>
              <a:t>MLOps</a:t>
            </a:r>
          </a:p>
          <a:p>
            <a:pPr algn="ctr" rtl="0"/>
            <a:r>
              <a:rPr sz="1000">
                <a:solidFill>
                  <a:srgbClr val="666666"/>
                </a:solidFill>
                <a:latin typeface="Calibri"/>
              </a:rPr>
              <a:t>MLOps</a:t>
            </a:r>
          </a:p>
        </p:txBody>
      </p:sp>
      <p:sp>
        <p:nvSpPr>
          <p:cNvPr id="16" name="Left Arrow 15"/>
          <p:cNvSpPr/>
          <p:nvPr/>
        </p:nvSpPr>
        <p:spPr>
          <a:xfrm>
            <a:off x="10030968" y="2926080"/>
            <a:ext cx="128016" cy="274320"/>
          </a:xfrm>
          <a:prstGeom prst="left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10168128" y="2377440"/>
            <a:ext cx="1234440" cy="137160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400" b="1">
                <a:solidFill>
                  <a:srgbClr val="333333"/>
                </a:solidFill>
                <a:latin typeface="Arial"/>
              </a:rPr>
              <a:t>المختبر</a:t>
            </a:r>
          </a:p>
          <a:p>
            <a:pPr algn="ctr" rtl="0"/>
            <a:r>
              <a:rPr sz="1000">
                <a:solidFill>
                  <a:srgbClr val="666666"/>
                </a:solidFill>
                <a:latin typeface="Calibri"/>
              </a:rPr>
              <a:t>Lab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6126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400">
                <a:solidFill>
                  <a:srgbClr val="666666"/>
                </a:solidFill>
                <a:latin typeface="Arial"/>
              </a:rPr>
              <a:t>رحلة الوحدة الثانية من البيانات الخام إلى نقطة نهاية RAG.</a:t>
            </a:r>
          </a:p>
          <a:p>
            <a:pPr algn="r" rtl="0"/>
            <a:r>
              <a:t>Module 02 journey: from raw data to a RAG endpoint.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3716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3000" b="1">
                <a:solidFill>
                  <a:srgbClr val="1F3B5C"/>
                </a:solidFill>
                <a:latin typeface="Arial"/>
              </a:rPr>
              <a:t>المعمارية المتدرِّجة Medallion / Medallion Layers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286000" y="1188720"/>
            <a:ext cx="7589520" cy="1234440"/>
          </a:xfrm>
          <a:prstGeom prst="roundRect">
            <a:avLst/>
          </a:prstGeom>
          <a:solidFill>
            <a:srgbClr val="FDE9D9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800" b="1">
                <a:solidFill>
                  <a:srgbClr val="333333"/>
                </a:solidFill>
                <a:latin typeface="Arial"/>
              </a:rPr>
              <a:t>Bronze — بيانات خام غير قابلة للتغيير</a:t>
            </a:r>
          </a:p>
          <a:p>
            <a:pPr algn="ctr" rtl="0"/>
            <a:r>
              <a:rPr sz="1300">
                <a:solidFill>
                  <a:srgbClr val="666666"/>
                </a:solidFill>
                <a:latin typeface="Calibri"/>
              </a:rPr>
              <a:t>Raw immutable data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286000" y="2697480"/>
            <a:ext cx="7589520" cy="123444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800" b="1">
                <a:solidFill>
                  <a:srgbClr val="333333"/>
                </a:solidFill>
                <a:latin typeface="Arial"/>
              </a:rPr>
              <a:t>Silver — بيانات منقَّاة ومنظَّمة</a:t>
            </a:r>
          </a:p>
          <a:p>
            <a:pPr algn="ctr" rtl="0"/>
            <a:r>
              <a:rPr sz="1300">
                <a:solidFill>
                  <a:srgbClr val="666666"/>
                </a:solidFill>
                <a:latin typeface="Calibri"/>
              </a:rPr>
              <a:t>Cleansed &amp; structured data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0" y="4206240"/>
            <a:ext cx="7589520" cy="1234440"/>
          </a:xfrm>
          <a:prstGeom prst="roundRect">
            <a:avLst/>
          </a:prstGeom>
          <a:solidFill>
            <a:srgbClr val="E2EFDA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800" b="1">
                <a:solidFill>
                  <a:srgbClr val="333333"/>
                </a:solidFill>
                <a:latin typeface="Arial"/>
              </a:rPr>
              <a:t>Gold — تجميعات جاهزة للتحليل</a:t>
            </a:r>
          </a:p>
          <a:p>
            <a:pPr algn="ctr" rtl="0"/>
            <a:r>
              <a:rPr sz="1300">
                <a:solidFill>
                  <a:srgbClr val="666666"/>
                </a:solidFill>
                <a:latin typeface="Calibri"/>
              </a:rPr>
              <a:t>Analytics-ready aggregates</a:t>
            </a:r>
          </a:p>
        </p:txBody>
      </p:sp>
      <p:sp>
        <p:nvSpPr>
          <p:cNvPr id="6" name="Left Arrow 5"/>
          <p:cNvSpPr/>
          <p:nvPr/>
        </p:nvSpPr>
        <p:spPr>
          <a:xfrm>
            <a:off x="5897880" y="2450592"/>
            <a:ext cx="365760" cy="274320"/>
          </a:xfrm>
          <a:prstGeom prst="left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Left Arrow 6"/>
          <p:cNvSpPr/>
          <p:nvPr/>
        </p:nvSpPr>
        <p:spPr>
          <a:xfrm>
            <a:off x="5897880" y="3959352"/>
            <a:ext cx="365760" cy="274320"/>
          </a:xfrm>
          <a:prstGeom prst="left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126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400">
                <a:solidFill>
                  <a:srgbClr val="666666"/>
                </a:solidFill>
                <a:latin typeface="Arial"/>
              </a:rPr>
              <a:t>الحوكمة عبر تحسين الجودة بين الطبقات — إدارة مركزية.</a:t>
            </a:r>
          </a:p>
          <a:p>
            <a:pPr algn="r" rtl="0"/>
            <a:r>
              <a:t>Governance via quality improvement between layers — central ownership.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3716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3000" b="1">
                <a:solidFill>
                  <a:srgbClr val="1F3B5C"/>
                </a:solidFill>
                <a:latin typeface="Arial"/>
              </a:rPr>
              <a:t>أنماط معالجة البيانات الثلاثة / Three Data Patterns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371600"/>
            <a:ext cx="3566160" cy="914400"/>
          </a:xfrm>
          <a:prstGeom prst="roundRect">
            <a:avLst/>
          </a:prstGeom>
          <a:solidFill>
            <a:srgbClr val="DCE6F1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800" b="1">
                <a:solidFill>
                  <a:srgbClr val="333333"/>
                </a:solidFill>
                <a:latin typeface="Arial"/>
              </a:rPr>
              <a:t>المعمارية المتدرِّجة</a:t>
            </a:r>
          </a:p>
          <a:p>
            <a:pPr algn="ctr" rtl="0"/>
            <a:r>
              <a:rPr sz="1300">
                <a:solidFill>
                  <a:srgbClr val="666666"/>
                </a:solidFill>
                <a:latin typeface="Calibri"/>
              </a:rPr>
              <a:t>Medallion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2468880"/>
            <a:ext cx="3566160" cy="256032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500" b="1">
                <a:solidFill>
                  <a:srgbClr val="333333"/>
                </a:solidFill>
                <a:latin typeface="Arial"/>
              </a:rPr>
              <a:t>فريق مركزي — تحليلات وAI/ML/RAG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19" y="1371600"/>
            <a:ext cx="3566160" cy="914400"/>
          </a:xfrm>
          <a:prstGeom prst="roundRect">
            <a:avLst/>
          </a:prstGeom>
          <a:solidFill>
            <a:srgbClr val="E2EFDA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800" b="1">
                <a:solidFill>
                  <a:srgbClr val="333333"/>
                </a:solidFill>
                <a:latin typeface="Arial"/>
              </a:rPr>
              <a:t>مستودع البيانات</a:t>
            </a:r>
          </a:p>
          <a:p>
            <a:pPr algn="ctr" rtl="0"/>
            <a:r>
              <a:rPr sz="1300">
                <a:solidFill>
                  <a:srgbClr val="666666"/>
                </a:solidFill>
                <a:latin typeface="Calibri"/>
              </a:rPr>
              <a:t>Data Warehouse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19" y="2468880"/>
            <a:ext cx="3566160" cy="256032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500" b="1">
                <a:solidFill>
                  <a:srgbClr val="333333"/>
                </a:solidFill>
                <a:latin typeface="Arial"/>
              </a:rPr>
              <a:t>فرق BI — تقارير وذكاء أعمال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38158" y="1371600"/>
            <a:ext cx="3566160" cy="914400"/>
          </a:xfrm>
          <a:prstGeom prst="roundRect">
            <a:avLst/>
          </a:prstGeom>
          <a:solidFill>
            <a:srgbClr val="FDE9D9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800" b="1">
                <a:solidFill>
                  <a:srgbClr val="333333"/>
                </a:solidFill>
                <a:latin typeface="Arial"/>
              </a:rPr>
              <a:t>شبكة البيانات</a:t>
            </a:r>
          </a:p>
          <a:p>
            <a:pPr algn="ctr" rtl="0"/>
            <a:r>
              <a:rPr sz="1300">
                <a:solidFill>
                  <a:srgbClr val="666666"/>
                </a:solidFill>
                <a:latin typeface="Calibri"/>
              </a:rPr>
              <a:t>Data Mesh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38158" y="2468880"/>
            <a:ext cx="3566160" cy="256032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500" b="1">
                <a:solidFill>
                  <a:srgbClr val="333333"/>
                </a:solidFill>
                <a:latin typeface="Arial"/>
              </a:rPr>
              <a:t>فرق المجالات — مؤسسات كبيرة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126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400">
                <a:solidFill>
                  <a:srgbClr val="666666"/>
                </a:solidFill>
                <a:latin typeface="Arial"/>
              </a:rPr>
              <a:t>المعايير: الفكرة الجوهرية / المالك / الحوكمة / حالة الاستخدام المثلى.</a:t>
            </a:r>
          </a:p>
          <a:p>
            <a:pPr algn="r" rtl="0"/>
            <a:r>
              <a:t>Criteria: core idea / ownership / governance / best use case.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3716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3000" b="1">
                <a:solidFill>
                  <a:srgbClr val="1F3B5C"/>
                </a:solidFill>
                <a:latin typeface="Arial"/>
              </a:rPr>
              <a:t>منتج البيانات وعقد البيانات / Data Product &amp; Contract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645920"/>
            <a:ext cx="4206240" cy="3108960"/>
          </a:xfrm>
          <a:prstGeom prst="roundRect">
            <a:avLst/>
          </a:prstGeom>
          <a:solidFill>
            <a:srgbClr val="DCE6F1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2000" b="1">
                <a:solidFill>
                  <a:srgbClr val="333333"/>
                </a:solidFill>
                <a:latin typeface="Arial"/>
              </a:rPr>
              <a:t>منتج البيانات</a:t>
            </a:r>
          </a:p>
          <a:p>
            <a:pPr algn="ctr" rtl="0"/>
            <a:r>
              <a:rPr sz="1400">
                <a:solidFill>
                  <a:srgbClr val="666666"/>
                </a:solidFill>
                <a:latin typeface="Calibri"/>
              </a:rPr>
              <a:t>Data Product — موثوق • موثّق • قابل للاكتشاف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223760" y="1645920"/>
            <a:ext cx="4206240" cy="914400"/>
          </a:xfrm>
          <a:prstGeom prst="roundRect">
            <a:avLst/>
          </a:prstGeom>
          <a:solidFill>
            <a:srgbClr val="E2EFDA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2000" b="1">
                <a:solidFill>
                  <a:srgbClr val="333333"/>
                </a:solidFill>
                <a:latin typeface="Arial"/>
              </a:rPr>
              <a:t>عقد البيانات</a:t>
            </a:r>
          </a:p>
          <a:p>
            <a:pPr algn="ctr" rtl="0"/>
            <a:r>
              <a:rPr sz="1400">
                <a:solidFill>
                  <a:srgbClr val="666666"/>
                </a:solidFill>
                <a:latin typeface="Calibri"/>
              </a:rPr>
              <a:t>Data Contract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589520" y="2743200"/>
            <a:ext cx="3474720" cy="59436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400" b="1">
                <a:solidFill>
                  <a:srgbClr val="333333"/>
                </a:solidFill>
                <a:latin typeface="Arial"/>
              </a:rPr>
              <a:t>المخطط / Schema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589520" y="668904631200"/>
            <a:ext cx="3474720" cy="59436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400" b="1">
                <a:solidFill>
                  <a:srgbClr val="333333"/>
                </a:solidFill>
                <a:latin typeface="Arial"/>
              </a:rPr>
              <a:t>الأمان / Security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589520" y="1337806519200"/>
            <a:ext cx="3474720" cy="59436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400" b="1">
                <a:solidFill>
                  <a:srgbClr val="333333"/>
                </a:solidFill>
                <a:latin typeface="Arial"/>
              </a:rPr>
              <a:t>مستوى الخدمة / SLA</a:t>
            </a:r>
          </a:p>
        </p:txBody>
      </p:sp>
      <p:sp>
        <p:nvSpPr>
          <p:cNvPr id="8" name="Left Arrow 7"/>
          <p:cNvSpPr/>
          <p:nvPr/>
        </p:nvSpPr>
        <p:spPr>
          <a:xfrm>
            <a:off x="5257800" y="3017520"/>
            <a:ext cx="1737360" cy="365760"/>
          </a:xfrm>
          <a:prstGeom prst="left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6126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400">
                <a:solidFill>
                  <a:srgbClr val="666666"/>
                </a:solidFill>
                <a:latin typeface="Arial"/>
              </a:rPr>
              <a:t>وحدة التسليم الحديثة في هندسة البيانات.</a:t>
            </a:r>
          </a:p>
          <a:p>
            <a:pPr algn="r" rtl="0"/>
            <a:r>
              <a:t>The modern delivery unit in data engineering.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3716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3000" b="1">
                <a:solidFill>
                  <a:srgbClr val="1F3B5C"/>
                </a:solidFill>
                <a:latin typeface="Arial"/>
              </a:rPr>
              <a:t>خط أنابيب RAG / RAG Pipeline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2011680"/>
            <a:ext cx="1965960" cy="1280160"/>
          </a:xfrm>
          <a:prstGeom prst="roundRect">
            <a:avLst/>
          </a:prstGeom>
          <a:solidFill>
            <a:srgbClr val="DCE6F1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600" b="1">
                <a:solidFill>
                  <a:srgbClr val="333333"/>
                </a:solidFill>
                <a:latin typeface="Arial"/>
              </a:rPr>
              <a:t>1) الفهرسة</a:t>
            </a:r>
          </a:p>
          <a:p>
            <a:pPr algn="ctr" rtl="0"/>
            <a:r>
              <a:rPr sz="1200">
                <a:solidFill>
                  <a:srgbClr val="666666"/>
                </a:solidFill>
                <a:latin typeface="Calibri"/>
              </a:rPr>
              <a:t>Indexing</a:t>
            </a:r>
          </a:p>
        </p:txBody>
      </p:sp>
      <p:sp>
        <p:nvSpPr>
          <p:cNvPr id="4" name="Left Arrow 3"/>
          <p:cNvSpPr/>
          <p:nvPr/>
        </p:nvSpPr>
        <p:spPr>
          <a:xfrm>
            <a:off x="2532888" y="2514600"/>
            <a:ext cx="219456" cy="274320"/>
          </a:xfrm>
          <a:prstGeom prst="left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2770632" y="2011680"/>
            <a:ext cx="1965960" cy="1280160"/>
          </a:xfrm>
          <a:prstGeom prst="roundRect">
            <a:avLst/>
          </a:prstGeom>
          <a:solidFill>
            <a:srgbClr val="E2EFDA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600" b="1">
                <a:solidFill>
                  <a:srgbClr val="333333"/>
                </a:solidFill>
                <a:latin typeface="Arial"/>
              </a:rPr>
              <a:t>2) الاسترجاع</a:t>
            </a:r>
          </a:p>
          <a:p>
            <a:pPr algn="ctr" rtl="0"/>
            <a:r>
              <a:rPr sz="1200">
                <a:solidFill>
                  <a:srgbClr val="666666"/>
                </a:solidFill>
                <a:latin typeface="Calibri"/>
              </a:rPr>
              <a:t>Retrieval</a:t>
            </a:r>
          </a:p>
        </p:txBody>
      </p:sp>
      <p:sp>
        <p:nvSpPr>
          <p:cNvPr id="6" name="Left Arrow 5"/>
          <p:cNvSpPr/>
          <p:nvPr/>
        </p:nvSpPr>
        <p:spPr>
          <a:xfrm>
            <a:off x="4754880" y="2514600"/>
            <a:ext cx="219456" cy="274320"/>
          </a:xfrm>
          <a:prstGeom prst="left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992624" y="2011680"/>
            <a:ext cx="1965960" cy="1280160"/>
          </a:xfrm>
          <a:prstGeom prst="roundRect">
            <a:avLst/>
          </a:prstGeom>
          <a:solidFill>
            <a:srgbClr val="FDE9D9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600" b="1">
                <a:solidFill>
                  <a:srgbClr val="333333"/>
                </a:solidFill>
                <a:latin typeface="Arial"/>
              </a:rPr>
              <a:t>3) التوليد</a:t>
            </a:r>
          </a:p>
          <a:p>
            <a:pPr algn="ctr" rtl="0"/>
            <a:r>
              <a:rPr sz="1200">
                <a:solidFill>
                  <a:srgbClr val="666666"/>
                </a:solidFill>
                <a:latin typeface="Calibri"/>
              </a:rPr>
              <a:t>Generation</a:t>
            </a:r>
          </a:p>
        </p:txBody>
      </p:sp>
      <p:sp>
        <p:nvSpPr>
          <p:cNvPr id="8" name="Left Arrow 7"/>
          <p:cNvSpPr/>
          <p:nvPr/>
        </p:nvSpPr>
        <p:spPr>
          <a:xfrm>
            <a:off x="6976872" y="2514600"/>
            <a:ext cx="219456" cy="274320"/>
          </a:xfrm>
          <a:prstGeom prst="left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214616" y="2011680"/>
            <a:ext cx="1965960" cy="128016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600" b="1">
                <a:solidFill>
                  <a:srgbClr val="333333"/>
                </a:solidFill>
                <a:latin typeface="Arial"/>
              </a:rPr>
              <a:t>4) التقييم</a:t>
            </a:r>
          </a:p>
          <a:p>
            <a:pPr algn="ctr" rtl="0"/>
            <a:r>
              <a:rPr sz="1200">
                <a:solidFill>
                  <a:srgbClr val="666666"/>
                </a:solidFill>
                <a:latin typeface="Calibri"/>
              </a:rPr>
              <a:t>Evaluation</a:t>
            </a:r>
          </a:p>
        </p:txBody>
      </p:sp>
      <p:sp>
        <p:nvSpPr>
          <p:cNvPr id="10" name="Left Arrow 9"/>
          <p:cNvSpPr/>
          <p:nvPr/>
        </p:nvSpPr>
        <p:spPr>
          <a:xfrm>
            <a:off x="9198864" y="2514600"/>
            <a:ext cx="219456" cy="274320"/>
          </a:xfrm>
          <a:prstGeom prst="left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9436608" y="2011680"/>
            <a:ext cx="1965960" cy="1280160"/>
          </a:xfrm>
          <a:prstGeom prst="roundRect">
            <a:avLst/>
          </a:prstGeom>
          <a:solidFill>
            <a:srgbClr val="DCE6F1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600" b="1">
                <a:solidFill>
                  <a:srgbClr val="333333"/>
                </a:solidFill>
                <a:latin typeface="Arial"/>
              </a:rPr>
              <a:t>5) التحسين</a:t>
            </a:r>
          </a:p>
          <a:p>
            <a:pPr algn="ctr" rtl="0"/>
            <a:r>
              <a:rPr sz="1200">
                <a:solidFill>
                  <a:srgbClr val="666666"/>
                </a:solidFill>
                <a:latin typeface="Calibri"/>
              </a:rPr>
              <a:t>Optimization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749039"/>
            <a:ext cx="1965960" cy="91440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200" b="1">
                <a:solidFill>
                  <a:srgbClr val="333333"/>
                </a:solidFill>
                <a:latin typeface="Arial"/>
              </a:rPr>
              <a:t>تقسيم تكراري + HNSW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770632" y="3749039"/>
            <a:ext cx="1965960" cy="91440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200" b="1">
                <a:solidFill>
                  <a:srgbClr val="333333"/>
                </a:solidFill>
                <a:latin typeface="Arial"/>
              </a:rPr>
              <a:t>بحث هجين + إعادة ترتيب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992624" y="3749039"/>
            <a:ext cx="1965960" cy="91440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200" b="1">
                <a:solidFill>
                  <a:srgbClr val="333333"/>
                </a:solidFill>
                <a:latin typeface="Arial"/>
              </a:rPr>
              <a:t>موجِّه مقيَّد بالمصادر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214616" y="3749039"/>
            <a:ext cx="1965960" cy="91440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200" b="1">
                <a:solidFill>
                  <a:srgbClr val="333333"/>
                </a:solidFill>
                <a:latin typeface="Arial"/>
              </a:rPr>
              <a:t>مثلث RAG (RAGAS)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436608" y="3749039"/>
            <a:ext cx="1965960" cy="91440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200" b="1">
                <a:solidFill>
                  <a:srgbClr val="333333"/>
                </a:solidFill>
                <a:latin typeface="Arial"/>
              </a:rPr>
              <a:t>تخزين مؤقت + توجيه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6126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400">
                <a:solidFill>
                  <a:srgbClr val="666666"/>
                </a:solidFill>
                <a:latin typeface="Arial"/>
              </a:rPr>
              <a:t>من الفهرسة إلى التقييم — المسار التطبيقي في مختبر L03.</a:t>
            </a:r>
          </a:p>
          <a:p>
            <a:pPr algn="r" rtl="0"/>
            <a:r>
              <a:t>From indexing to evaluation — applied in lab L03.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3716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3000" b="1">
                <a:solidFill>
                  <a:srgbClr val="1F3B5C"/>
                </a:solidFill>
                <a:latin typeface="Arial"/>
              </a:rPr>
              <a:t>استراتيجيات تقسيم النصوص / Chunking Strategies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234440"/>
            <a:ext cx="2560320" cy="77724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500" b="1">
                <a:solidFill>
                  <a:srgbClr val="333333"/>
                </a:solidFill>
                <a:latin typeface="Arial"/>
              </a:rPr>
              <a:t>ثابت الحجم</a:t>
            </a:r>
          </a:p>
          <a:p>
            <a:pPr algn="ctr" rtl="0"/>
            <a:r>
              <a:rPr sz="1100">
                <a:solidFill>
                  <a:srgbClr val="666666"/>
                </a:solidFill>
                <a:latin typeface="Calibri"/>
              </a:rPr>
              <a:t>Fixed-size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566160" y="1234440"/>
            <a:ext cx="5669280" cy="77724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300" b="1">
                <a:solidFill>
                  <a:srgbClr val="333333"/>
                </a:solidFill>
                <a:latin typeface="Arial"/>
              </a:rPr>
              <a:t>أبسطها — يقطع الجُمل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148840"/>
            <a:ext cx="2560320" cy="77724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500" b="1">
                <a:solidFill>
                  <a:srgbClr val="333333"/>
                </a:solidFill>
                <a:latin typeface="Arial"/>
              </a:rPr>
              <a:t>دلالي</a:t>
            </a:r>
          </a:p>
          <a:p>
            <a:pPr algn="ctr" rtl="0"/>
            <a:r>
              <a:rPr sz="1100">
                <a:solidFill>
                  <a:srgbClr val="666666"/>
                </a:solidFill>
                <a:latin typeface="Calibri"/>
              </a:rPr>
              <a:t>Semantic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566160" y="2148840"/>
            <a:ext cx="5669280" cy="77724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300" b="1">
                <a:solidFill>
                  <a:srgbClr val="333333"/>
                </a:solidFill>
                <a:latin typeface="Arial"/>
              </a:rPr>
              <a:t>تماسك أفضل — حساس للعتبة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3063240"/>
            <a:ext cx="2560320" cy="777240"/>
          </a:xfrm>
          <a:prstGeom prst="roundRect">
            <a:avLst/>
          </a:prstGeom>
          <a:solidFill>
            <a:srgbClr val="E2EFDA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500" b="1">
                <a:solidFill>
                  <a:srgbClr val="333333"/>
                </a:solidFill>
                <a:latin typeface="Arial"/>
              </a:rPr>
              <a:t>تكراري ★</a:t>
            </a:r>
          </a:p>
          <a:p>
            <a:pPr algn="ctr" rtl="0"/>
            <a:r>
              <a:rPr sz="1100">
                <a:solidFill>
                  <a:srgbClr val="666666"/>
                </a:solidFill>
                <a:latin typeface="Calibri"/>
              </a:rPr>
              <a:t>Recursive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566160" y="3063240"/>
            <a:ext cx="5669280" cy="77724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300" b="1">
                <a:solidFill>
                  <a:srgbClr val="333333"/>
                </a:solidFill>
                <a:latin typeface="Arial"/>
              </a:rPr>
              <a:t>الموصى به افتراضيًا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3977640"/>
            <a:ext cx="2560320" cy="77724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500" b="1">
                <a:solidFill>
                  <a:srgbClr val="333333"/>
                </a:solidFill>
                <a:latin typeface="Arial"/>
              </a:rPr>
              <a:t>بحسب البنية</a:t>
            </a:r>
          </a:p>
          <a:p>
            <a:pPr algn="ctr" rtl="0"/>
            <a:r>
              <a:rPr sz="1100">
                <a:solidFill>
                  <a:srgbClr val="666666"/>
                </a:solidFill>
                <a:latin typeface="Calibri"/>
              </a:rPr>
              <a:t>Structure-based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66160" y="3977640"/>
            <a:ext cx="5669280" cy="77724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300" b="1">
                <a:solidFill>
                  <a:srgbClr val="333333"/>
                </a:solidFill>
                <a:latin typeface="Arial"/>
              </a:rPr>
              <a:t>عناوين وأقسام — يُدمج مع التكراري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892040"/>
            <a:ext cx="2560320" cy="77724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500" b="1">
                <a:solidFill>
                  <a:srgbClr val="333333"/>
                </a:solidFill>
                <a:latin typeface="Arial"/>
              </a:rPr>
              <a:t>بالنموذج اللغوي</a:t>
            </a:r>
          </a:p>
          <a:p>
            <a:pPr algn="ctr" rtl="0"/>
            <a:r>
              <a:rPr sz="1100">
                <a:solidFill>
                  <a:srgbClr val="666666"/>
                </a:solidFill>
                <a:latin typeface="Calibri"/>
              </a:rPr>
              <a:t>LLM-based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566160" y="4892040"/>
            <a:ext cx="5669280" cy="77724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300" b="1">
                <a:solidFill>
                  <a:srgbClr val="333333"/>
                </a:solidFill>
                <a:latin typeface="Arial"/>
              </a:rPr>
              <a:t>الأدق — الأغلى حسابيًا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126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400">
                <a:solidFill>
                  <a:srgbClr val="666666"/>
                </a:solidFill>
                <a:latin typeface="Arial"/>
              </a:rPr>
              <a:t>★ التقسيم التكراري: فصل بالفقرات ثم تقسيم ما تجاوز الحد الأقصى.</a:t>
            </a:r>
          </a:p>
          <a:p>
            <a:pPr algn="r" rtl="0"/>
            <a:r>
              <a:t>★ Recursive: split by paragraphs, then oversized chunks.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3716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3000" b="1">
                <a:solidFill>
                  <a:srgbClr val="1F3B5C"/>
                </a:solidFill>
                <a:latin typeface="Arial"/>
              </a:rPr>
              <a:t>مثلث تقييم RAG / RAG Evaluation Triad</a:t>
            </a:r>
          </a:p>
        </p:txBody>
      </p:sp>
      <p:sp>
        <p:nvSpPr>
          <p:cNvPr id="3" name="Isosceles Triangle 2"/>
          <p:cNvSpPr/>
          <p:nvPr/>
        </p:nvSpPr>
        <p:spPr>
          <a:xfrm>
            <a:off x="3749039" y="1463040"/>
            <a:ext cx="4572000" cy="3840480"/>
          </a:xfrm>
          <a:prstGeom prst="triangle">
            <a:avLst/>
          </a:prstGeom>
          <a:solidFill>
            <a:srgbClr val="DCE6F1"/>
          </a:solidFill>
          <a:ln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480560" y="1188720"/>
            <a:ext cx="3108960" cy="731520"/>
          </a:xfrm>
          <a:prstGeom prst="roundRect">
            <a:avLst/>
          </a:prstGeom>
          <a:solidFill>
            <a:srgbClr val="E2EFDA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600" b="1">
                <a:solidFill>
                  <a:srgbClr val="333333"/>
                </a:solidFill>
                <a:latin typeface="Arial"/>
              </a:rPr>
              <a:t>الوفاء بالمصدر</a:t>
            </a:r>
          </a:p>
          <a:p>
            <a:pPr algn="ctr" rtl="0"/>
            <a:r>
              <a:rPr sz="1200">
                <a:solidFill>
                  <a:srgbClr val="666666"/>
                </a:solidFill>
                <a:latin typeface="Calibri"/>
              </a:rPr>
              <a:t>Faithfulness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194560" y="4846320"/>
            <a:ext cx="3108960" cy="731520"/>
          </a:xfrm>
          <a:prstGeom prst="roundRect">
            <a:avLst/>
          </a:prstGeom>
          <a:solidFill>
            <a:srgbClr val="FDE9D9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600" b="1">
                <a:solidFill>
                  <a:srgbClr val="333333"/>
                </a:solidFill>
                <a:latin typeface="Arial"/>
              </a:rPr>
              <a:t>ملاءمة الإجابة</a:t>
            </a:r>
          </a:p>
          <a:p>
            <a:pPr algn="ctr" rtl="0"/>
            <a:r>
              <a:rPr sz="1200">
                <a:solidFill>
                  <a:srgbClr val="666666"/>
                </a:solidFill>
                <a:latin typeface="Calibri"/>
              </a:rPr>
              <a:t>Answer Relevancy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766560" y="4846320"/>
            <a:ext cx="3108960" cy="73152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600" b="1">
                <a:solidFill>
                  <a:srgbClr val="333333"/>
                </a:solidFill>
                <a:latin typeface="Arial"/>
              </a:rPr>
              <a:t>دقة السياق</a:t>
            </a:r>
          </a:p>
          <a:p>
            <a:pPr algn="ctr" rtl="0"/>
            <a:r>
              <a:rPr sz="1200">
                <a:solidFill>
                  <a:srgbClr val="666666"/>
                </a:solidFill>
                <a:latin typeface="Calibri"/>
              </a:rPr>
              <a:t>Context Precision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126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400">
                <a:solidFill>
                  <a:srgbClr val="666666"/>
                </a:solidFill>
                <a:latin typeface="Arial"/>
              </a:rPr>
              <a:t>يُقاس بإطار RAGAS — الوفاء يمنع الهلوسة والملاءمة تجعل الإجابة نافعة.</a:t>
            </a:r>
          </a:p>
          <a:p>
            <a:pPr algn="r" rtl="0"/>
            <a:r>
              <a:t>Measured with RAGAS — faithfulness prevents hallucination; relevancy keeps answers useful.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3716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3000" b="1">
                <a:solidFill>
                  <a:srgbClr val="1F3B5C"/>
                </a:solidFill>
                <a:latin typeface="Arial"/>
              </a:rPr>
              <a:t>المعمارية المرجعية للذكاء التوليدي / GenAI Reference Architecture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97280" y="1280160"/>
            <a:ext cx="9966960" cy="1051560"/>
          </a:xfrm>
          <a:prstGeom prst="roundRect">
            <a:avLst/>
          </a:prstGeom>
          <a:solidFill>
            <a:srgbClr val="DCE6F1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800" b="1">
                <a:solidFill>
                  <a:srgbClr val="333333"/>
                </a:solidFill>
                <a:latin typeface="Arial"/>
              </a:rPr>
              <a:t>أ. بوابة منصة GenAI</a:t>
            </a:r>
          </a:p>
          <a:p>
            <a:pPr algn="ctr" rtl="0"/>
            <a:r>
              <a:rPr sz="1300">
                <a:solidFill>
                  <a:srgbClr val="666666"/>
                </a:solidFill>
                <a:latin typeface="Calibri"/>
              </a:rPr>
              <a:t>A. Platform Portal — POC → MVP → PROD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97280" y="2487168"/>
            <a:ext cx="9966960" cy="1051560"/>
          </a:xfrm>
          <a:prstGeom prst="roundRect">
            <a:avLst/>
          </a:prstGeom>
          <a:solidFill>
            <a:srgbClr val="E2EFDA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800" b="1">
                <a:solidFill>
                  <a:srgbClr val="333333"/>
                </a:solidFill>
                <a:latin typeface="Arial"/>
              </a:rPr>
              <a:t>ب. الأتمتة والامتثال</a:t>
            </a:r>
          </a:p>
          <a:p>
            <a:pPr algn="ctr" rtl="0"/>
            <a:r>
              <a:rPr sz="1300">
                <a:solidFill>
                  <a:srgbClr val="666666"/>
                </a:solidFill>
                <a:latin typeface="Calibri"/>
              </a:rPr>
              <a:t>B. Automation &amp; Compliance — CI/CD gates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7280" y="3694176"/>
            <a:ext cx="9966960" cy="1051560"/>
          </a:xfrm>
          <a:prstGeom prst="roundRect">
            <a:avLst/>
          </a:prstGeom>
          <a:solidFill>
            <a:srgbClr val="FDE9D9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800" b="1">
                <a:solidFill>
                  <a:srgbClr val="333333"/>
                </a:solidFill>
                <a:latin typeface="Arial"/>
              </a:rPr>
              <a:t>ج. الخدمات المشتركة</a:t>
            </a:r>
          </a:p>
          <a:p>
            <a:pPr algn="ctr" rtl="0"/>
            <a:r>
              <a:rPr sz="1300">
                <a:solidFill>
                  <a:srgbClr val="666666"/>
                </a:solidFill>
                <a:latin typeface="Calibri"/>
              </a:rPr>
              <a:t>C. Shared Services — Gateway, Prompts, Audit, Guardrails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97280" y="4901184"/>
            <a:ext cx="9966960" cy="105156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800" b="1">
                <a:solidFill>
                  <a:srgbClr val="333333"/>
                </a:solidFill>
                <a:latin typeface="Arial"/>
              </a:rPr>
              <a:t>د. الحوكمة والمراقبة</a:t>
            </a:r>
          </a:p>
          <a:p>
            <a:pPr algn="ctr" rtl="0"/>
            <a:r>
              <a:rPr sz="1300">
                <a:solidFill>
                  <a:srgbClr val="666666"/>
                </a:solidFill>
                <a:latin typeface="Calibri"/>
              </a:rPr>
              <a:t>D. Governance &amp; Monitoring — Responsible AI, FinOps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126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400">
                <a:solidFill>
                  <a:srgbClr val="666666"/>
                </a:solidFill>
                <a:latin typeface="Arial"/>
              </a:rPr>
              <a:t>النمط المرجعي المؤسسي (McKinsey) — نافذة موحدة فوق خدمات مشتركة محكومة.</a:t>
            </a:r>
          </a:p>
          <a:p>
            <a:pPr algn="r" rtl="0"/>
            <a:r>
              <a:t>Enterprise reference pattern (McKinsey) — a unified pane over governed shared services.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3716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3000" b="1">
                <a:solidFill>
                  <a:srgbClr val="1F3B5C"/>
                </a:solidFill>
                <a:latin typeface="Arial"/>
              </a:rPr>
              <a:t>التكلفة عمليًا: التضمين مقابل التوليد / Cost: Embedding vs Generation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828800" y="3840480"/>
            <a:ext cx="2194560" cy="1463040"/>
          </a:xfrm>
          <a:prstGeom prst="roundRect">
            <a:avLst/>
          </a:prstGeom>
          <a:solidFill>
            <a:srgbClr val="E2EFDA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800" b="1">
                <a:solidFill>
                  <a:srgbClr val="333333"/>
                </a:solidFill>
                <a:latin typeface="Arial"/>
              </a:rPr>
              <a:t>التضمين 1x</a:t>
            </a:r>
          </a:p>
          <a:p>
            <a:pPr algn="ctr" rtl="0"/>
            <a:r>
              <a:rPr sz="1200">
                <a:solidFill>
                  <a:srgbClr val="666666"/>
                </a:solidFill>
                <a:latin typeface="Calibri"/>
              </a:rPr>
              <a:t>Embedding — cheap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754880" y="1554480"/>
            <a:ext cx="2194560" cy="3749039"/>
          </a:xfrm>
          <a:prstGeom prst="roundRect">
            <a:avLst/>
          </a:prstGeom>
          <a:solidFill>
            <a:srgbClr val="FDE9D9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800" b="1">
                <a:solidFill>
                  <a:srgbClr val="333333"/>
                </a:solidFill>
                <a:latin typeface="Arial"/>
              </a:rPr>
              <a:t>التوليد ~10x</a:t>
            </a:r>
          </a:p>
          <a:p>
            <a:pPr algn="ctr" rtl="0"/>
            <a:r>
              <a:rPr sz="1200">
                <a:solidFill>
                  <a:srgbClr val="666666"/>
                </a:solidFill>
                <a:latin typeface="Calibri"/>
              </a:rPr>
              <a:t>Generation — costly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863840" y="3108960"/>
            <a:ext cx="2651760" cy="2194560"/>
          </a:xfrm>
          <a:prstGeom prst="roundRect">
            <a:avLst/>
          </a:prstGeom>
          <a:solidFill>
            <a:srgbClr val="DCE6F1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500" b="1">
                <a:solidFill>
                  <a:srgbClr val="333333"/>
                </a:solidFill>
                <a:latin typeface="Arial"/>
              </a:rPr>
              <a:t>الحل: تخزين مؤقت + توجيه</a:t>
            </a:r>
          </a:p>
          <a:p>
            <a:pPr algn="ctr" rtl="0"/>
            <a:r>
              <a:rPr sz="1200">
                <a:solidFill>
                  <a:srgbClr val="666666"/>
                </a:solidFill>
                <a:latin typeface="Calibri"/>
              </a:rPr>
              <a:t>Fix: caching + routing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126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400">
                <a:solidFill>
                  <a:srgbClr val="666666"/>
                </a:solidFill>
                <a:latin typeface="Arial"/>
              </a:rPr>
              <a:t>قاعدة FinOps: قِس التكلفة لكل طلب قبل التوسع.</a:t>
            </a:r>
          </a:p>
          <a:p>
            <a:pPr algn="r" rtl="0"/>
            <a:r>
              <a:t>FinOps rule: measure per-request cost before scaling.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3716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3000" b="1">
                <a:solidFill>
                  <a:srgbClr val="1F3B5C"/>
                </a:solidFill>
                <a:latin typeface="Arial"/>
              </a:rPr>
              <a:t>من LLM إلى الأنظمة الوكيلة / From LLM to Agentic AI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645920"/>
            <a:ext cx="2377440" cy="91440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800" b="1">
                <a:solidFill>
                  <a:srgbClr val="333333"/>
                </a:solidFill>
                <a:latin typeface="Arial"/>
              </a:rPr>
              <a:t>LLM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2743200"/>
            <a:ext cx="2377440" cy="146304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300" b="1">
                <a:solidFill>
                  <a:srgbClr val="333333"/>
                </a:solidFill>
                <a:latin typeface="Arial"/>
              </a:rPr>
              <a:t>تنبؤ بالرموز التالية</a:t>
            </a:r>
          </a:p>
          <a:p>
            <a:pPr algn="ctr" rtl="0"/>
            <a:r>
              <a:rPr sz="1100">
                <a:solidFill>
                  <a:srgbClr val="666666"/>
                </a:solidFill>
                <a:latin typeface="Calibri"/>
              </a:rPr>
              <a:t>Predicts next tokens</a:t>
            </a:r>
          </a:p>
        </p:txBody>
      </p:sp>
      <p:sp>
        <p:nvSpPr>
          <p:cNvPr id="5" name="Left Arrow 4"/>
          <p:cNvSpPr/>
          <p:nvPr/>
        </p:nvSpPr>
        <p:spPr>
          <a:xfrm>
            <a:off x="3072384" y="1965960"/>
            <a:ext cx="347472" cy="274320"/>
          </a:xfrm>
          <a:prstGeom prst="left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474720" y="1645920"/>
            <a:ext cx="2377440" cy="914400"/>
          </a:xfrm>
          <a:prstGeom prst="roundRect">
            <a:avLst/>
          </a:prstGeom>
          <a:solidFill>
            <a:srgbClr val="DCE6F1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800" b="1">
                <a:solidFill>
                  <a:srgbClr val="333333"/>
                </a:solidFill>
                <a:latin typeface="Arial"/>
              </a:rPr>
              <a:t>الذكاء التوليدي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74720" y="2743200"/>
            <a:ext cx="2377440" cy="146304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300" b="1">
                <a:solidFill>
                  <a:srgbClr val="333333"/>
                </a:solidFill>
                <a:latin typeface="Arial"/>
              </a:rPr>
              <a:t>يولّد محتوى جديدًا</a:t>
            </a:r>
          </a:p>
          <a:p>
            <a:pPr algn="ctr" rtl="0"/>
            <a:r>
              <a:rPr sz="1100">
                <a:solidFill>
                  <a:srgbClr val="666666"/>
                </a:solidFill>
                <a:latin typeface="Calibri"/>
              </a:rPr>
              <a:t>Generates new content</a:t>
            </a:r>
          </a:p>
        </p:txBody>
      </p:sp>
      <p:sp>
        <p:nvSpPr>
          <p:cNvPr id="8" name="Left Arrow 7"/>
          <p:cNvSpPr/>
          <p:nvPr/>
        </p:nvSpPr>
        <p:spPr>
          <a:xfrm>
            <a:off x="5907024" y="1965960"/>
            <a:ext cx="347472" cy="274320"/>
          </a:xfrm>
          <a:prstGeom prst="left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309360" y="1645920"/>
            <a:ext cx="2377440" cy="914400"/>
          </a:xfrm>
          <a:prstGeom prst="roundRect">
            <a:avLst/>
          </a:prstGeom>
          <a:solidFill>
            <a:srgbClr val="FDE9D9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800" b="1">
                <a:solidFill>
                  <a:srgbClr val="333333"/>
                </a:solidFill>
                <a:latin typeface="Arial"/>
              </a:rPr>
              <a:t>الوكلاء Agents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2743200"/>
            <a:ext cx="2377440" cy="146304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300" b="1">
                <a:solidFill>
                  <a:srgbClr val="333333"/>
                </a:solidFill>
                <a:latin typeface="Arial"/>
              </a:rPr>
              <a:t>نية + استدعاء أدوات</a:t>
            </a:r>
          </a:p>
          <a:p>
            <a:pPr algn="ctr" rtl="0"/>
            <a:r>
              <a:rPr sz="1100">
                <a:solidFill>
                  <a:srgbClr val="666666"/>
                </a:solidFill>
                <a:latin typeface="Calibri"/>
              </a:rPr>
              <a:t>Intent + tool calls</a:t>
            </a:r>
          </a:p>
        </p:txBody>
      </p:sp>
      <p:sp>
        <p:nvSpPr>
          <p:cNvPr id="11" name="Left Arrow 10"/>
          <p:cNvSpPr/>
          <p:nvPr/>
        </p:nvSpPr>
        <p:spPr>
          <a:xfrm>
            <a:off x="8741664" y="1965960"/>
            <a:ext cx="347472" cy="274320"/>
          </a:xfrm>
          <a:prstGeom prst="left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9144000" y="1645920"/>
            <a:ext cx="2377440" cy="914400"/>
          </a:xfrm>
          <a:prstGeom prst="roundRect">
            <a:avLst/>
          </a:prstGeom>
          <a:solidFill>
            <a:srgbClr val="E2EFDA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800" b="1">
                <a:solidFill>
                  <a:srgbClr val="333333"/>
                </a:solidFill>
                <a:latin typeface="Arial"/>
              </a:rPr>
              <a:t>الأنظمة الوكيلة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0" y="2743200"/>
            <a:ext cx="2377440" cy="146304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300" b="1">
                <a:solidFill>
                  <a:srgbClr val="333333"/>
                </a:solidFill>
                <a:latin typeface="Arial"/>
              </a:rPr>
              <a:t>تخطيط وتنفيذ متعدد الخطوات</a:t>
            </a:r>
          </a:p>
          <a:p>
            <a:pPr algn="ctr" rtl="0"/>
            <a:r>
              <a:rPr sz="1100">
                <a:solidFill>
                  <a:srgbClr val="666666"/>
                </a:solidFill>
                <a:latin typeface="Calibri"/>
              </a:rPr>
              <a:t>Multi-step planning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126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400">
                <a:solidFill>
                  <a:srgbClr val="666666"/>
                </a:solidFill>
                <a:latin typeface="Arial"/>
              </a:rPr>
              <a:t>Agentic RAG = بحث متجهي + جلب عبر الواجهات بذاكرة متجددة وتحقق قبل التسليم.</a:t>
            </a:r>
          </a:p>
          <a:p>
            <a:pPr algn="r" rtl="0"/>
            <a:r>
              <a:t>Agentic RAG = vector search + API fetching with refreshed memory and verification.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3716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3000" b="1">
                <a:solidFill>
                  <a:srgbClr val="1F3B5C"/>
                </a:solidFill>
                <a:latin typeface="Arial"/>
              </a:rPr>
              <a:t>معمارية مخزن الخصائص / Feature Store Architecture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2560320"/>
            <a:ext cx="2011680" cy="118872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400" b="1">
                <a:solidFill>
                  <a:srgbClr val="333333"/>
                </a:solidFill>
                <a:latin typeface="Arial"/>
              </a:rPr>
              <a:t>مصادر البيانات</a:t>
            </a:r>
          </a:p>
          <a:p>
            <a:pPr algn="ctr" rtl="0"/>
            <a:r>
              <a:rPr sz="1100">
                <a:solidFill>
                  <a:srgbClr val="666666"/>
                </a:solidFill>
                <a:latin typeface="Calibri"/>
              </a:rPr>
              <a:t>Data Sources</a:t>
            </a:r>
          </a:p>
        </p:txBody>
      </p:sp>
      <p:sp>
        <p:nvSpPr>
          <p:cNvPr id="4" name="Left Arrow 3"/>
          <p:cNvSpPr/>
          <p:nvPr/>
        </p:nvSpPr>
        <p:spPr>
          <a:xfrm>
            <a:off x="2724912" y="3017520"/>
            <a:ext cx="411480" cy="274320"/>
          </a:xfrm>
          <a:prstGeom prst="left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200400" y="2560320"/>
            <a:ext cx="2194560" cy="1188720"/>
          </a:xfrm>
          <a:prstGeom prst="roundRect">
            <a:avLst/>
          </a:prstGeom>
          <a:solidFill>
            <a:srgbClr val="DCE6F1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400" b="1">
                <a:solidFill>
                  <a:srgbClr val="333333"/>
                </a:solidFill>
                <a:latin typeface="Arial"/>
              </a:rPr>
              <a:t>خط الخصائص</a:t>
            </a:r>
          </a:p>
          <a:p>
            <a:pPr algn="ctr" rtl="0"/>
            <a:r>
              <a:rPr sz="1100">
                <a:solidFill>
                  <a:srgbClr val="666666"/>
                </a:solidFill>
                <a:latin typeface="Calibri"/>
              </a:rPr>
              <a:t>Feature Pipeline
هندسة + تحويل</a:t>
            </a:r>
          </a:p>
        </p:txBody>
      </p:sp>
      <p:sp>
        <p:nvSpPr>
          <p:cNvPr id="6" name="Left Arrow 5"/>
          <p:cNvSpPr/>
          <p:nvPr/>
        </p:nvSpPr>
        <p:spPr>
          <a:xfrm>
            <a:off x="5468112" y="2331720"/>
            <a:ext cx="411480" cy="274320"/>
          </a:xfrm>
          <a:prstGeom prst="left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Left Arrow 6"/>
          <p:cNvSpPr/>
          <p:nvPr/>
        </p:nvSpPr>
        <p:spPr>
          <a:xfrm>
            <a:off x="5468112" y="3611880"/>
            <a:ext cx="411480" cy="274320"/>
          </a:xfrm>
          <a:prstGeom prst="left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943600" y="1554480"/>
            <a:ext cx="2468880" cy="1188720"/>
          </a:xfrm>
          <a:prstGeom prst="roundRect">
            <a:avLst/>
          </a:prstGeom>
          <a:solidFill>
            <a:srgbClr val="E2EFDA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300" b="1">
                <a:solidFill>
                  <a:srgbClr val="333333"/>
                </a:solidFill>
                <a:latin typeface="Arial"/>
              </a:rPr>
              <a:t>المخزن غير المتصل</a:t>
            </a:r>
          </a:p>
          <a:p>
            <a:pPr algn="ctr" rtl="0"/>
            <a:r>
              <a:rPr sz="1100">
                <a:solidFill>
                  <a:srgbClr val="666666"/>
                </a:solidFill>
                <a:latin typeface="Calibri"/>
              </a:rPr>
              <a:t>Offline Store
تدريب النماذج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0" y="3566160"/>
            <a:ext cx="2468880" cy="1188720"/>
          </a:xfrm>
          <a:prstGeom prst="roundRect">
            <a:avLst/>
          </a:prstGeom>
          <a:solidFill>
            <a:srgbClr val="FDE9D9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300" b="1">
                <a:solidFill>
                  <a:srgbClr val="333333"/>
                </a:solidFill>
                <a:latin typeface="Arial"/>
              </a:rPr>
              <a:t>المخزن المتصل</a:t>
            </a:r>
          </a:p>
          <a:p>
            <a:pPr algn="ctr" rtl="0"/>
            <a:r>
              <a:rPr sz="1100">
                <a:solidFill>
                  <a:srgbClr val="666666"/>
                </a:solidFill>
                <a:latin typeface="Calibri"/>
              </a:rPr>
              <a:t>Online Store
استدلال منخفض زمن الاستجابة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44000" y="1554480"/>
            <a:ext cx="2194560" cy="118872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400" b="1">
                <a:solidFill>
                  <a:srgbClr val="333333"/>
                </a:solidFill>
                <a:latin typeface="Arial"/>
              </a:rPr>
              <a:t>التدريب</a:t>
            </a:r>
          </a:p>
          <a:p>
            <a:pPr algn="ctr" rtl="0"/>
            <a:r>
              <a:rPr sz="1100">
                <a:solidFill>
                  <a:srgbClr val="666666"/>
                </a:solidFill>
                <a:latin typeface="Calibri"/>
              </a:rPr>
              <a:t>Training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44000" y="3566160"/>
            <a:ext cx="2194560" cy="118872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400" b="1">
                <a:solidFill>
                  <a:srgbClr val="333333"/>
                </a:solidFill>
                <a:latin typeface="Arial"/>
              </a:rPr>
              <a:t>الاستدلال</a:t>
            </a:r>
          </a:p>
          <a:p>
            <a:pPr algn="ctr" rtl="0"/>
            <a:r>
              <a:rPr sz="1100">
                <a:solidFill>
                  <a:srgbClr val="666666"/>
                </a:solidFill>
                <a:latin typeface="Calibri"/>
              </a:rPr>
              <a:t>Serving</a:t>
            </a:r>
          </a:p>
        </p:txBody>
      </p:sp>
      <p:sp>
        <p:nvSpPr>
          <p:cNvPr id="12" name="Left Arrow 11"/>
          <p:cNvSpPr/>
          <p:nvPr/>
        </p:nvSpPr>
        <p:spPr>
          <a:xfrm>
            <a:off x="8449056" y="2011680"/>
            <a:ext cx="658368" cy="274320"/>
          </a:xfrm>
          <a:prstGeom prst="left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Left Arrow 12"/>
          <p:cNvSpPr/>
          <p:nvPr/>
        </p:nvSpPr>
        <p:spPr>
          <a:xfrm>
            <a:off x="8449056" y="4023360"/>
            <a:ext cx="658368" cy="274320"/>
          </a:xfrm>
          <a:prstGeom prst="left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6126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400">
                <a:solidFill>
                  <a:srgbClr val="666666"/>
                </a:solidFill>
                <a:latin typeface="Arial"/>
              </a:rPr>
              <a:t>قيمة مخزن الخصائص: نفس تعريف الخصائص للتدريب والاستدلال — لا انحراف.</a:t>
            </a:r>
          </a:p>
          <a:p>
            <a:pPr algn="r" rtl="0"/>
            <a:r>
              <a:t>Core value: one feature definition for training and serving — no skew.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3716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3000" b="1">
                <a:solidFill>
                  <a:srgbClr val="1F3B5C"/>
                </a:solidFill>
                <a:latin typeface="Arial"/>
              </a:rPr>
              <a:t>سير عمل التصنيف بمساعدة LLM / LLM-assisted Labeling Workflow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2103120"/>
            <a:ext cx="1965960" cy="128016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500" b="1">
                <a:solidFill>
                  <a:srgbClr val="333333"/>
                </a:solidFill>
                <a:latin typeface="Arial"/>
              </a:rPr>
              <a:t>بيانات خام</a:t>
            </a:r>
          </a:p>
          <a:p>
            <a:pPr algn="ctr" rtl="0"/>
            <a:r>
              <a:rPr sz="1200">
                <a:solidFill>
                  <a:srgbClr val="666666"/>
                </a:solidFill>
                <a:latin typeface="Calibri"/>
              </a:rPr>
              <a:t>Raw data</a:t>
            </a:r>
          </a:p>
        </p:txBody>
      </p:sp>
      <p:sp>
        <p:nvSpPr>
          <p:cNvPr id="4" name="Left Arrow 3"/>
          <p:cNvSpPr/>
          <p:nvPr/>
        </p:nvSpPr>
        <p:spPr>
          <a:xfrm>
            <a:off x="2624328" y="2606040"/>
            <a:ext cx="274320" cy="274320"/>
          </a:xfrm>
          <a:prstGeom prst="left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2926080" y="2103120"/>
            <a:ext cx="1965960" cy="1280160"/>
          </a:xfrm>
          <a:prstGeom prst="roundRect">
            <a:avLst/>
          </a:prstGeom>
          <a:solidFill>
            <a:srgbClr val="DCE6F1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500" b="1">
                <a:solidFill>
                  <a:srgbClr val="333333"/>
                </a:solidFill>
                <a:latin typeface="Arial"/>
              </a:rPr>
              <a:t>تسمية مبدئية بالـ LLM</a:t>
            </a:r>
          </a:p>
          <a:p>
            <a:pPr algn="ctr" rtl="0"/>
            <a:r>
              <a:rPr sz="1200">
                <a:solidFill>
                  <a:srgbClr val="666666"/>
                </a:solidFill>
                <a:latin typeface="Calibri"/>
              </a:rPr>
              <a:t>LLM pre-labeling</a:t>
            </a:r>
          </a:p>
        </p:txBody>
      </p:sp>
      <p:sp>
        <p:nvSpPr>
          <p:cNvPr id="6" name="Left Arrow 5"/>
          <p:cNvSpPr/>
          <p:nvPr/>
        </p:nvSpPr>
        <p:spPr>
          <a:xfrm>
            <a:off x="4910328" y="2606040"/>
            <a:ext cx="274320" cy="274320"/>
          </a:xfrm>
          <a:prstGeom prst="left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212080" y="2103120"/>
            <a:ext cx="1965960" cy="1280160"/>
          </a:xfrm>
          <a:prstGeom prst="roundRect">
            <a:avLst/>
          </a:prstGeom>
          <a:solidFill>
            <a:srgbClr val="E2EFDA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500" b="1">
                <a:solidFill>
                  <a:srgbClr val="333333"/>
                </a:solidFill>
                <a:latin typeface="Arial"/>
              </a:rPr>
              <a:t>مراجعة وتصحيح بشري</a:t>
            </a:r>
          </a:p>
          <a:p>
            <a:pPr algn="ctr" rtl="0"/>
            <a:r>
              <a:rPr sz="1200">
                <a:solidFill>
                  <a:srgbClr val="666666"/>
                </a:solidFill>
                <a:latin typeface="Calibri"/>
              </a:rPr>
              <a:t>Human review (HITL)</a:t>
            </a:r>
          </a:p>
        </p:txBody>
      </p:sp>
      <p:sp>
        <p:nvSpPr>
          <p:cNvPr id="8" name="Left Arrow 7"/>
          <p:cNvSpPr/>
          <p:nvPr/>
        </p:nvSpPr>
        <p:spPr>
          <a:xfrm>
            <a:off x="7196328" y="2606040"/>
            <a:ext cx="274320" cy="274320"/>
          </a:xfrm>
          <a:prstGeom prst="left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498080" y="2103120"/>
            <a:ext cx="1965960" cy="1280160"/>
          </a:xfrm>
          <a:prstGeom prst="roundRect">
            <a:avLst/>
          </a:prstGeom>
          <a:solidFill>
            <a:srgbClr val="FDE9D9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500" b="1">
                <a:solidFill>
                  <a:srgbClr val="333333"/>
                </a:solidFill>
                <a:latin typeface="Arial"/>
              </a:rPr>
              <a:t>تسميات معتمدة</a:t>
            </a:r>
          </a:p>
          <a:p>
            <a:pPr algn="ctr" rtl="0"/>
            <a:r>
              <a:rPr sz="1200">
                <a:solidFill>
                  <a:srgbClr val="666666"/>
                </a:solidFill>
                <a:latin typeface="Calibri"/>
              </a:rPr>
              <a:t>Approved labels</a:t>
            </a:r>
          </a:p>
        </p:txBody>
      </p:sp>
      <p:sp>
        <p:nvSpPr>
          <p:cNvPr id="10" name="Left Arrow 9"/>
          <p:cNvSpPr/>
          <p:nvPr/>
        </p:nvSpPr>
        <p:spPr>
          <a:xfrm>
            <a:off x="9482328" y="2606040"/>
            <a:ext cx="274320" cy="274320"/>
          </a:xfrm>
          <a:prstGeom prst="left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9784080" y="2103120"/>
            <a:ext cx="1965960" cy="128016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500" b="1">
                <a:solidFill>
                  <a:srgbClr val="333333"/>
                </a:solidFill>
                <a:latin typeface="Arial"/>
              </a:rPr>
              <a:t>تدريب النموذج</a:t>
            </a:r>
          </a:p>
          <a:p>
            <a:pPr algn="ctr" rtl="0"/>
            <a:r>
              <a:rPr sz="1200">
                <a:solidFill>
                  <a:srgbClr val="666666"/>
                </a:solidFill>
                <a:latin typeface="Calibri"/>
              </a:rPr>
              <a:t>Model training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43200" y="4023360"/>
            <a:ext cx="6766560" cy="73152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300" b="1">
                <a:solidFill>
                  <a:srgbClr val="333333"/>
                </a:solidFill>
                <a:latin typeface="Arial"/>
              </a:rPr>
              <a:t>حلقة تغذية راجعة: تصحيحات البشر تُحسِّن موجِّهات الـ LLM</a:t>
            </a:r>
          </a:p>
          <a:p>
            <a:pPr algn="ctr" rtl="0"/>
            <a:r>
              <a:rPr sz="1100">
                <a:solidFill>
                  <a:srgbClr val="666666"/>
                </a:solidFill>
                <a:latin typeface="Calibri"/>
              </a:rPr>
              <a:t>Feedback loop: human corrections improve LLM prompts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126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400">
                <a:solidFill>
                  <a:srgbClr val="666666"/>
                </a:solidFill>
                <a:latin typeface="Arial"/>
              </a:rPr>
              <a:t>الـ LLM يسرّع التسمية والبشر يضمنون الجودة — أفضل الممارسات الحديثة.</a:t>
            </a:r>
          </a:p>
          <a:p>
            <a:pPr algn="r" rtl="0"/>
            <a:r>
              <a:t>LLM accelerates labeling; humans guarantee quality — modern best practice.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