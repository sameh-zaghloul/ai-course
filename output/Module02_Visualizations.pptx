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خريطة المسار / Track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البيانات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174650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83664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التخزين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Storage</a:t>
            </a:r>
          </a:p>
        </p:txBody>
      </p:sp>
      <p:sp>
        <p:nvSpPr>
          <p:cNvPr id="6" name="Left Arrow 5"/>
          <p:cNvSpPr/>
          <p:nvPr/>
        </p:nvSpPr>
        <p:spPr>
          <a:xfrm>
            <a:off x="312724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64408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الخصائص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8" name="Left Arrow 7"/>
          <p:cNvSpPr/>
          <p:nvPr/>
        </p:nvSpPr>
        <p:spPr>
          <a:xfrm>
            <a:off x="4507992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5152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الفهارس المتجهية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Vector Indexes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5888736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25896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التصنيف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Labeling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7269480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الحوكمة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865022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87384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MLOps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1003096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168128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المختبر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رحلة الوحدة الثانية من البيانات الخام إلى نقطة نهاية RAG.</a:t>
            </a:r>
          </a:p>
          <a:p>
            <a:pPr algn="r" rtl="0"/>
            <a:r>
              <a:t>Module 02 journey: from raw data to a RAG endpoint.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المتدرِّجة Medallion / Medallion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188720"/>
            <a:ext cx="7589520" cy="12344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Bronze — بيانات خام غير قابلة للتغيير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Raw immutable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697480"/>
            <a:ext cx="7589520" cy="12344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Silver — بيانات منقَّاة ومنظَّمة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Cleansed &amp; structured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206240"/>
            <a:ext cx="7589520" cy="12344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Gold — تجميعات جاهزة للتحليل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Analytics-ready aggregates</a:t>
            </a:r>
          </a:p>
        </p:txBody>
      </p:sp>
      <p:sp>
        <p:nvSpPr>
          <p:cNvPr id="6" name="Left Arrow 5"/>
          <p:cNvSpPr/>
          <p:nvPr/>
        </p:nvSpPr>
        <p:spPr>
          <a:xfrm>
            <a:off x="5897880" y="245059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897880" y="395935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الحوكمة عبر تحسين الجودة بين الطبقات — إدارة مركزية.</a:t>
            </a:r>
          </a:p>
          <a:p>
            <a:pPr algn="r" rtl="0"/>
            <a:r>
              <a:t>Governance via quality improvement between layers — central ownership.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أنماط معالجة البيانات الثلاثة / Three Data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56616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Medallion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فريق مركزي — تحليلات وAI/ML/RAG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1371600"/>
            <a:ext cx="356616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19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BI — تقارير وذكاء أعمال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8" y="1371600"/>
            <a:ext cx="356616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شبكة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8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المجالات — مؤسسات كبيرة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المعايير: الفكرة الجوهرية / المالك / الحوكمة / حالة الاستخدام المثلى.</a:t>
            </a:r>
          </a:p>
          <a:p>
            <a:pPr algn="r" rtl="0"/>
            <a:r>
              <a:t>Criteria: core idea / ownership / governance / best use case.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منتج البيانات وعقد البيانات / Data Product &amp; Contract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4206240" cy="3108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منتج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Product — موثوق • موثّق • قابل للاكتشاف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1645920"/>
            <a:ext cx="42062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عقد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743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المخطط / Schema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668904631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الأمان /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337806519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مستوى الخدمة / SLA</a:t>
            </a:r>
          </a:p>
        </p:txBody>
      </p:sp>
      <p:sp>
        <p:nvSpPr>
          <p:cNvPr id="8" name="Left Arrow 7"/>
          <p:cNvSpPr/>
          <p:nvPr/>
        </p:nvSpPr>
        <p:spPr>
          <a:xfrm>
            <a:off x="5257800" y="3017520"/>
            <a:ext cx="1737360" cy="36576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وحدة التسليم الحديثة في هندسة البيانات.</a:t>
            </a:r>
          </a:p>
          <a:p>
            <a:pPr algn="r" rtl="0"/>
            <a:r>
              <a:t>The modern delivery unit in data engineering.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خط أنابيب RAG /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1) الفهرسة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Indexing</a:t>
            </a:r>
          </a:p>
        </p:txBody>
      </p:sp>
      <p:sp>
        <p:nvSpPr>
          <p:cNvPr id="4" name="Left Arrow 3"/>
          <p:cNvSpPr/>
          <p:nvPr/>
        </p:nvSpPr>
        <p:spPr>
          <a:xfrm>
            <a:off x="2532888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2) 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Retrieval</a:t>
            </a:r>
          </a:p>
        </p:txBody>
      </p:sp>
      <p:sp>
        <p:nvSpPr>
          <p:cNvPr id="6" name="Left Arrow 5"/>
          <p:cNvSpPr/>
          <p:nvPr/>
        </p:nvSpPr>
        <p:spPr>
          <a:xfrm>
            <a:off x="4754880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3) التوليد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76872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4) التقييم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Evaluation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198864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5) التحسين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تخزين مؤقت + توجيه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من الفهرسة إلى التقييم — المسار التطبيقي في مختبر L03.</a:t>
            </a:r>
          </a:p>
          <a:p>
            <a:pPr algn="r" rtl="0"/>
            <a:r>
              <a:t>From indexing to evaluation — applied in lab L03.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استراتيجيات تقسيم النصوص / Chunking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ثابت الحجم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دلالي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تكراري 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بحسب البنية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بالنموذج اللغوي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★ التقسيم التكراري: فصل بالفقرات ثم تقسيم ما تجاوز الحد الأقصى.</a:t>
            </a:r>
          </a:p>
          <a:p>
            <a:pPr algn="r" rtl="0"/>
            <a:r>
              <a:t>★ Recursive: split by paragraphs, then oversized chunks.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مثلث تقييم RAG / RAG Evaluation Triad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يُقاس بإطار RAGAS — الوفاء يمنع الهلوسة والملاءمة تجعل الإجابة نافعة.</a:t>
            </a:r>
          </a:p>
          <a:p>
            <a:pPr algn="r" rtl="0"/>
            <a:r>
              <a:t>Measured with RAGAS — faithfulness prevents hallucination; relevancy keeps answers useful.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المرجعية للذكاء التوليدي / GenAI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ب. الأتمتة والامتثال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B. Automation &amp; Compliance — CI/CD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النمط المرجعي المؤسسي (McKinsey) — نافذة موحدة فوق خدمات مشتركة محكومة.</a:t>
            </a:r>
          </a:p>
          <a:p>
            <a:pPr algn="r" rtl="0"/>
            <a:r>
              <a:t>Enterprise reference pattern (McKinsey) — a unified pane over governed shared services.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التكلفة عمليًا: التضمين مقابل التوليد / Cost: Embedding vs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قاعدة FinOps: قِس التكلفة لكل طلب قبل التوسع.</a:t>
            </a:r>
          </a:p>
          <a:p>
            <a:pPr algn="r" rtl="0"/>
            <a:r>
              <a:t>FinOps rule: measure per-request cost before scaling.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 LLM إلى الأنظمة الوكيلة / From LLM to Agentic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Predicts next tokens</a:t>
            </a:r>
          </a:p>
        </p:txBody>
      </p:sp>
      <p:sp>
        <p:nvSpPr>
          <p:cNvPr id="5" name="Left Arrow 4"/>
          <p:cNvSpPr/>
          <p:nvPr/>
        </p:nvSpPr>
        <p:spPr>
          <a:xfrm>
            <a:off x="307238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Generates new content</a:t>
            </a:r>
          </a:p>
        </p:txBody>
      </p:sp>
      <p:sp>
        <p:nvSpPr>
          <p:cNvPr id="8" name="Left Arrow 7"/>
          <p:cNvSpPr/>
          <p:nvPr/>
        </p:nvSpPr>
        <p:spPr>
          <a:xfrm>
            <a:off x="590702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Intent + tool calls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874166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Agentic RAG = بحث متجهي + جلب عبر الواجهات بذاكرة متجددة وتحقق قبل التسليم.</a:t>
            </a:r>
          </a:p>
          <a:p>
            <a:pPr algn="r" rtl="0"/>
            <a:r>
              <a:t>Agentic RAG = vector search + API fetching with refreshed memory and verification.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معمارية مخزن الخصائص / Feature Store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مصادر البيانات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Data Sources</a:t>
            </a:r>
          </a:p>
        </p:txBody>
      </p:sp>
      <p:sp>
        <p:nvSpPr>
          <p:cNvPr id="4" name="Left Arrow 3"/>
          <p:cNvSpPr/>
          <p:nvPr/>
        </p:nvSpPr>
        <p:spPr>
          <a:xfrm>
            <a:off x="2724912" y="30175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خط الخصائص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Feature Pipeline
هندسة + تحويل</a:t>
            </a:r>
          </a:p>
        </p:txBody>
      </p:sp>
      <p:sp>
        <p:nvSpPr>
          <p:cNvPr id="6" name="Left Arrow 5"/>
          <p:cNvSpPr/>
          <p:nvPr/>
        </p:nvSpPr>
        <p:spPr>
          <a:xfrm>
            <a:off x="5468112" y="23317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468112" y="361188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المخزن غير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المخزن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الاستدلال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Serving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8449056" y="201168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8449056" y="402336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قيمة مخزن الخصائص: نفس تعريف الخصائص للتدريب والاستدلال — لا انحراف.</a:t>
            </a:r>
          </a:p>
          <a:p>
            <a:pPr algn="r" rtl="0"/>
            <a:r>
              <a:t>Core value: one feature definition for training and serving — no skew.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سير عمل التصنيف بمساعدة LLM / LLM-assisted Labeling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بيانات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Raw 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2624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10312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تسمية مبدئية بالـ LLM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pre-labeling</a:t>
            </a:r>
          </a:p>
        </p:txBody>
      </p:sp>
      <p:sp>
        <p:nvSpPr>
          <p:cNvPr id="6" name="Left Arrow 5"/>
          <p:cNvSpPr/>
          <p:nvPr/>
        </p:nvSpPr>
        <p:spPr>
          <a:xfrm>
            <a:off x="4910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210312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مراجعة وتصحيح بشري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Human review (HITL)</a:t>
            </a:r>
          </a:p>
        </p:txBody>
      </p:sp>
      <p:sp>
        <p:nvSpPr>
          <p:cNvPr id="8" name="Left Arrow 7"/>
          <p:cNvSpPr/>
          <p:nvPr/>
        </p:nvSpPr>
        <p:spPr>
          <a:xfrm>
            <a:off x="7196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0" y="210312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معتمدة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Approved labels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482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تدريب النموذج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Model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023360"/>
            <a:ext cx="67665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حلقة تغذية راجعة: تصحيحات البشر تُحسِّن موجِّهات الـ LLM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Feedback loop: human corrections improve LLM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الـ LLM يسرّع التسمية والبشر يضمنون الجودة — أفضل الممارسات الحديثة.</a:t>
            </a:r>
          </a:p>
          <a:p>
            <a:pPr algn="r" rtl="0"/>
            <a:r>
              <a:t>LLM accelerates labeling; humans guarantee quality — modern best practice.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نمط الإجابة المؤرَّضة / Grounded Answer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274320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سؤال المتعلِّم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Learner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97480"/>
            <a:ext cx="274320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ما الاستراتيجية الافتراضية للتقسيم؟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Which chunking default should I use?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520440" y="3063240"/>
            <a:ext cx="59436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1280160"/>
            <a:ext cx="3063240" cy="10058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أدلة مسترجعة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Retrieved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514600"/>
            <a:ext cx="3063240" cy="65836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[1] الفقرات ← الجمل ← التقسيم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[1] paragraphs → sentences → split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310128"/>
            <a:ext cx="3063240" cy="65836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[2] التكراري هو الخيار الموصى به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[2] recursive is the recommended default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452360" y="3063240"/>
            <a:ext cx="59436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83879" y="1417320"/>
            <a:ext cx="3337560" cy="10972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إجابة موثقة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Grounded answer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2697480"/>
            <a:ext cx="333756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ابدأ بالتقسيم التكراري [1][2]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Start with recursive chunking [1][2]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4892040"/>
            <a:ext cx="7818120" cy="6858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لا دليل مسترجع؟ قل: لا أعرف / No retrieved evidence? Say: I don't know.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القاعدة: لا تتجاوز الأدلة، واربط كل ادعاء بمصدر.</a:t>
            </a:r>
          </a:p>
          <a:p>
            <a:pPr algn="r" rtl="0"/>
            <a:r>
              <a:t>Rule: do not go beyond the evidence; connect every claim to a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