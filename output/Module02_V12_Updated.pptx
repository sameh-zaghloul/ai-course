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7" r:id="rId18"/>
    <p:sldId id="265" r:id="rId16"/>
    <p:sldId id="259" r:id="rId10"/>
    <p:sldId id="266" r:id="rId17"/>
    <p:sldId id="260" r:id="rId11"/>
    <p:sldId id="264" r:id="rId15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7.xml"/><Relationship Id="rId16" Type="http://schemas.openxmlformats.org/officeDocument/2006/relationships/slide" Target="slides/slide4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1F4E79"/>
                </a:solidFill>
                <a:latin typeface="Calibri"/>
              </a:rPr>
              <a:t>V12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800" b="1">
                <a:solidFill>
                  <a:srgbClr val="1F3B5C"/>
                </a:solidFill>
                <a:latin typeface="Calibri"/>
              </a:rPr>
              <a:t>أساسيات MLOps + تمهيد للمختبر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3400" b="0">
                <a:solidFill>
                  <a:srgbClr val="333333"/>
                </a:solidFill>
                <a:latin typeface="Calibri"/>
              </a:rPr>
              <a:t>MLOps Fundamentals + Lab Prelude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Calibri"/>
              </a:rPr>
              <a:t>Module 02 — Data &amp; AI Engineering Track  |  الوحدة الثانية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MLOps والأدوات / MLOps &amp;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MLflow لتتبع التجارب والنماذج، Kubeflow لأتمتة الخطوط، DVC لإصدارات البيانات.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MLflow for tracking, Kubeflow for pipeline automation, DVC for data versioning.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تمييز المفاهيم / Concept Distinctions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LLM: يرمّز النص ويتنبأ بالرموز التالية. الذكاء التوليدي: يولّد محتوى جديدًا (نص/صورة/صوت).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LLM: predicts next tokens. Generative AI: generates new content (text/image/audio).</a:t>
            </a:r>
          </a:p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الوكلاء: يكشفون النية ويستدعون الأدوات. الأنظمة الوكيلة: تخطيط ذاتي وتنفيذ متعدد الخطوات مع تقييم للنتائج.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Agents: detect intent and call tools. Agentic AI: self-directed multi-step planning with outcome evaluation.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من LLM إلى الأنظمة الوكيلة / From LLM to Agentic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2377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LLM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تنبؤ بالرموز التالية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Predicts next tokens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72384" y="1965960"/>
            <a:ext cx="34747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37744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الذكاء التوليدي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يولّد محتوى جديدًا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Generates new content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07024" y="1965960"/>
            <a:ext cx="34747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237744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الوكلاء 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نية + استدعاء أدوات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Intent + tool calls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741664" y="1965960"/>
            <a:ext cx="34747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0" y="1645920"/>
            <a:ext cx="23774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الأنظمة الوكيلة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تخطيط وتنفيذ متعدد الخطوات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Multi-step 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Agentic RAG = بحث متجهي + جلب عبر الواجهات بذاكرة متجددة وتحقق قبل التسليم.</a:t>
            </a:r>
          </a:p>
          <a:p>
            <a:pPr algn="r" rtl="0"/>
            <a:r>
              <a:t>Agentic RAG = vector search + API fetching with refreshed memory and verification.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RAG الوكيلي / Agentic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يجمع البحث المتجهي وجلب البيانات عبر الواجهات في عملية متعددة الخطوات، بذاكرة محدَّثة وتحقق من النتائج قبل التسليم.</a:t>
            </a:r>
          </a:p>
          <a:p>
            <a:pPr algn="r" rtl="0">
              <a:spcAft>
                <a:spcPts val="1000"/>
              </a:spcAft>
            </a:pPr>
            <a:r>
              <a:rPr sz="1800">
                <a:solidFill>
                  <a:srgbClr val="666666"/>
                </a:solidFill>
                <a:latin typeface="Calibri"/>
              </a:rPr>
              <a:t>   Combines vector search and API fetching in multi-step flows, with refreshed memory and verification before delivery.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التكلفة والأداء عمليًا / Practical Cost &amp;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التضمين (Embedding) أقل تكلفة بمرتبة كاملة من التوليد (Generation) — الاسترجاع أرخص من التوليد.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Embedding costs an order of magnitude less than generation — retrieval is cheaper than generation.</a:t>
            </a:r>
          </a:p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التخزين الدلالي المؤقت يخفض الكمون والتكلفة؛ توجيه الطلبات يرسل المهام البسيطة لنماذج أصغر أرخص.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Semantic caching cuts latency and cost; routing sends easy tasks to smaller, cheaper models.</a:t>
            </a:r>
          </a:p>
          <a:p>
            <a:pPr algn="r" rtl="1"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قاعدة FinOps: قِس التكلفة لكل طلب (per-request) قبل التوسع.</a:t>
            </a:r>
          </a:p>
          <a:p>
            <a:pPr algn="r" rtl="0">
              <a:spcAft>
                <a:spcPts val="1000"/>
              </a:spcAft>
            </a:pPr>
            <a:r>
              <a:rPr sz="1900">
                <a:solidFill>
                  <a:srgbClr val="666666"/>
                </a:solidFill>
                <a:latin typeface="Calibri"/>
              </a:rPr>
              <a:t>   FinOps rule: measure per-request cost before scaling.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التكلفة عمليًا: التضمين مقابل التوليد / Cost: Embedding vs Generation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3840480"/>
            <a:ext cx="2194560" cy="14630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التضمين 1x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Embedding — cheap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554480"/>
            <a:ext cx="2194560" cy="3749039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التوليد ~10x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Generation — costly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3108960"/>
            <a:ext cx="2651760" cy="2194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الحل: تخزين مؤقت + توجيه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Fix: caching +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قاعدة FinOps: قِس التكلفة لكل طلب قبل التوسع.</a:t>
            </a:r>
          </a:p>
          <a:p>
            <a:pPr algn="r" rtl="0"/>
            <a:r>
              <a:t>FinOps rule: measure per-request cost before scaling.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تمهيد للمختبر L03 / Lab Prelude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المختبر: خط محلي خفيف — Python venv + SQLite مدمجة (Bronze/Silver) + ChromaDB (Gold) — دون Docker، بنقطة نهاية FastAPI على المسار /query.</a:t>
            </a:r>
          </a:p>
          <a:p>
            <a:pPr algn="r" rtl="0">
              <a:spcAft>
                <a:spcPts val="1000"/>
              </a:spcAft>
            </a:pPr>
            <a:r>
              <a:rPr sz="1800">
                <a:solidFill>
                  <a:srgbClr val="666666"/>
                </a:solidFill>
                <a:latin typeface="Calibri"/>
              </a:rPr>
              <a:t>   The lab: lightweight local pipeline — Python venv + built-in SQLite (Bronze/Silver) + ChromaDB (Gold) — no Docker, ending in a FastAPI /query endpoint.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1. فرّق بين AI Agent وAgentic AI.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Differentiate an AI agent from agentic AI.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2. ما أرخص: تضمين أم توليد؟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Which is cheaper: embedding or generation?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3. ما أدوات تتبع التجارب وإصدارات البيانات؟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Which tools track experiments and version data?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Calibri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توثيق MLflow وDVC.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MLflow and DVC docs.</a:t>
            </a:r>
          </a:p>
          <a:p>
            <a:pPr algn="r" rtl="1"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دليل تجهيز البيئة للمختبر L03.</a:t>
            </a:r>
          </a:p>
          <a:p>
            <a:pPr algn="r" rtl="0">
              <a:spcAft>
                <a:spcPts val="1000"/>
              </a:spcAft>
            </a:pPr>
            <a:r>
              <a:rPr sz="2000">
                <a:solidFill>
                  <a:srgbClr val="666666"/>
                </a:solidFill>
                <a:latin typeface="Calibri"/>
              </a:rPr>
              <a:t>   L03 Environment Setup Guide.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التكلفة عمليًا: التضمين مقابل التوليد / Cost: Embedding vs Generation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3840480"/>
            <a:ext cx="2194560" cy="14630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التضمين 1x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Embedding — cheap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554480"/>
            <a:ext cx="2194560" cy="3749039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التوليد ~10x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Generation — costly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3108960"/>
            <a:ext cx="2651760" cy="2194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Calibri"/>
              </a:rPr>
              <a:t>الحل: تخزين مؤقت + توجيه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Fix: caching +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قاعدة FinOps: قِس التكلفة لكل طلب قبل التوسع.</a:t>
            </a:r>
          </a:p>
          <a:p>
            <a:pPr algn="r" rtl="0"/>
            <a:r>
              <a:t>FinOps rule: measure per-request cost before scaling.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Calibri"/>
              </a:rPr>
              <a:t>من LLM إلى الأنظمة الوكيلة / From LLM to Agentic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2377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LLM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تنبؤ بالرموز التالية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Predicts next tokens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72384" y="1965960"/>
            <a:ext cx="34747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37744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الذكاء التوليدي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يولّد محتوى جديدًا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Generates new content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07024" y="1965960"/>
            <a:ext cx="34747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237744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الوكلاء 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نية + استدعاء أدوات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Intent + tool calls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741664" y="1965960"/>
            <a:ext cx="34747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0" y="1645920"/>
            <a:ext cx="23774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Calibri"/>
              </a:rPr>
              <a:t>الأنظمة الوكيلة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Calibri"/>
              </a:rPr>
              <a:t>تخطيط وتنفيذ متعدد الخطوات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Multi-step 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Calibri"/>
              </a:rPr>
              <a:t>Agentic RAG = بحث متجهي + جلب عبر الواجهات بذاكرة متجددة وتحقق قبل التسليم.</a:t>
            </a:r>
          </a:p>
          <a:p>
            <a:pPr algn="r" rtl="0"/>
            <a:r>
              <a:t>Agentic RAG = vector search + API fetching with refreshed memory and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