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64" r:id="rId15"/>
    <p:sldId id="259" r:id="rId10"/>
    <p:sldId id="260" r:id="rId11"/>
    <p:sldId id="265" r:id="rId16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1097280"/>
            <a:ext cx="10515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rtl="0"/>
            <a:r>
              <a:rPr sz="2800" b="1">
                <a:solidFill>
                  <a:srgbClr val="1F4E79"/>
                </a:solidFill>
                <a:latin typeface="Calibri"/>
              </a:rPr>
              <a:t>Module 02  |  V11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920240"/>
            <a:ext cx="10515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4400" b="1">
                <a:solidFill>
                  <a:srgbClr val="1F3B5C"/>
                </a:solidFill>
                <a:latin typeface="Arial"/>
              </a:rPr>
              <a:t>حوكمة البيانات وسلسلة العهدة والفهرسة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3200400"/>
            <a:ext cx="10515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rtl="0"/>
            <a:r>
              <a:rPr sz="3000" b="0">
                <a:solidFill>
                  <a:srgbClr val="333333"/>
                </a:solidFill>
                <a:latin typeface="Calibri"/>
              </a:rPr>
              <a:t>Data Governance, Lineage &amp; Cataloging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548640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rtl="0"/>
            <a:r>
              <a:rPr sz="1400" b="0">
                <a:solidFill>
                  <a:srgbClr val="666666"/>
                </a:solidFill>
                <a:latin typeface="Calibri"/>
              </a:rPr>
              <a:t>Light theme  |  Bilingual AR/EN  |  Ready to present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400800"/>
            <a:ext cx="8686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000" b="0">
                <a:solidFill>
                  <a:srgbClr val="666666"/>
                </a:solidFill>
                <a:latin typeface="Arial"/>
              </a:rPr>
              <a:t>Module 02 — Data &amp; AI Engineering Track  |  الوحدة الثانية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0" y="6400800"/>
            <a:ext cx="1920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rtl="0"/>
            <a:r>
              <a:rPr sz="1000" b="0">
                <a:solidFill>
                  <a:srgbClr val="666666"/>
                </a:solidFill>
                <a:latin typeface="Calibri"/>
              </a:rPr>
              <a:t>V11  •  1/10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FFFFFF"/>
          </a:solidFill>
          <a:ln w="254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18288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3200" b="1">
                <a:solidFill>
                  <a:srgbClr val="1F3B5C"/>
                </a:solidFill>
                <a:latin typeface="Arial"/>
              </a:rPr>
              <a:t>أجندة العرض / Agenda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280160"/>
            <a:ext cx="10972800" cy="5212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>
              <a:spcBef>
                <a:spcPts val="200"/>
              </a:spcBef>
              <a:spcAft>
                <a:spcPts val="1000"/>
              </a:spcAft>
            </a:pPr>
            <a:r>
              <a:rPr sz="1600">
                <a:solidFill>
                  <a:srgbClr val="333333"/>
                </a:solidFill>
                <a:latin typeface="Arial"/>
              </a:rPr>
              <a:t>• V11 — حوكمة البيانات وسلسلة العهدة والفهرسة</a:t>
            </a:r>
          </a:p>
          <a:p>
            <a:pPr algn="l" rtl="0">
              <a:spcBef>
                <a:spcPts val="200"/>
              </a:spcBef>
              <a:spcAft>
                <a:spcPts val="1000"/>
              </a:spcAft>
            </a:pPr>
            <a:r>
              <a:rPr sz="1300">
                <a:solidFill>
                  <a:srgbClr val="666666"/>
                </a:solidFill>
                <a:latin typeface="Calibri"/>
              </a:rPr>
              <a:t>• V11 — Data Governance, Lineage &amp; Cataloging</a:t>
            </a:r>
          </a:p>
          <a:p>
            <a:pPr algn="r" rtl="1">
              <a:spcBef>
                <a:spcPts val="200"/>
              </a:spcBef>
              <a:spcAft>
                <a:spcPts val="1000"/>
              </a:spcAft>
            </a:pPr>
            <a:r>
              <a:rPr sz="1600">
                <a:solidFill>
                  <a:srgbClr val="333333"/>
                </a:solidFill>
                <a:latin typeface="Arial"/>
              </a:rPr>
              <a:t>• الحوكمة والفهرسة / Governance &amp; Cataloging</a:t>
            </a:r>
          </a:p>
          <a:p>
            <a:pPr algn="r" rtl="1">
              <a:spcBef>
                <a:spcPts val="200"/>
              </a:spcBef>
              <a:spcAft>
                <a:spcPts val="1000"/>
              </a:spcAft>
            </a:pPr>
            <a:r>
              <a:rPr sz="1600">
                <a:solidFill>
                  <a:srgbClr val="333333"/>
                </a:solidFill>
                <a:latin typeface="Arial"/>
              </a:rPr>
              <a:t>• المعمارية المرجعية للذكاء التوليدي (1/2) / GenAI Reference Architecture (1/2)</a:t>
            </a:r>
          </a:p>
          <a:p>
            <a:pPr algn="r" rtl="1">
              <a:spcBef>
                <a:spcPts val="200"/>
              </a:spcBef>
              <a:spcAft>
                <a:spcPts val="1000"/>
              </a:spcAft>
            </a:pPr>
            <a:r>
              <a:rPr sz="1600">
                <a:solidFill>
                  <a:srgbClr val="333333"/>
                </a:solidFill>
                <a:latin typeface="Arial"/>
              </a:rPr>
              <a:t>• المعمارية المرجعية للذكاء التوليدي (2/2) / GenAI Reference Architecture (2/2)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400800"/>
            <a:ext cx="8686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000" b="0">
                <a:solidFill>
                  <a:srgbClr val="666666"/>
                </a:solidFill>
                <a:latin typeface="Arial"/>
              </a:rPr>
              <a:t>Module 02 — Data &amp; AI Engineering Track  |  الوحدة الثانية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601200" y="6400800"/>
            <a:ext cx="1920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rtl="0"/>
            <a:r>
              <a:rPr sz="1000" b="0">
                <a:solidFill>
                  <a:srgbClr val="666666"/>
                </a:solidFill>
                <a:latin typeface="Calibri"/>
              </a:rPr>
              <a:t>V11  •  2/10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FFFFFF"/>
          </a:solidFill>
          <a:ln w="254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18288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3200" b="1">
                <a:solidFill>
                  <a:srgbClr val="1F3B5C"/>
                </a:solidFill>
                <a:latin typeface="Arial"/>
              </a:rPr>
              <a:t>الحوكمة والفهرسة / Governance &amp; Cataloging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280160"/>
            <a:ext cx="10972800" cy="5212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>
              <a:spcBef>
                <a:spcPts val="200"/>
              </a:spcBef>
              <a:spcAft>
                <a:spcPts val="1000"/>
              </a:spcAft>
            </a:pPr>
            <a:r>
              <a:rPr sz="1900">
                <a:solidFill>
                  <a:srgbClr val="333333"/>
                </a:solidFill>
                <a:latin typeface="Arial"/>
              </a:rPr>
              <a:t>• سلسلة العهدة (Lineage) تتبع أصل البيانات وتحولاتها؛ الفهرسة تجعلها قابلة للاكتشاف.</a:t>
            </a:r>
          </a:p>
          <a:p>
            <a:pPr algn="l" rtl="0">
              <a:spcBef>
                <a:spcPts val="200"/>
              </a:spcBef>
              <a:spcAft>
                <a:spcPts val="1000"/>
              </a:spcAft>
            </a:pPr>
            <a:r>
              <a:rPr sz="1600">
                <a:solidFill>
                  <a:srgbClr val="666666"/>
                </a:solidFill>
                <a:latin typeface="Calibri"/>
              </a:rPr>
              <a:t>• Lineage traces data origin and transformations; cataloging makes it discoverable.</a:t>
            </a:r>
          </a:p>
          <a:p>
            <a:pPr algn="r" rtl="1">
              <a:spcBef>
                <a:spcPts val="200"/>
              </a:spcBef>
              <a:spcAft>
                <a:spcPts val="1000"/>
              </a:spcAft>
            </a:pPr>
            <a:r>
              <a:rPr sz="1900">
                <a:solidFill>
                  <a:srgbClr val="333333"/>
                </a:solidFill>
                <a:latin typeface="Arial"/>
              </a:rPr>
              <a:t>• أدوات: Apache Atlas، Collibra، DataHub.</a:t>
            </a:r>
          </a:p>
          <a:p>
            <a:pPr algn="l" rtl="0">
              <a:spcBef>
                <a:spcPts val="200"/>
              </a:spcBef>
              <a:spcAft>
                <a:spcPts val="1000"/>
              </a:spcAft>
            </a:pPr>
            <a:r>
              <a:rPr sz="1600">
                <a:solidFill>
                  <a:srgbClr val="666666"/>
                </a:solidFill>
                <a:latin typeface="Calibri"/>
              </a:rPr>
              <a:t>• Tools: Apache Atlas, Collibra, DataHub.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400800"/>
            <a:ext cx="8686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000" b="0">
                <a:solidFill>
                  <a:srgbClr val="666666"/>
                </a:solidFill>
                <a:latin typeface="Arial"/>
              </a:rPr>
              <a:t>Module 02 — Data &amp; AI Engineering Track  |  الوحدة الثانية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601200" y="6400800"/>
            <a:ext cx="1920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rtl="0"/>
            <a:r>
              <a:rPr sz="1000" b="0">
                <a:solidFill>
                  <a:srgbClr val="666666"/>
                </a:solidFill>
                <a:latin typeface="Calibri"/>
              </a:rPr>
              <a:t>V11  •  3/10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FFFFFF"/>
          </a:solidFill>
          <a:ln w="254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18288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3200" b="1">
                <a:solidFill>
                  <a:srgbClr val="1F3B5C"/>
                </a:solidFill>
                <a:latin typeface="Arial"/>
              </a:rPr>
              <a:t>المعمارية المرجعية للذكاء التوليدي (1/2) / GenAI Reference Architecture (1/2)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280160"/>
            <a:ext cx="10972800" cy="5212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>
              <a:spcBef>
                <a:spcPts val="200"/>
              </a:spcBef>
              <a:spcAft>
                <a:spcPts val="1000"/>
              </a:spcAft>
            </a:pPr>
            <a:r>
              <a:rPr sz="1900">
                <a:solidFill>
                  <a:srgbClr val="333333"/>
                </a:solidFill>
                <a:latin typeface="Arial"/>
              </a:rPr>
              <a:t>• أ. بوابة منصة GenAI: نافذة موحدة بكتالوج حلول ومحفظة POC → MVP → PROD موثقة.</a:t>
            </a:r>
          </a:p>
          <a:p>
            <a:pPr algn="l" rtl="0">
              <a:spcBef>
                <a:spcPts val="200"/>
              </a:spcBef>
              <a:spcAft>
                <a:spcPts val="1000"/>
              </a:spcAft>
            </a:pPr>
            <a:r>
              <a:rPr sz="1600">
                <a:solidFill>
                  <a:srgbClr val="666666"/>
                </a:solidFill>
                <a:latin typeface="Calibri"/>
              </a:rPr>
              <a:t>• A. Portal: unified pane of glass with a solution catalog and documented POC → MVP → PROD portfolio.</a:t>
            </a:r>
          </a:p>
          <a:p>
            <a:pPr algn="r" rtl="1">
              <a:spcBef>
                <a:spcPts val="200"/>
              </a:spcBef>
              <a:spcAft>
                <a:spcPts val="1000"/>
              </a:spcAft>
            </a:pPr>
            <a:r>
              <a:rPr sz="1900">
                <a:solidFill>
                  <a:srgbClr val="333333"/>
                </a:solidFill>
                <a:latin typeface="Arial"/>
              </a:rPr>
              <a:t>• ب. الأتمتة والامتثال: خطوط CI/CD ببوابات تحكم آلية وموافقات مرحلية وفق DevSecOps.</a:t>
            </a:r>
          </a:p>
          <a:p>
            <a:pPr algn="l" rtl="0">
              <a:spcBef>
                <a:spcPts val="200"/>
              </a:spcBef>
              <a:spcAft>
                <a:spcPts val="1000"/>
              </a:spcAft>
            </a:pPr>
            <a:r>
              <a:rPr sz="1600">
                <a:solidFill>
                  <a:srgbClr val="666666"/>
                </a:solidFill>
                <a:latin typeface="Calibri"/>
              </a:rPr>
              <a:t>• B. Automation &amp; compliance: CI/CD with automated control gates and stage-gate approvals (DevSecOps).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400800"/>
            <a:ext cx="8686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000" b="0">
                <a:solidFill>
                  <a:srgbClr val="666666"/>
                </a:solidFill>
                <a:latin typeface="Arial"/>
              </a:rPr>
              <a:t>Module 02 — Data &amp; AI Engineering Track  |  الوحدة الثانية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601200" y="6400800"/>
            <a:ext cx="1920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rtl="0"/>
            <a:r>
              <a:rPr sz="1000" b="0">
                <a:solidFill>
                  <a:srgbClr val="666666"/>
                </a:solidFill>
                <a:latin typeface="Calibri"/>
              </a:rPr>
              <a:t>V11  •  5/10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FFFFFF"/>
          </a:solidFill>
          <a:ln w="254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18288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3200" b="1">
                <a:solidFill>
                  <a:srgbClr val="1F3B5C"/>
                </a:solidFill>
                <a:latin typeface="Arial"/>
              </a:rPr>
              <a:t>المعمارية المرجعية للذكاء التوليدي (2/2) / GenAI Reference Architecture (2/2)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280160"/>
            <a:ext cx="10972800" cy="5212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>
              <a:spcBef>
                <a:spcPts val="200"/>
              </a:spcBef>
              <a:spcAft>
                <a:spcPts val="1000"/>
              </a:spcAft>
            </a:pPr>
            <a:r>
              <a:rPr sz="1800">
                <a:solidFill>
                  <a:srgbClr val="333333"/>
                </a:solidFill>
                <a:latin typeface="Arial"/>
              </a:rPr>
              <a:t>• ج. الخدمات المشتركة: بوابة AI موحدة، مكتبة موجِّهات، خدمة التغذية الراجعة، قاعدة تدقيق LLM، حواجز حماية Guardrails.</a:t>
            </a:r>
          </a:p>
          <a:p>
            <a:pPr algn="l" rtl="0">
              <a:spcBef>
                <a:spcPts val="200"/>
              </a:spcBef>
              <a:spcAft>
                <a:spcPts val="1000"/>
              </a:spcAft>
            </a:pPr>
            <a:r>
              <a:rPr sz="1500">
                <a:solidFill>
                  <a:srgbClr val="666666"/>
                </a:solidFill>
                <a:latin typeface="Calibri"/>
              </a:rPr>
              <a:t>• C. Shared services: unified AI gateway, prompt library, feedback service, LLM audit database, guardrails.</a:t>
            </a:r>
          </a:p>
          <a:p>
            <a:pPr algn="r" rtl="1">
              <a:spcBef>
                <a:spcPts val="200"/>
              </a:spcBef>
              <a:spcAft>
                <a:spcPts val="1000"/>
              </a:spcAft>
            </a:pPr>
            <a:r>
              <a:rPr sz="1800">
                <a:solidFill>
                  <a:srgbClr val="333333"/>
                </a:solidFill>
                <a:latin typeface="Arial"/>
              </a:rPr>
              <a:t>• د. الحوكمة والمراقبة: أمن البيانات، الذكاء المسؤول (تدقيق التحيّز والهلوسة)، وإدارة التكاليف FinOps.</a:t>
            </a:r>
          </a:p>
          <a:p>
            <a:pPr algn="l" rtl="0">
              <a:spcBef>
                <a:spcPts val="200"/>
              </a:spcBef>
              <a:spcAft>
                <a:spcPts val="1000"/>
              </a:spcAft>
            </a:pPr>
            <a:r>
              <a:rPr sz="1500">
                <a:solidFill>
                  <a:srgbClr val="666666"/>
                </a:solidFill>
                <a:latin typeface="Calibri"/>
              </a:rPr>
              <a:t>• D. Governance &amp; monitoring: data security, responsible AI (bias/hallucination audits), FinOps.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400800"/>
            <a:ext cx="8686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000" b="0">
                <a:solidFill>
                  <a:srgbClr val="666666"/>
                </a:solidFill>
                <a:latin typeface="Arial"/>
              </a:rPr>
              <a:t>Module 02 — Data &amp; AI Engineering Track  |  الوحدة الثانية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601200" y="6400800"/>
            <a:ext cx="1920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rtl="0"/>
            <a:r>
              <a:rPr sz="1000" b="0">
                <a:solidFill>
                  <a:srgbClr val="666666"/>
                </a:solidFill>
                <a:latin typeface="Calibri"/>
              </a:rPr>
              <a:t>V11  •  6/10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FFFFFF"/>
          </a:solidFill>
          <a:ln w="254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18288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3200" b="1">
                <a:solidFill>
                  <a:srgbClr val="1F3B5C"/>
                </a:solidFill>
                <a:latin typeface="Arial"/>
              </a:rPr>
              <a:t>اختبار قصير / Quick Quiz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280160"/>
            <a:ext cx="10972800" cy="5212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>
              <a:spcBef>
                <a:spcPts val="200"/>
              </a:spcBef>
              <a:spcAft>
                <a:spcPts val="1000"/>
              </a:spcAft>
            </a:pPr>
            <a:r>
              <a:rPr sz="2000">
                <a:solidFill>
                  <a:srgbClr val="333333"/>
                </a:solidFill>
                <a:latin typeface="Arial"/>
              </a:rPr>
              <a:t>• 1. ما وظيفة بوابة AI الموحدة (AI Gateway)؟</a:t>
            </a:r>
          </a:p>
          <a:p>
            <a:pPr algn="l" rtl="0">
              <a:spcBef>
                <a:spcPts val="200"/>
              </a:spcBef>
              <a:spcAft>
                <a:spcPts val="1000"/>
              </a:spcAft>
            </a:pPr>
            <a:r>
              <a:rPr sz="1700">
                <a:solidFill>
                  <a:srgbClr val="666666"/>
                </a:solidFill>
                <a:latin typeface="Calibri"/>
              </a:rPr>
              <a:t>• What does a unified AI gateway do?</a:t>
            </a:r>
          </a:p>
          <a:p>
            <a:pPr algn="r" rtl="1">
              <a:spcBef>
                <a:spcPts val="200"/>
              </a:spcBef>
              <a:spcAft>
                <a:spcPts val="1000"/>
              </a:spcAft>
            </a:pPr>
            <a:r>
              <a:rPr sz="2000">
                <a:solidFill>
                  <a:srgbClr val="333333"/>
                </a:solidFill>
                <a:latin typeface="Arial"/>
              </a:rPr>
              <a:t>• 2. لماذا نحتاج قاعدة تدقيق لنماذج LLM؟</a:t>
            </a:r>
          </a:p>
          <a:p>
            <a:pPr algn="l" rtl="0">
              <a:spcBef>
                <a:spcPts val="200"/>
              </a:spcBef>
              <a:spcAft>
                <a:spcPts val="1000"/>
              </a:spcAft>
            </a:pPr>
            <a:r>
              <a:rPr sz="1700">
                <a:solidFill>
                  <a:srgbClr val="666666"/>
                </a:solidFill>
                <a:latin typeface="Calibri"/>
              </a:rPr>
              <a:t>• Why keep an LLM audit database?</a:t>
            </a:r>
          </a:p>
          <a:p>
            <a:pPr algn="r" rtl="1">
              <a:spcBef>
                <a:spcPts val="200"/>
              </a:spcBef>
              <a:spcAft>
                <a:spcPts val="1000"/>
              </a:spcAft>
            </a:pPr>
            <a:r>
              <a:rPr sz="2000">
                <a:solidFill>
                  <a:srgbClr val="333333"/>
                </a:solidFill>
                <a:latin typeface="Arial"/>
              </a:rPr>
              <a:t>• 3. ما دور CI/CD في حوكمة GenAI؟</a:t>
            </a:r>
          </a:p>
          <a:p>
            <a:pPr algn="l" rtl="0">
              <a:spcBef>
                <a:spcPts val="200"/>
              </a:spcBef>
              <a:spcAft>
                <a:spcPts val="1000"/>
              </a:spcAft>
            </a:pPr>
            <a:r>
              <a:rPr sz="1700">
                <a:solidFill>
                  <a:srgbClr val="666666"/>
                </a:solidFill>
                <a:latin typeface="Calibri"/>
              </a:rPr>
              <a:t>• What is CI/CD's role in GenAI governance?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400800"/>
            <a:ext cx="8686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000" b="0">
                <a:solidFill>
                  <a:srgbClr val="666666"/>
                </a:solidFill>
                <a:latin typeface="Arial"/>
              </a:rPr>
              <a:t>Module 02 — Data &amp; AI Engineering Track  |  الوحدة الثانية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601200" y="6400800"/>
            <a:ext cx="1920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rtl="0"/>
            <a:r>
              <a:rPr sz="1000" b="0">
                <a:solidFill>
                  <a:srgbClr val="666666"/>
                </a:solidFill>
                <a:latin typeface="Calibri"/>
              </a:rPr>
              <a:t>V11  •  8/10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FFFFFF"/>
          </a:solidFill>
          <a:ln w="254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18288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3200" b="1">
                <a:solidFill>
                  <a:srgbClr val="1F3B5C"/>
                </a:solidFill>
                <a:latin typeface="Arial"/>
              </a:rPr>
              <a:t>إجابات الاختبار / Quiz Answers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280160"/>
            <a:ext cx="10972800" cy="5212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>
              <a:spcBef>
                <a:spcPts val="200"/>
              </a:spcBef>
              <a:spcAft>
                <a:spcPts val="1000"/>
              </a:spcAft>
            </a:pPr>
            <a:r>
              <a:rPr sz="1800">
                <a:solidFill>
                  <a:srgbClr val="333333"/>
                </a:solidFill>
                <a:latin typeface="Arial"/>
              </a:rPr>
              <a:t>• 1. نقطة دخول موحدة تفرض المصادقة والحدود والتسجيل على كل الاستدعاءات.</a:t>
            </a:r>
          </a:p>
          <a:p>
            <a:pPr algn="l" rtl="0">
              <a:spcBef>
                <a:spcPts val="200"/>
              </a:spcBef>
              <a:spcAft>
                <a:spcPts val="1000"/>
              </a:spcAft>
            </a:pPr>
            <a:r>
              <a:rPr sz="1500">
                <a:solidFill>
                  <a:srgbClr val="666666"/>
                </a:solidFill>
                <a:latin typeface="Calibri"/>
              </a:rPr>
              <a:t>• A single entry point enforcing auth, limits, and logging for all calls.</a:t>
            </a:r>
          </a:p>
          <a:p>
            <a:pPr algn="r" rtl="1">
              <a:spcBef>
                <a:spcPts val="200"/>
              </a:spcBef>
              <a:spcAft>
                <a:spcPts val="1000"/>
              </a:spcAft>
            </a:pPr>
            <a:r>
              <a:rPr sz="1800">
                <a:solidFill>
                  <a:srgbClr val="333333"/>
                </a:solidFill>
                <a:latin typeface="Arial"/>
              </a:rPr>
              <a:t>• 2. لتتبع الموجِّهات والإجابات والامتثال والتحقيق في الحوادث.</a:t>
            </a:r>
          </a:p>
          <a:p>
            <a:pPr algn="l" rtl="0">
              <a:spcBef>
                <a:spcPts val="200"/>
              </a:spcBef>
              <a:spcAft>
                <a:spcPts val="1000"/>
              </a:spcAft>
            </a:pPr>
            <a:r>
              <a:rPr sz="1500">
                <a:solidFill>
                  <a:srgbClr val="666666"/>
                </a:solidFill>
                <a:latin typeface="Calibri"/>
              </a:rPr>
              <a:t>• To trace prompts/answers for compliance and investigation.</a:t>
            </a:r>
          </a:p>
          <a:p>
            <a:pPr algn="r" rtl="1">
              <a:spcBef>
                <a:spcPts val="200"/>
              </a:spcBef>
              <a:spcAft>
                <a:spcPts val="1000"/>
              </a:spcAft>
            </a:pPr>
            <a:r>
              <a:rPr sz="1800">
                <a:solidFill>
                  <a:srgbClr val="333333"/>
                </a:solidFill>
                <a:latin typeface="Arial"/>
              </a:rPr>
              <a:t>• 3. بوابات تحكم وموافقات مرحلية آلية قبل الإنتاج.</a:t>
            </a:r>
          </a:p>
          <a:p>
            <a:pPr algn="l" rtl="0">
              <a:spcBef>
                <a:spcPts val="200"/>
              </a:spcBef>
              <a:spcAft>
                <a:spcPts val="1000"/>
              </a:spcAft>
            </a:pPr>
            <a:r>
              <a:rPr sz="1500">
                <a:solidFill>
                  <a:srgbClr val="666666"/>
                </a:solidFill>
                <a:latin typeface="Calibri"/>
              </a:rPr>
              <a:t>• Automated control gates and approvals before production.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400800"/>
            <a:ext cx="8686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000" b="0">
                <a:solidFill>
                  <a:srgbClr val="666666"/>
                </a:solidFill>
                <a:latin typeface="Arial"/>
              </a:rPr>
              <a:t>Module 02 — Data &amp; AI Engineering Track  |  الوحدة الثانية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601200" y="6400800"/>
            <a:ext cx="1920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rtl="0"/>
            <a:r>
              <a:rPr sz="1000" b="0">
                <a:solidFill>
                  <a:srgbClr val="666666"/>
                </a:solidFill>
                <a:latin typeface="Calibri"/>
              </a:rPr>
              <a:t>V11  •  9/10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FFFFFF"/>
          </a:solidFill>
          <a:ln w="254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18288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3200" b="1">
                <a:solidFill>
                  <a:srgbClr val="1F3B5C"/>
                </a:solidFill>
                <a:latin typeface="Arial"/>
              </a:rPr>
              <a:t>للاستزادة / Further Reading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280160"/>
            <a:ext cx="10972800" cy="5212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>
              <a:spcBef>
                <a:spcPts val="200"/>
              </a:spcBef>
              <a:spcAft>
                <a:spcPts val="1000"/>
              </a:spcAft>
            </a:pPr>
            <a:r>
              <a:rPr sz="2000">
                <a:solidFill>
                  <a:srgbClr val="333333"/>
                </a:solidFill>
                <a:latin typeface="Arial"/>
              </a:rPr>
              <a:t>• توثيق DataHub وApache Atlas.</a:t>
            </a:r>
          </a:p>
          <a:p>
            <a:pPr algn="l" rtl="0">
              <a:spcBef>
                <a:spcPts val="200"/>
              </a:spcBef>
              <a:spcAft>
                <a:spcPts val="1000"/>
              </a:spcAft>
            </a:pPr>
            <a:r>
              <a:rPr sz="1700">
                <a:solidFill>
                  <a:srgbClr val="666666"/>
                </a:solidFill>
                <a:latin typeface="Calibri"/>
              </a:rPr>
              <a:t>• DataHub and Apache Atlas docs.</a:t>
            </a:r>
          </a:p>
          <a:p>
            <a:pPr algn="r" rtl="1">
              <a:spcBef>
                <a:spcPts val="200"/>
              </a:spcBef>
              <a:spcAft>
                <a:spcPts val="1000"/>
              </a:spcAft>
            </a:pPr>
            <a:r>
              <a:rPr sz="2000">
                <a:solidFill>
                  <a:srgbClr val="333333"/>
                </a:solidFill>
                <a:latin typeface="Arial"/>
              </a:rPr>
              <a:t>• المعمارية المرجعية للذكاء التوليدي — McKinsey.</a:t>
            </a:r>
          </a:p>
          <a:p>
            <a:pPr algn="l" rtl="0">
              <a:spcBef>
                <a:spcPts val="200"/>
              </a:spcBef>
              <a:spcAft>
                <a:spcPts val="1000"/>
              </a:spcAft>
            </a:pPr>
            <a:r>
              <a:rPr sz="1700">
                <a:solidFill>
                  <a:srgbClr val="666666"/>
                </a:solidFill>
                <a:latin typeface="Calibri"/>
              </a:rPr>
              <a:t>• GenAI reference architecture — McKinsey.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400800"/>
            <a:ext cx="8686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000" b="0">
                <a:solidFill>
                  <a:srgbClr val="666666"/>
                </a:solidFill>
                <a:latin typeface="Arial"/>
              </a:rPr>
              <a:t>Module 02 — Data &amp; AI Engineering Track  |  الوحدة الثانية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601200" y="6400800"/>
            <a:ext cx="1920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rtl="0"/>
            <a:r>
              <a:rPr sz="1000" b="0">
                <a:solidFill>
                  <a:srgbClr val="666666"/>
                </a:solidFill>
                <a:latin typeface="Calibri"/>
              </a:rPr>
              <a:t>V11  •  10/10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137160"/>
            <a:ext cx="109728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 rtl="1"/>
            <a:r>
              <a:rPr sz="3000" b="1">
                <a:solidFill>
                  <a:srgbClr val="1F3B5C"/>
                </a:solidFill>
                <a:latin typeface="Arial"/>
              </a:rPr>
              <a:t>خريطة سلسلة العهدة / Data Lineage Map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94360" y="1874519"/>
            <a:ext cx="2560320" cy="868680"/>
          </a:xfrm>
          <a:prstGeom prst="roundRect">
            <a:avLst/>
          </a:prstGeom>
          <a:solidFill>
            <a:srgbClr val="EDEDED"/>
          </a:solidFill>
          <a:ln w="127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 rtl="1"/>
            <a:r>
              <a:rPr sz="1600" b="1">
                <a:solidFill>
                  <a:srgbClr val="333333"/>
                </a:solidFill>
                <a:latin typeface="Arial"/>
              </a:rPr>
              <a:t>مصدر</a:t>
            </a:r>
          </a:p>
          <a:p>
            <a:pPr algn="ctr" rtl="0"/>
            <a:r>
              <a:rPr sz="1200">
                <a:solidFill>
                  <a:srgbClr val="666666"/>
                </a:solidFill>
                <a:latin typeface="Calibri"/>
              </a:rPr>
              <a:t>Source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94360" y="2926080"/>
            <a:ext cx="2560320" cy="640080"/>
          </a:xfrm>
          <a:prstGeom prst="roundRect">
            <a:avLst/>
          </a:prstGeom>
          <a:solidFill>
            <a:srgbClr val="EDEDED"/>
          </a:solidFill>
          <a:ln w="127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 rtl="1"/>
            <a:r>
              <a:rPr sz="1200" b="1">
                <a:solidFill>
                  <a:srgbClr val="333333"/>
                </a:solidFill>
                <a:latin typeface="Arial"/>
              </a:rPr>
              <a:t>CRM / API</a:t>
            </a:r>
          </a:p>
        </p:txBody>
      </p:sp>
      <p:sp>
        <p:nvSpPr>
          <p:cNvPr id="5" name="Right Arrow 4"/>
          <p:cNvSpPr/>
          <p:nvPr/>
        </p:nvSpPr>
        <p:spPr>
          <a:xfrm>
            <a:off x="3227832" y="2240280"/>
            <a:ext cx="329184" cy="274320"/>
          </a:xfrm>
          <a:prstGeom prst="rightArrow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3474720" y="1874519"/>
            <a:ext cx="2560320" cy="868680"/>
          </a:xfrm>
          <a:prstGeom prst="roundRect">
            <a:avLst/>
          </a:prstGeom>
          <a:solidFill>
            <a:srgbClr val="DCE6F1"/>
          </a:solidFill>
          <a:ln w="127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 rtl="1"/>
            <a:r>
              <a:rPr sz="1600" b="1">
                <a:solidFill>
                  <a:srgbClr val="333333"/>
                </a:solidFill>
                <a:latin typeface="Arial"/>
              </a:rPr>
              <a:t>تحويل</a:t>
            </a:r>
          </a:p>
          <a:p>
            <a:pPr algn="ctr" rtl="0"/>
            <a:r>
              <a:rPr sz="1200">
                <a:solidFill>
                  <a:srgbClr val="666666"/>
                </a:solidFill>
                <a:latin typeface="Calibri"/>
              </a:rPr>
              <a:t>Transform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474720" y="2926080"/>
            <a:ext cx="2560320" cy="640080"/>
          </a:xfrm>
          <a:prstGeom prst="roundRect">
            <a:avLst/>
          </a:prstGeom>
          <a:solidFill>
            <a:srgbClr val="EDEDED"/>
          </a:solidFill>
          <a:ln w="127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 rtl="1"/>
            <a:r>
              <a:rPr sz="1200" b="1">
                <a:solidFill>
                  <a:srgbClr val="333333"/>
                </a:solidFill>
                <a:latin typeface="Arial"/>
              </a:rPr>
              <a:t>تنظيف + توحيد</a:t>
            </a:r>
          </a:p>
        </p:txBody>
      </p:sp>
      <p:sp>
        <p:nvSpPr>
          <p:cNvPr id="8" name="Right Arrow 7"/>
          <p:cNvSpPr/>
          <p:nvPr/>
        </p:nvSpPr>
        <p:spPr>
          <a:xfrm>
            <a:off x="6108192" y="2240280"/>
            <a:ext cx="329184" cy="274320"/>
          </a:xfrm>
          <a:prstGeom prst="rightArrow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6355080" y="1874519"/>
            <a:ext cx="2560320" cy="868680"/>
          </a:xfrm>
          <a:prstGeom prst="roundRect">
            <a:avLst/>
          </a:prstGeom>
          <a:solidFill>
            <a:srgbClr val="E2EFDA"/>
          </a:solidFill>
          <a:ln w="127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 rtl="1"/>
            <a:r>
              <a:rPr sz="1600" b="1">
                <a:solidFill>
                  <a:srgbClr val="333333"/>
                </a:solidFill>
                <a:latin typeface="Arial"/>
              </a:rPr>
              <a:t>منتج بيانات</a:t>
            </a:r>
          </a:p>
          <a:p>
            <a:pPr algn="ctr" rtl="0"/>
            <a:r>
              <a:rPr sz="1200">
                <a:solidFill>
                  <a:srgbClr val="666666"/>
                </a:solidFill>
                <a:latin typeface="Calibri"/>
              </a:rPr>
              <a:t>Data product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355080" y="2926080"/>
            <a:ext cx="2560320" cy="640080"/>
          </a:xfrm>
          <a:prstGeom prst="roundRect">
            <a:avLst/>
          </a:prstGeom>
          <a:solidFill>
            <a:srgbClr val="EDEDED"/>
          </a:solidFill>
          <a:ln w="127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 rtl="1"/>
            <a:r>
              <a:rPr sz="1200" b="1">
                <a:solidFill>
                  <a:srgbClr val="333333"/>
                </a:solidFill>
                <a:latin typeface="Arial"/>
              </a:rPr>
              <a:t>مخطط + مالك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8988552" y="2240280"/>
            <a:ext cx="329184" cy="274320"/>
          </a:xfrm>
          <a:prstGeom prst="rightArrow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9235440" y="1874519"/>
            <a:ext cx="2560320" cy="868680"/>
          </a:xfrm>
          <a:prstGeom prst="roundRect">
            <a:avLst/>
          </a:prstGeom>
          <a:solidFill>
            <a:srgbClr val="FDE9D9"/>
          </a:solidFill>
          <a:ln w="127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 rtl="1"/>
            <a:r>
              <a:rPr sz="1600" b="1">
                <a:solidFill>
                  <a:srgbClr val="333333"/>
                </a:solidFill>
                <a:latin typeface="Arial"/>
              </a:rPr>
              <a:t>استهلاك</a:t>
            </a:r>
          </a:p>
          <a:p>
            <a:pPr algn="ctr" rtl="0"/>
            <a:r>
              <a:rPr sz="1200">
                <a:solidFill>
                  <a:srgbClr val="666666"/>
                </a:solidFill>
                <a:latin typeface="Calibri"/>
              </a:rPr>
              <a:t>Consume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9235440" y="2926080"/>
            <a:ext cx="2560320" cy="640080"/>
          </a:xfrm>
          <a:prstGeom prst="roundRect">
            <a:avLst/>
          </a:prstGeom>
          <a:solidFill>
            <a:srgbClr val="EDEDED"/>
          </a:solidFill>
          <a:ln w="127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 rtl="1"/>
            <a:r>
              <a:rPr sz="1200" b="1">
                <a:solidFill>
                  <a:srgbClr val="333333"/>
                </a:solidFill>
                <a:latin typeface="Arial"/>
              </a:rPr>
              <a:t>لوحة / نموذج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2286000" y="4709160"/>
            <a:ext cx="7635240" cy="731520"/>
          </a:xfrm>
          <a:prstGeom prst="roundRect">
            <a:avLst/>
          </a:prstGeom>
          <a:solidFill>
            <a:srgbClr val="DCE6F1"/>
          </a:solidFill>
          <a:ln w="127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 rtl="1"/>
            <a:r>
              <a:rPr sz="1400" b="1">
                <a:solidFill>
                  <a:srgbClr val="333333"/>
                </a:solidFill>
                <a:latin typeface="Arial"/>
              </a:rPr>
              <a:t>لكل خطوة: مالك + وقت + سياسة + أثر التغيير</a:t>
            </a:r>
          </a:p>
          <a:p>
            <a:pPr algn="ctr" rtl="0"/>
            <a:r>
              <a:rPr sz="1200">
                <a:solidFill>
                  <a:srgbClr val="666666"/>
                </a:solidFill>
                <a:latin typeface="Calibri"/>
              </a:rPr>
              <a:t>For every step: owner + time + policy + change impact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612648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400">
                <a:solidFill>
                  <a:srgbClr val="666666"/>
                </a:solidFill>
                <a:latin typeface="Arial"/>
              </a:rPr>
              <a:t>اسأل «من أين جاءت هذه النتيجة؟» ثم اتبع السلسلة إلى المصدر.</a:t>
            </a:r>
          </a:p>
          <a:p>
            <a:pPr algn="r" rtl="0"/>
            <a:r>
              <a:t>Ask “where did this result come from?” then follow the chain to its source.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6400800"/>
            <a:ext cx="8686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000" b="0">
                <a:solidFill>
                  <a:srgbClr val="666666"/>
                </a:solidFill>
                <a:latin typeface="Arial"/>
              </a:rPr>
              <a:t>Module 02 — Data &amp; AI Engineering Track  |  الوحدة الثانية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601200" y="6400800"/>
            <a:ext cx="1920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rtl="0"/>
            <a:r>
              <a:rPr sz="1000" b="0">
                <a:solidFill>
                  <a:srgbClr val="666666"/>
                </a:solidFill>
                <a:latin typeface="Calibri"/>
              </a:rPr>
              <a:t>V11  •  4/10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137160"/>
            <a:ext cx="109728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 rtl="1"/>
            <a:r>
              <a:rPr sz="3000" b="1">
                <a:solidFill>
                  <a:srgbClr val="1F3B5C"/>
                </a:solidFill>
                <a:latin typeface="Arial"/>
              </a:rPr>
              <a:t>المعمارية المرجعية للذكاء التوليدي / GenAI Reference Architecture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1097280" y="1280160"/>
            <a:ext cx="9966960" cy="1051560"/>
          </a:xfrm>
          <a:prstGeom prst="roundRect">
            <a:avLst/>
          </a:prstGeom>
          <a:solidFill>
            <a:srgbClr val="DCE6F1"/>
          </a:solidFill>
          <a:ln w="127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 rtl="1"/>
            <a:r>
              <a:rPr sz="1800" b="1">
                <a:solidFill>
                  <a:srgbClr val="333333"/>
                </a:solidFill>
                <a:latin typeface="Arial"/>
              </a:rPr>
              <a:t>أ. بوابة منصة GenAI</a:t>
            </a:r>
          </a:p>
          <a:p>
            <a:pPr algn="ctr" rtl="0"/>
            <a:r>
              <a:rPr sz="1300">
                <a:solidFill>
                  <a:srgbClr val="666666"/>
                </a:solidFill>
                <a:latin typeface="Calibri"/>
              </a:rPr>
              <a:t>A. Platform Portal — POC → MVP → PROD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097280" y="2487168"/>
            <a:ext cx="9966960" cy="1051560"/>
          </a:xfrm>
          <a:prstGeom prst="roundRect">
            <a:avLst/>
          </a:prstGeom>
          <a:solidFill>
            <a:srgbClr val="E2EFDA"/>
          </a:solidFill>
          <a:ln w="127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 rtl="1"/>
            <a:r>
              <a:rPr sz="1800" b="1">
                <a:solidFill>
                  <a:srgbClr val="333333"/>
                </a:solidFill>
                <a:latin typeface="Arial"/>
              </a:rPr>
              <a:t>ب. الأتمتة والامتثال</a:t>
            </a:r>
          </a:p>
          <a:p>
            <a:pPr algn="ctr" rtl="0"/>
            <a:r>
              <a:rPr sz="1300">
                <a:solidFill>
                  <a:srgbClr val="666666"/>
                </a:solidFill>
                <a:latin typeface="Calibri"/>
              </a:rPr>
              <a:t>B. Automation &amp; Compliance — CI/CD gates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97280" y="3694176"/>
            <a:ext cx="9966960" cy="1051560"/>
          </a:xfrm>
          <a:prstGeom prst="roundRect">
            <a:avLst/>
          </a:prstGeom>
          <a:solidFill>
            <a:srgbClr val="FDE9D9"/>
          </a:solidFill>
          <a:ln w="127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 rtl="1"/>
            <a:r>
              <a:rPr sz="1800" b="1">
                <a:solidFill>
                  <a:srgbClr val="333333"/>
                </a:solidFill>
                <a:latin typeface="Arial"/>
              </a:rPr>
              <a:t>ج. الخدمات المشتركة</a:t>
            </a:r>
          </a:p>
          <a:p>
            <a:pPr algn="ctr" rtl="0"/>
            <a:r>
              <a:rPr sz="1300">
                <a:solidFill>
                  <a:srgbClr val="666666"/>
                </a:solidFill>
                <a:latin typeface="Calibri"/>
              </a:rPr>
              <a:t>C. Shared Services — Gateway, Prompts, Audit, Guardrails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097280" y="4901184"/>
            <a:ext cx="9966960" cy="1051560"/>
          </a:xfrm>
          <a:prstGeom prst="roundRect">
            <a:avLst/>
          </a:prstGeom>
          <a:solidFill>
            <a:srgbClr val="EDEDED"/>
          </a:solidFill>
          <a:ln w="127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 rtl="1"/>
            <a:r>
              <a:rPr sz="1800" b="1">
                <a:solidFill>
                  <a:srgbClr val="333333"/>
                </a:solidFill>
                <a:latin typeface="Arial"/>
              </a:rPr>
              <a:t>د. الحوكمة والمراقبة</a:t>
            </a:r>
          </a:p>
          <a:p>
            <a:pPr algn="ctr" rtl="0"/>
            <a:r>
              <a:rPr sz="1300">
                <a:solidFill>
                  <a:srgbClr val="666666"/>
                </a:solidFill>
                <a:latin typeface="Calibri"/>
              </a:rPr>
              <a:t>D. Governance &amp; Monitoring — Responsible AI, FinOps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12648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400">
                <a:solidFill>
                  <a:srgbClr val="666666"/>
                </a:solidFill>
                <a:latin typeface="Arial"/>
              </a:rPr>
              <a:t>النمط المرجعي المؤسسي (McKinsey) — نافذة موحدة فوق خدمات مشتركة محكومة.</a:t>
            </a:r>
          </a:p>
          <a:p>
            <a:pPr algn="r" rtl="0"/>
            <a:r>
              <a:t>Enterprise reference pattern (McKinsey) — a unified pane over governed shared services.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6400800"/>
            <a:ext cx="8686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000" b="0">
                <a:solidFill>
                  <a:srgbClr val="666666"/>
                </a:solidFill>
                <a:latin typeface="Arial"/>
              </a:rPr>
              <a:t>Module 02 — Data &amp; AI Engineering Track  |  الوحدة الثانية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0" y="6400800"/>
            <a:ext cx="1920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rtl="0"/>
            <a:r>
              <a:rPr sz="1000" b="0">
                <a:solidFill>
                  <a:srgbClr val="666666"/>
                </a:solidFill>
                <a:latin typeface="Calibri"/>
              </a:rPr>
              <a:t>V11  •  7/10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