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4" r:id="rId15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2800" b="1">
                <a:solidFill>
                  <a:srgbClr val="1F4E79"/>
                </a:solidFill>
                <a:latin typeface="Calibri"/>
              </a:rPr>
              <a:t>Module 02  |  V11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400" b="1">
                <a:solidFill>
                  <a:srgbClr val="1F3B5C"/>
                </a:solidFill>
                <a:latin typeface="Arial"/>
              </a:rPr>
              <a:t>حوكمة البيانات وسلسلة العهدة والفهرسة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3000" b="0">
                <a:solidFill>
                  <a:srgbClr val="333333"/>
                </a:solidFill>
                <a:latin typeface="Calibri"/>
              </a:rPr>
              <a:t>Data Governance, Lineage &amp; Cataloging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400" b="0">
                <a:solidFill>
                  <a:srgbClr val="666666"/>
                </a:solidFill>
                <a:latin typeface="Calibri"/>
              </a:rPr>
              <a:t>Light theme  |  Bilingual AR/EN  |  Ready to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V11  •  1/11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11_  •  1/9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11_  •  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أجندة العرض /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V11 — حوكمة البيانات وسلسلة العهدة والفهرسة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300">
                <a:solidFill>
                  <a:srgbClr val="666666"/>
                </a:solidFill>
                <a:latin typeface="Calibri"/>
              </a:rPr>
              <a:t>• V11 — Data Governance, Lineage &amp; Cataloging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الحوكمة والفهرسة / Governance &amp; Cataloging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المعمارية المرجعية للذكاء التوليدي (1/2) / GenAI Reference Architecture (1/2)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Arial"/>
              </a:rPr>
              <a:t>• المعمارية المرجعية للذكاء التوليدي (2/2) / GenAI Reference Architecture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V11  •  2/11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11_  •  2/9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11_  •  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الحوكمة والفهرسة / Governance &amp; Cataloging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سلسلة العهدة (Lineage) تتبع أصل البيانات وتحولاتها؛ الفهرسة تجعلها قابلة للاكتشاف.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Lineage traces data origin and transformations; cataloging makes it discoverable.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أدوات: Apache Atlas، Collibra، DataHub.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Tools: Apache Atlas, Collibra, DataHub.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V11  •  3/11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11_  •  3/9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11_  •  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المعمارية المرجعية للذكاء التوليدي (1/2) / GenAI Reference Architecture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أ. بوابة منصة GenAI: نافذة موحدة بكتالوج حلول ومحفظة POC → MVP → PROD موثقة.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A. Portal: unified pane of glass with a solution catalog and documented POC → MVP → PROD portfolio.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Arial"/>
              </a:rPr>
              <a:t>• ب. الأتمتة والامتثال: خطوط CI/CD ببوابات تحكم آلية وموافقات مرحلية وفق DevSecOps.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B. Automation &amp; compliance: CI/CD with automated control gates and stage-gate approvals (DevSecOps).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V11  •  4/11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11_  •  4/9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11_  •  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المعمارية المرجعية للذكاء التوليدي (2/2) / GenAI Reference Architecture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ج. الخدمات المشتركة: بوابة AI موحدة، مكتبة موجِّهات، خدمة التغذية الراجعة، قاعدة تدقيق LLM، حواجز حماية Guardrails.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C. Shared services: unified AI gateway, prompt library, feedback service, LLM audit database, guardrails.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د. الحوكمة والمراقبة: أمن البيانات، الذكاء المسؤول (تدقيق التحيّز والهلوسة)، وإدارة التكاليف FinOps.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D. Governance &amp; monitoring: data security, responsible AI (bias/hallucination audits), FinOps.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V11  •  5/11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11_  •  5/9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11_  •  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المعمارية المرجعية للذكاء التوليدي / GenAI Reference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280160"/>
            <a:ext cx="9966960" cy="10515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أ. بوابة منصة GenAI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A. Platform Portal — POC → MVP → PROD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487168"/>
            <a:ext cx="9966960" cy="105156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ب. الأتمتة والامتثال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B. Automation &amp; Compliance — CI/CD 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694176"/>
            <a:ext cx="9966960" cy="105156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ج. الخدمات المشتركة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C. Shared Services — Gateway, Prompts, Audit, Guardrails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901184"/>
            <a:ext cx="9966960" cy="10515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Arial"/>
              </a:rPr>
              <a:t>د. الحوكمة والمراقبة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D. Governance &amp; Monitoring — Responsible AI, FinOps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النمط المرجعي المؤسسي (McKinsey) — نافذة موحدة فوق خدمات مشتركة محكومة.</a:t>
            </a:r>
          </a:p>
          <a:p>
            <a:pPr algn="r" rtl="0"/>
            <a:r>
              <a:t>Enterprise reference pattern (McKinsey) — a unified pane over governed shared services.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11_  •  6/9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11_  •  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اختبار قصير / 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1. ما وظيفة بوابة AI الموحدة (AI Gateway)؟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What does a unified AI gateway do?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2. لماذا نحتاج قاعدة تدقيق لنماذج LLM؟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Why keep an LLM audit database?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3. ما دور CI/CD في حوكمة GenAI؟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What is CI/CD's role in GenAI governance?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V11  •  6/11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11_  •  7/9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11_  •  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إجابات الاختبار / Quiz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1. نقطة دخول موحدة تفرض المصادقة والحدود والتسجيل على كل الاستدعاءات.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A single entry point enforcing auth, limits, and logging for all calls.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2. لتتبع الموجِّهات والإجابات والامتثال والتحقيق في الحوادث.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To trace prompts/answers for compliance and investigation.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Arial"/>
              </a:rPr>
              <a:t>• 3. بوابات تحكم وموافقات مرحلية آلية قبل الإنتاج.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666666"/>
                </a:solidFill>
                <a:latin typeface="Calibri"/>
              </a:rPr>
              <a:t>• Automated control gates and approvals before production.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V11  •  7/11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11_  •  8/9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11_  •  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Arial"/>
              </a:rPr>
              <a:t>للاستزادة / 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توثيق DataHub وApache Atlas.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DataHub and Apache Atlas docs.</a:t>
            </a:r>
          </a:p>
          <a:p>
            <a:pPr algn="r" rtl="1"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Arial"/>
              </a:rPr>
              <a:t>• المعمارية المرجعية للذكاء التوليدي — McKinsey.</a:t>
            </a:r>
          </a:p>
          <a:p>
            <a:pPr algn="l" rtl="0">
              <a:spcBef>
                <a:spcPts val="200"/>
              </a:spcBef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GenAI reference architecture — McKinsey.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V11  •  8/11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11_  •  9/9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>
                <a:solidFill>
                  <a:srgbClr val="666666"/>
                </a:solidFill>
                <a:latin typeface="Arial"/>
              </a:rPr>
              <a:t>Module 02 — Data &amp; AI Engineering Track  |  الوحدة الثانية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00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000" b="0">
                <a:solidFill>
                  <a:srgbClr val="666666"/>
                </a:solidFill>
                <a:latin typeface="Calibri"/>
              </a:rPr>
              <a:t>11_  •  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