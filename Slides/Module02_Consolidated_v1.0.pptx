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77"/>
  </p:notesMasterIdLst>
  <p:sldIdLst>
    <p:sldId id="256" r:id="rId2"/>
    <p:sldId id="261" r:id="rId3"/>
    <p:sldId id="365" r:id="rId4"/>
    <p:sldId id="265" r:id="rId5"/>
    <p:sldId id="257" r:id="rId6"/>
    <p:sldId id="368" r:id="rId7"/>
    <p:sldId id="264" r:id="rId8"/>
    <p:sldId id="366" r:id="rId9"/>
    <p:sldId id="266" r:id="rId10"/>
    <p:sldId id="267" r:id="rId11"/>
    <p:sldId id="271" r:id="rId12"/>
    <p:sldId id="273" r:id="rId13"/>
    <p:sldId id="369" r:id="rId14"/>
    <p:sldId id="275" r:id="rId15"/>
    <p:sldId id="367" r:id="rId16"/>
    <p:sldId id="277" r:id="rId17"/>
    <p:sldId id="279" r:id="rId18"/>
    <p:sldId id="282" r:id="rId19"/>
    <p:sldId id="283" r:id="rId20"/>
    <p:sldId id="287" r:id="rId21"/>
    <p:sldId id="289" r:id="rId22"/>
    <p:sldId id="291" r:id="rId23"/>
    <p:sldId id="294" r:id="rId24"/>
    <p:sldId id="295" r:id="rId25"/>
    <p:sldId id="380" r:id="rId26"/>
    <p:sldId id="299" r:id="rId27"/>
    <p:sldId id="301" r:id="rId28"/>
    <p:sldId id="303" r:id="rId29"/>
    <p:sldId id="305" r:id="rId30"/>
    <p:sldId id="306" r:id="rId31"/>
    <p:sldId id="308" r:id="rId32"/>
    <p:sldId id="309" r:id="rId33"/>
    <p:sldId id="310" r:id="rId34"/>
    <p:sldId id="311" r:id="rId35"/>
    <p:sldId id="315" r:id="rId36"/>
    <p:sldId id="317" r:id="rId37"/>
    <p:sldId id="319" r:id="rId38"/>
    <p:sldId id="320" r:id="rId39"/>
    <p:sldId id="322" r:id="rId40"/>
    <p:sldId id="326" r:id="rId41"/>
    <p:sldId id="328" r:id="rId42"/>
    <p:sldId id="329" r:id="rId43"/>
    <p:sldId id="330" r:id="rId44"/>
    <p:sldId id="331" r:id="rId45"/>
    <p:sldId id="332" r:id="rId46"/>
    <p:sldId id="333" r:id="rId47"/>
    <p:sldId id="337" r:id="rId48"/>
    <p:sldId id="339" r:id="rId49"/>
    <p:sldId id="341" r:id="rId50"/>
    <p:sldId id="342" r:id="rId51"/>
    <p:sldId id="343" r:id="rId52"/>
    <p:sldId id="345" r:id="rId53"/>
    <p:sldId id="346" r:id="rId54"/>
    <p:sldId id="348" r:id="rId55"/>
    <p:sldId id="364" r:id="rId56"/>
    <p:sldId id="370" r:id="rId57"/>
    <p:sldId id="371" r:id="rId58"/>
    <p:sldId id="372" r:id="rId59"/>
    <p:sldId id="373" r:id="rId60"/>
    <p:sldId id="374" r:id="rId61"/>
    <p:sldId id="375" r:id="rId62"/>
    <p:sldId id="376" r:id="rId63"/>
    <p:sldId id="377" r:id="rId64"/>
    <p:sldId id="379" r:id="rId65"/>
    <p:sldId id="378" r:id="rId66"/>
    <p:sldId id="352" r:id="rId67"/>
    <p:sldId id="354" r:id="rId68"/>
    <p:sldId id="355" r:id="rId69"/>
    <p:sldId id="356" r:id="rId70"/>
    <p:sldId id="357" r:id="rId71"/>
    <p:sldId id="358" r:id="rId72"/>
    <p:sldId id="359" r:id="rId73"/>
    <p:sldId id="360" r:id="rId74"/>
    <p:sldId id="361" r:id="rId75"/>
    <p:sldId id="362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24"/>
    <p:restoredTop sz="95659"/>
  </p:normalViewPr>
  <p:slideViewPr>
    <p:cSldViewPr snapToGrid="0" snapToObjects="1">
      <p:cViewPr varScale="1">
        <p:scale>
          <a:sx n="107" d="100"/>
          <a:sy n="107" d="100"/>
        </p:scale>
        <p:origin x="20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1" i="0">
                <a:latin typeface="Tahoma" panose="020B060403050404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1" i="0">
                <a:latin typeface="Tahoma" panose="020B0604030504040204" pitchFamily="34" charset="0"/>
              </a:defRPr>
            </a:lvl1pPr>
          </a:lstStyle>
          <a:p>
            <a:fld id="{336759A6-D8E0-B240-942B-61EC933CC736}" type="datetimeFigureOut">
              <a:rPr lang="de-DE" smtClean="0"/>
              <a:pPr/>
              <a:t>11.09.26</a:t>
            </a:fld>
            <a:endParaRPr lang="de-DE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1" i="0">
                <a:latin typeface="Tahoma" panose="020B060403050404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1" i="0">
                <a:latin typeface="Tahoma" panose="020B0604030504040204" pitchFamily="34" charset="0"/>
              </a:defRPr>
            </a:lvl1pPr>
          </a:lstStyle>
          <a:p>
            <a:fld id="{140940C3-9C86-1C45-94FE-10CD13DC14FB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23790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1" i="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5" name="Google Shape;1105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1106" name="Google Shape;1106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None/>
            </a:pPr>
            <a:fld id="{00000000-1234-1234-1234-123412341234}" type="slidenum">
              <a:rPr lang="en-US" sz="2800" b="0" i="0" u="none" strike="noStrike" cap="none">
                <a:latin typeface="Helvetica Neue Light"/>
                <a:ea typeface="Helvetica Neue Light"/>
                <a:cs typeface="Helvetica Neue Light"/>
                <a:sym typeface="Helvetica Neue Light"/>
              </a:rPr>
              <a:t>5</a:t>
            </a:fld>
            <a:endParaRPr sz="28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0940C3-9C86-1C45-94FE-10CD13DC14FB}" type="slidenum">
              <a:rPr lang="de-DE" smtClean="0"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17917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9/11/26</a:t>
            </a:fld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709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9/11/26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985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9/11/26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3773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9/11/26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086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9/11/26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029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9/11/26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840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9/11/26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6140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9/11/26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4289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9/11/26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1554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9/11/26</a:t>
            </a:fld>
            <a:endParaRPr lang="en-US" dirty="0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4605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9/11/26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4809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9/11/26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032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9/11/26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3664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9/11/26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9875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9/11/26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040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9/11/26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21518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9/11/26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9257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9/11/26</a:t>
            </a:fld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231031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9/11/26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34172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9/11/26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64293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9/11/26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739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9/11/26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5569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9/11/26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5050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9/11/26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4383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9/11/26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3097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9/11/26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4288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9/11/26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5631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-3_Title and Content" userDrawn="1">
  <p:cSld name="1_3-3_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8255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9/11/26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7073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112745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sz="4800" b="1" dirty="0">
                <a:latin typeface="Tahoma" panose="020B0604030504040204" pitchFamily="34" charset="0"/>
              </a:rPr>
              <a:t>Module 02</a:t>
            </a:r>
            <a:r>
              <a:rPr lang="en-EG" sz="4800" b="1" dirty="0">
                <a:latin typeface="Tahoma" panose="020B0604030504040204" pitchFamily="34" charset="0"/>
              </a:rPr>
              <a:t> </a:t>
            </a:r>
            <a:r>
              <a:rPr sz="4800" b="1" dirty="0">
                <a:latin typeface="Tahoma" panose="020B0604030504040204" pitchFamily="34" charset="0"/>
              </a:rPr>
              <a:t> Data Engineering for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1127455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defRPr sz="3600">
                <a:solidFill>
                  <a:srgbClr val="C8DCFF"/>
                </a:solidFill>
              </a:defRPr>
            </a:pPr>
            <a:r>
              <a:rPr b="1" dirty="0" err="1">
                <a:latin typeface="Tahoma" panose="020B0604030504040204" pitchFamily="34" charset="0"/>
              </a:rPr>
              <a:t>وحدة</a:t>
            </a:r>
            <a:r>
              <a:rPr b="1" dirty="0">
                <a:latin typeface="Tahoma" panose="020B0604030504040204" pitchFamily="34" charset="0"/>
              </a:rPr>
              <a:t> 02</a:t>
            </a:r>
            <a:r>
              <a:rPr lang="en-EG" b="1" dirty="0">
                <a:latin typeface="Tahoma" panose="020B0604030504040204" pitchFamily="34" charset="0"/>
              </a:rPr>
              <a:t> </a:t>
            </a:r>
            <a:r>
              <a:rPr b="1" dirty="0">
                <a:latin typeface="Tahoma" panose="020B0604030504040204" pitchFamily="34" charset="0"/>
              </a:rPr>
              <a:t> </a:t>
            </a:r>
            <a:r>
              <a:rPr b="1" dirty="0" err="1">
                <a:latin typeface="Tahoma" panose="020B0604030504040204" pitchFamily="34" charset="0"/>
              </a:rPr>
              <a:t>هندسة</a:t>
            </a:r>
            <a:r>
              <a:rPr b="1" dirty="0">
                <a:latin typeface="Tahoma" panose="020B0604030504040204" pitchFamily="34" charset="0"/>
              </a:rPr>
              <a:t> </a:t>
            </a:r>
            <a:r>
              <a:rPr b="1" dirty="0" err="1">
                <a:latin typeface="Tahoma" panose="020B0604030504040204" pitchFamily="34" charset="0"/>
              </a:rPr>
              <a:t>البيانات</a:t>
            </a:r>
            <a:r>
              <a:rPr b="1" dirty="0">
                <a:latin typeface="Tahoma" panose="020B0604030504040204" pitchFamily="34" charset="0"/>
              </a:rPr>
              <a:t> </a:t>
            </a:r>
            <a:r>
              <a:rPr b="1" dirty="0" err="1">
                <a:latin typeface="Tahoma" panose="020B0604030504040204" pitchFamily="34" charset="0"/>
              </a:rPr>
              <a:t>للذكاء</a:t>
            </a:r>
            <a:r>
              <a:rPr b="1" dirty="0">
                <a:latin typeface="Tahoma" panose="020B0604030504040204" pitchFamily="34" charset="0"/>
              </a:rPr>
              <a:t> </a:t>
            </a:r>
            <a:r>
              <a:rPr b="1" dirty="0" err="1">
                <a:latin typeface="Tahoma" panose="020B0604030504040204" pitchFamily="34" charset="0"/>
              </a:rPr>
              <a:t>الاصطناعي</a:t>
            </a:r>
            <a:endParaRPr b="1" dirty="0">
              <a:latin typeface="Tahoma" panose="020B0604030504040204" pitchFamily="34" charset="0"/>
            </a:endParaRPr>
          </a:p>
          <a:p>
            <a:pPr algn="ctr" rtl="1"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rPr b="1" dirty="0">
                <a:latin typeface="Tahoma" panose="020B0604030504040204" pitchFamily="34" charset="0"/>
              </a:rPr>
              <a:t>7 Modules + Lab + Glossary </a:t>
            </a:r>
            <a:r>
              <a:rPr lang="en-US" b="1" dirty="0">
                <a:latin typeface="Tahoma" panose="020B0604030504040204" pitchFamily="34" charset="0"/>
              </a:rPr>
              <a:t> </a:t>
            </a:r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02534" y="5943600"/>
            <a:ext cx="318388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DD7EE"/>
                </a:solidFill>
              </a:defRPr>
            </a:pPr>
            <a:r>
              <a:rPr b="1" dirty="0">
                <a:latin typeface="Tahoma" panose="020B0604030504040204" pitchFamily="34" charset="0"/>
              </a:rPr>
              <a:t>Interactive Learning Journey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وحدات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المقرر</a:t>
            </a:r>
            <a:r>
              <a:rPr lang="en-US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 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Course Modules</a:t>
            </a:r>
            <a:r>
              <a:rPr lang="en-US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endParaRPr sz="32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V06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 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أساسيات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البيانات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Data Fundamentals</a:t>
            </a:r>
            <a:r>
              <a:rPr lang="en-US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V07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 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المستودعات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والبحيرات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ومعمارية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Lakehouse </a:t>
            </a: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Warehouses, Data Lakes &amp; Lakehouse</a:t>
            </a:r>
            <a:r>
              <a:rPr lang="en-US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V08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 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هندسة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الخصائص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ومخازنها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Feature Engineering &amp; Feature Stores</a:t>
            </a:r>
            <a:r>
              <a:rPr lang="en-US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V09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 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قواعد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البيانات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المتجهية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+ RAG</a:t>
            </a:r>
            <a:r>
              <a:rPr lang="en-US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التطبيقي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Vector Databases + Applied RAG</a:t>
            </a:r>
            <a:r>
              <a:rPr lang="en-US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V10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 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تصنيف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البيانات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على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نطاق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واسع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Labeling at Scale</a:t>
            </a:r>
            <a:r>
              <a:rPr lang="en-US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V11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 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حوكمة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البيانات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وسلسلة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العهدة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والفهرسة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Data Governance, Lineage &amp; Cataloging</a:t>
            </a:r>
            <a:r>
              <a:rPr lang="en-US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V12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 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أساسيات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MLOps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+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تمهيد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للمختبر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MLOps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Fundamentals + Lab Introduction</a:t>
            </a:r>
            <a:r>
              <a:rPr lang="en-US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1" dirty="0">
                <a:solidFill>
                  <a:srgbClr val="666666"/>
                </a:solidFill>
                <a:latin typeface="Tahoma" panose="020B0604030504040204" pitchFamily="34" charset="0"/>
              </a:rPr>
              <a:t>Module 02 </a:t>
            </a:r>
            <a:r>
              <a:rPr lang="en-EG" sz="1000" b="1" dirty="0">
                <a:solidFill>
                  <a:srgbClr val="666666"/>
                </a:solidFill>
                <a:latin typeface="Tahoma" panose="020B0604030504040204" pitchFamily="34" charset="0"/>
              </a:rPr>
              <a:t>   </a:t>
            </a:r>
            <a:r>
              <a:rPr sz="1000" b="1" dirty="0">
                <a:solidFill>
                  <a:srgbClr val="666666"/>
                </a:solidFill>
                <a:latin typeface="Tahoma" panose="020B0604030504040204" pitchFamily="34" charset="0"/>
              </a:rPr>
              <a:t> Data &amp; AI Engineering Track  |  </a:t>
            </a:r>
            <a:r>
              <a:rPr sz="1000" b="1" dirty="0" err="1">
                <a:solidFill>
                  <a:srgbClr val="666666"/>
                </a:solidFill>
                <a:latin typeface="Tahoma" panose="020B0604030504040204" pitchFamily="34" charset="0"/>
              </a:rPr>
              <a:t>الوحدة</a:t>
            </a:r>
            <a:r>
              <a:rPr sz="10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000" b="1" dirty="0" err="1">
                <a:solidFill>
                  <a:srgbClr val="666666"/>
                </a:solidFill>
                <a:latin typeface="Tahoma" panose="020B0604030504040204" pitchFamily="34" charset="0"/>
              </a:rPr>
              <a:t>الثانية</a:t>
            </a:r>
            <a:endParaRPr sz="1000" b="1" dirty="0">
              <a:solidFill>
                <a:srgbClr val="666666"/>
              </a:solidFill>
              <a:latin typeface="Tahoma" panose="020B060403050404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1" dirty="0" err="1">
                <a:solidFill>
                  <a:srgbClr val="666666"/>
                </a:solidFill>
                <a:latin typeface="Tahoma" panose="020B0604030504040204" pitchFamily="34" charset="0"/>
              </a:rPr>
              <a:t>V06</a:t>
            </a:r>
            <a:r>
              <a:rPr sz="1000" b="1" dirty="0">
                <a:solidFill>
                  <a:srgbClr val="666666"/>
                </a:solidFill>
                <a:latin typeface="Tahoma" panose="020B0604030504040204" pitchFamily="34" charset="0"/>
              </a:rPr>
              <a:t>  </a:t>
            </a:r>
            <a:r>
              <a:rPr lang="en-EG" sz="10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000" b="1" dirty="0">
                <a:solidFill>
                  <a:srgbClr val="666666"/>
                </a:solidFill>
                <a:latin typeface="Tahoma" panose="020B0604030504040204" pitchFamily="34" charset="0"/>
              </a:rPr>
              <a:t>  4</a:t>
            </a:r>
            <a:r>
              <a:rPr lang="en-EG" sz="10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000" b="1" dirty="0">
                <a:solidFill>
                  <a:srgbClr val="666666"/>
                </a:solidFill>
                <a:latin typeface="Tahoma" panose="020B0604030504040204" pitchFamily="34" charset="0"/>
              </a:rPr>
              <a:t>13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55AEDC0-A51B-8277-2AE8-D9F725D903F7}"/>
              </a:ext>
            </a:extLst>
          </p:cNvPr>
          <p:cNvSpPr/>
          <p:nvPr/>
        </p:nvSpPr>
        <p:spPr>
          <a:xfrm>
            <a:off x="502920" y="4485640"/>
            <a:ext cx="1234440" cy="137160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البيانات</a:t>
            </a:r>
            <a:endParaRPr sz="14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000" b="1" dirty="0">
                <a:solidFill>
                  <a:srgbClr val="666666"/>
                </a:solidFill>
                <a:latin typeface="Tahoma" panose="020B0604030504040204" pitchFamily="34" charset="0"/>
              </a:rPr>
              <a:t>Data</a:t>
            </a:r>
          </a:p>
        </p:txBody>
      </p:sp>
      <p:sp>
        <p:nvSpPr>
          <p:cNvPr id="8" name="Left Arrow 7">
            <a:extLst>
              <a:ext uri="{FF2B5EF4-FFF2-40B4-BE49-F238E27FC236}">
                <a16:creationId xmlns:a16="http://schemas.microsoft.com/office/drawing/2014/main" id="{662F9941-5774-4EA0-31B9-D46973B2BF45}"/>
              </a:ext>
            </a:extLst>
          </p:cNvPr>
          <p:cNvSpPr/>
          <p:nvPr/>
        </p:nvSpPr>
        <p:spPr>
          <a:xfrm>
            <a:off x="1746504" y="5034280"/>
            <a:ext cx="12801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74FA325-D073-7A9D-72FA-FA37D1A23A3B}"/>
              </a:ext>
            </a:extLst>
          </p:cNvPr>
          <p:cNvSpPr/>
          <p:nvPr/>
        </p:nvSpPr>
        <p:spPr>
          <a:xfrm>
            <a:off x="1883664" y="4485640"/>
            <a:ext cx="1234440" cy="13716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التخزين</a:t>
            </a:r>
            <a:endParaRPr sz="14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000" b="1" dirty="0">
                <a:solidFill>
                  <a:srgbClr val="666666"/>
                </a:solidFill>
                <a:latin typeface="Tahoma" panose="020B0604030504040204" pitchFamily="34" charset="0"/>
              </a:rPr>
              <a:t>Storage</a:t>
            </a:r>
          </a:p>
        </p:txBody>
      </p:sp>
      <p:sp>
        <p:nvSpPr>
          <p:cNvPr id="10" name="Left Arrow 9">
            <a:extLst>
              <a:ext uri="{FF2B5EF4-FFF2-40B4-BE49-F238E27FC236}">
                <a16:creationId xmlns:a16="http://schemas.microsoft.com/office/drawing/2014/main" id="{84A7F68B-A26A-E8C6-6076-3FBB6B23C661}"/>
              </a:ext>
            </a:extLst>
          </p:cNvPr>
          <p:cNvSpPr/>
          <p:nvPr/>
        </p:nvSpPr>
        <p:spPr>
          <a:xfrm>
            <a:off x="3127248" y="5034280"/>
            <a:ext cx="12801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AFCA2F2-FF5D-5082-26D5-11134A56FF39}"/>
              </a:ext>
            </a:extLst>
          </p:cNvPr>
          <p:cNvSpPr/>
          <p:nvPr/>
        </p:nvSpPr>
        <p:spPr>
          <a:xfrm>
            <a:off x="3264408" y="4485640"/>
            <a:ext cx="1234440" cy="137160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الخصائص</a:t>
            </a:r>
            <a:endParaRPr sz="14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000" b="1" dirty="0">
                <a:solidFill>
                  <a:srgbClr val="666666"/>
                </a:solidFill>
                <a:latin typeface="Tahoma" panose="020B0604030504040204" pitchFamily="34" charset="0"/>
              </a:rPr>
              <a:t>Features</a:t>
            </a:r>
          </a:p>
        </p:txBody>
      </p:sp>
      <p:sp>
        <p:nvSpPr>
          <p:cNvPr id="12" name="Left Arrow 11">
            <a:extLst>
              <a:ext uri="{FF2B5EF4-FFF2-40B4-BE49-F238E27FC236}">
                <a16:creationId xmlns:a16="http://schemas.microsoft.com/office/drawing/2014/main" id="{ADD5BF94-6C4B-8428-263D-AC61C98AFA7B}"/>
              </a:ext>
            </a:extLst>
          </p:cNvPr>
          <p:cNvSpPr/>
          <p:nvPr/>
        </p:nvSpPr>
        <p:spPr>
          <a:xfrm>
            <a:off x="4507992" y="5034280"/>
            <a:ext cx="12801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8183B6F-1EEE-E04B-8E13-80BE0440918B}"/>
              </a:ext>
            </a:extLst>
          </p:cNvPr>
          <p:cNvSpPr/>
          <p:nvPr/>
        </p:nvSpPr>
        <p:spPr>
          <a:xfrm>
            <a:off x="4645152" y="4485640"/>
            <a:ext cx="1234440" cy="13716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الفهارس</a:t>
            </a:r>
            <a:r>
              <a:rPr sz="1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المتجهية</a:t>
            </a:r>
            <a:endParaRPr sz="14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000" b="1" dirty="0">
                <a:solidFill>
                  <a:srgbClr val="666666"/>
                </a:solidFill>
                <a:latin typeface="Tahoma" panose="020B0604030504040204" pitchFamily="34" charset="0"/>
              </a:rPr>
              <a:t>Vector Indexes</a:t>
            </a:r>
          </a:p>
        </p:txBody>
      </p:sp>
      <p:sp>
        <p:nvSpPr>
          <p:cNvPr id="14" name="Left Arrow 13">
            <a:extLst>
              <a:ext uri="{FF2B5EF4-FFF2-40B4-BE49-F238E27FC236}">
                <a16:creationId xmlns:a16="http://schemas.microsoft.com/office/drawing/2014/main" id="{6EFA0D59-CB58-52C2-DFB3-0A7EF8DAF084}"/>
              </a:ext>
            </a:extLst>
          </p:cNvPr>
          <p:cNvSpPr/>
          <p:nvPr/>
        </p:nvSpPr>
        <p:spPr>
          <a:xfrm>
            <a:off x="5888736" y="5034280"/>
            <a:ext cx="12801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11C77A7-1AAA-1657-7A00-002BD767D34F}"/>
              </a:ext>
            </a:extLst>
          </p:cNvPr>
          <p:cNvSpPr/>
          <p:nvPr/>
        </p:nvSpPr>
        <p:spPr>
          <a:xfrm>
            <a:off x="6025896" y="4485640"/>
            <a:ext cx="1234440" cy="137160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التصنيف</a:t>
            </a:r>
            <a:endParaRPr sz="14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000" b="1" dirty="0">
                <a:solidFill>
                  <a:srgbClr val="666666"/>
                </a:solidFill>
                <a:latin typeface="Tahoma" panose="020B0604030504040204" pitchFamily="34" charset="0"/>
              </a:rPr>
              <a:t>Labeling</a:t>
            </a:r>
          </a:p>
        </p:txBody>
      </p:sp>
      <p:sp>
        <p:nvSpPr>
          <p:cNvPr id="16" name="Left Arrow 15">
            <a:extLst>
              <a:ext uri="{FF2B5EF4-FFF2-40B4-BE49-F238E27FC236}">
                <a16:creationId xmlns:a16="http://schemas.microsoft.com/office/drawing/2014/main" id="{5083684E-388E-1033-22DE-1B95D34BB71C}"/>
              </a:ext>
            </a:extLst>
          </p:cNvPr>
          <p:cNvSpPr/>
          <p:nvPr/>
        </p:nvSpPr>
        <p:spPr>
          <a:xfrm>
            <a:off x="7269480" y="5034280"/>
            <a:ext cx="12801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F17B6A8-B811-6AB1-A9E0-A4DEB02EFA40}"/>
              </a:ext>
            </a:extLst>
          </p:cNvPr>
          <p:cNvSpPr/>
          <p:nvPr/>
        </p:nvSpPr>
        <p:spPr>
          <a:xfrm>
            <a:off x="7406640" y="4485640"/>
            <a:ext cx="1234440" cy="13716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الحوكمة</a:t>
            </a:r>
            <a:endParaRPr sz="14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000" b="1" dirty="0">
                <a:solidFill>
                  <a:srgbClr val="666666"/>
                </a:solidFill>
                <a:latin typeface="Tahoma" panose="020B0604030504040204" pitchFamily="34" charset="0"/>
              </a:rPr>
              <a:t>Governance</a:t>
            </a:r>
          </a:p>
        </p:txBody>
      </p:sp>
      <p:sp>
        <p:nvSpPr>
          <p:cNvPr id="18" name="Left Arrow 17">
            <a:extLst>
              <a:ext uri="{FF2B5EF4-FFF2-40B4-BE49-F238E27FC236}">
                <a16:creationId xmlns:a16="http://schemas.microsoft.com/office/drawing/2014/main" id="{EF746D35-6CF7-F402-280F-F235E2FFEBC3}"/>
              </a:ext>
            </a:extLst>
          </p:cNvPr>
          <p:cNvSpPr/>
          <p:nvPr/>
        </p:nvSpPr>
        <p:spPr>
          <a:xfrm>
            <a:off x="8650224" y="5034280"/>
            <a:ext cx="12801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77464C6-67B5-48B9-BE78-44334113A5F3}"/>
              </a:ext>
            </a:extLst>
          </p:cNvPr>
          <p:cNvSpPr/>
          <p:nvPr/>
        </p:nvSpPr>
        <p:spPr>
          <a:xfrm>
            <a:off x="8787384" y="4485640"/>
            <a:ext cx="1234440" cy="137160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MLOps</a:t>
            </a:r>
            <a:endParaRPr sz="14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000" b="1" dirty="0" err="1">
                <a:solidFill>
                  <a:srgbClr val="666666"/>
                </a:solidFill>
                <a:latin typeface="Tahoma" panose="020B0604030504040204" pitchFamily="34" charset="0"/>
              </a:rPr>
              <a:t>MLOps</a:t>
            </a:r>
            <a:endParaRPr sz="1000" b="1" dirty="0">
              <a:solidFill>
                <a:srgbClr val="666666"/>
              </a:solidFill>
              <a:latin typeface="Tahoma" panose="020B0604030504040204" pitchFamily="34" charset="0"/>
            </a:endParaRPr>
          </a:p>
        </p:txBody>
      </p:sp>
      <p:sp>
        <p:nvSpPr>
          <p:cNvPr id="20" name="Left Arrow 19">
            <a:extLst>
              <a:ext uri="{FF2B5EF4-FFF2-40B4-BE49-F238E27FC236}">
                <a16:creationId xmlns:a16="http://schemas.microsoft.com/office/drawing/2014/main" id="{329C66AF-0757-AAFC-0D19-B7D33E53EB08}"/>
              </a:ext>
            </a:extLst>
          </p:cNvPr>
          <p:cNvSpPr/>
          <p:nvPr/>
        </p:nvSpPr>
        <p:spPr>
          <a:xfrm>
            <a:off x="10030968" y="5034280"/>
            <a:ext cx="12801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7B7EAFC-AE52-2BC7-062F-EFAC3B3BA0E5}"/>
              </a:ext>
            </a:extLst>
          </p:cNvPr>
          <p:cNvSpPr/>
          <p:nvPr/>
        </p:nvSpPr>
        <p:spPr>
          <a:xfrm>
            <a:off x="10168128" y="4485640"/>
            <a:ext cx="1234440" cy="13716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المختبر</a:t>
            </a:r>
            <a:endParaRPr sz="14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000" b="1" dirty="0">
                <a:solidFill>
                  <a:srgbClr val="666666"/>
                </a:solidFill>
                <a:latin typeface="Tahoma" panose="020B0604030504040204" pitchFamily="34" charset="0"/>
              </a:rPr>
              <a:t>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5853F8-9346-1047-8008-38A95ADFE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77F561-6CF5-C36A-294A-8DD50DDDADE6}"/>
              </a:ext>
            </a:extLst>
          </p:cNvPr>
          <p:cNvSpPr txBox="1"/>
          <p:nvPr/>
        </p:nvSpPr>
        <p:spPr>
          <a:xfrm>
            <a:off x="457200" y="2286000"/>
            <a:ext cx="112745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>
                <a:solidFill>
                  <a:srgbClr val="FFFFFF"/>
                </a:solidFill>
              </a:defRPr>
            </a:pPr>
            <a:r>
              <a:rPr kumimoji="0" sz="4800" b="1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V06</a:t>
            </a:r>
            <a:r>
              <a:rPr kumimoji="0" sz="4800" b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lang="en-EG" sz="4800" b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  </a:t>
            </a:r>
            <a:r>
              <a:rPr kumimoji="0" sz="4800" b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Data Fundamentals</a:t>
            </a:r>
          </a:p>
        </p:txBody>
      </p:sp>
    </p:spTree>
    <p:extLst>
      <p:ext uri="{BB962C8B-B14F-4D97-AF65-F5344CB8AC3E}">
        <p14:creationId xmlns:p14="http://schemas.microsoft.com/office/powerpoint/2010/main" val="2784849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7538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Unified Data/AI Platform</a:t>
            </a:r>
            <a:br>
              <a:rPr lang="en-US" sz="3200" b="1" dirty="0">
                <a:solidFill>
                  <a:srgbClr val="1F3B5C"/>
                </a:solidFill>
                <a:latin typeface="Tahoma" panose="020B0604030504040204" pitchFamily="34" charset="0"/>
              </a:rPr>
            </a:br>
            <a:r>
              <a:rPr lang="ar-EG" sz="3200" b="1" dirty="0">
                <a:solidFill>
                  <a:srgbClr val="1F3B5C"/>
                </a:solidFill>
                <a:latin typeface="Tahoma" panose="020B0604030504040204" pitchFamily="34" charset="0"/>
                <a:cs typeface="ADLaM Display" panose="02010000000000000000" pitchFamily="2" charset="77"/>
              </a:rPr>
              <a:t>تقنيات معالجة منصة البيانات الموحدة و الذكاء الاصطناعي </a:t>
            </a:r>
            <a:br>
              <a:rPr lang="ar-EG" sz="3200" b="1" dirty="0">
                <a:solidFill>
                  <a:srgbClr val="1F3B5C"/>
                </a:solidFill>
                <a:latin typeface="Tahoma" panose="020B0604030504040204" pitchFamily="34" charset="0"/>
                <a:cs typeface="ADLaM Display" panose="02010000000000000000" pitchFamily="2" charset="77"/>
              </a:rPr>
            </a:br>
            <a:br>
              <a:rPr lang="ar-EG" sz="3200" b="1" dirty="0">
                <a:solidFill>
                  <a:srgbClr val="1F3B5C"/>
                </a:solidFill>
                <a:latin typeface="Tahoma" panose="020B0604030504040204" pitchFamily="34" charset="0"/>
                <a:cs typeface="ADLaM Display" panose="02010000000000000000" pitchFamily="2" charset="77"/>
              </a:rPr>
            </a:br>
            <a:endParaRPr lang="ar-EG" sz="3200" b="1" dirty="0">
              <a:solidFill>
                <a:srgbClr val="1F3B5C"/>
              </a:solidFill>
              <a:latin typeface="Tahoma" panose="020B0604030504040204" pitchFamily="34" charset="0"/>
              <a:cs typeface="ADLaM Display" panose="02010000000000000000" pitchFamily="2" charset="77"/>
            </a:endParaRPr>
          </a:p>
          <a:p>
            <a:pPr algn="ctr" rtl="1"/>
            <a:endParaRPr lang="ar-EG" sz="3200" b="1" dirty="0">
              <a:solidFill>
                <a:srgbClr val="1F3B5C"/>
              </a:solidFill>
              <a:latin typeface="Tahoma" panose="020B0604030504040204" pitchFamily="34" charset="0"/>
              <a:cs typeface="ADLaM Display" panose="02010000000000000000" pitchFamily="2" charset="77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2C3802-E909-FD8A-A62B-6C1BA5AAC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53" y="1560417"/>
            <a:ext cx="11704174" cy="49710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0B8298D-F50E-F823-392F-7B860F1C6902}"/>
              </a:ext>
            </a:extLst>
          </p:cNvPr>
          <p:cNvSpPr/>
          <p:nvPr/>
        </p:nvSpPr>
        <p:spPr>
          <a:xfrm>
            <a:off x="0" y="0"/>
            <a:ext cx="12191695" cy="1377538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grpSp>
        <p:nvGrpSpPr>
          <p:cNvPr id="1109" name="Google Shape;1109;p2"/>
          <p:cNvGrpSpPr/>
          <p:nvPr/>
        </p:nvGrpSpPr>
        <p:grpSpPr>
          <a:xfrm>
            <a:off x="605642" y="1377538"/>
            <a:ext cx="10925297" cy="5355771"/>
            <a:chOff x="0" y="1"/>
            <a:chExt cx="9286133" cy="4713657"/>
          </a:xfrm>
        </p:grpSpPr>
        <p:sp>
          <p:nvSpPr>
            <p:cNvPr id="1110" name="Google Shape;1110;p2"/>
            <p:cNvSpPr/>
            <p:nvPr/>
          </p:nvSpPr>
          <p:spPr>
            <a:xfrm rot="5400000">
              <a:off x="5715093" y="-2375349"/>
              <a:ext cx="1186621" cy="5937321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CAD2E8">
                <a:alpha val="89411"/>
              </a:srgbClr>
            </a:solidFill>
            <a:ln w="25400" cap="flat" cmpd="sng">
              <a:solidFill>
                <a:srgbClr val="CAD2E8">
                  <a:alpha val="8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0650" tIns="80650" rIns="80650" bIns="8065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 dirty="0">
                <a:solidFill>
                  <a:schemeClr val="dk1"/>
                </a:solidFill>
                <a:latin typeface="Tahoma" panose="020B0604030504040204" pitchFamily="34" charset="0"/>
                <a:ea typeface="ADLaM Display" panose="02010000000000000000" pitchFamily="2" charset="77"/>
                <a:cs typeface="ADLaM Display" panose="02010000000000000000" pitchFamily="2" charset="77"/>
                <a:sym typeface="Calibri"/>
              </a:endParaRPr>
            </a:p>
          </p:txBody>
        </p:sp>
        <p:sp>
          <p:nvSpPr>
            <p:cNvPr id="1111" name="Google Shape;1111;p2"/>
            <p:cNvSpPr txBox="1"/>
            <p:nvPr/>
          </p:nvSpPr>
          <p:spPr>
            <a:xfrm>
              <a:off x="3339743" y="57927"/>
              <a:ext cx="5879395" cy="10707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8500" tIns="109250" rIns="218500" bIns="109250" anchor="ctr" anchorCtr="0">
              <a:noAutofit/>
            </a:bodyPr>
            <a:lstStyle/>
            <a:p>
              <a:pPr marL="100858" marR="0" lvl="1" indent="-100858" algn="r" rtl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elvetica Neue Light"/>
                <a:buChar char="•"/>
              </a:pP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جمع البيانات الأولية ، من خلال معالجة الأنشطة ، و التعرف على البيانات ،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وتحديد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جودة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البيانات ،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واكتشاف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السمات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الداخلية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للبيانات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مع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اكتشاف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المجموعة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الفرعية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المثيرة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للاهتمام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لتشكيل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فرضية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المعلومات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الضمنية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.</a:t>
              </a:r>
              <a:b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</a:b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إنشاء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منظومة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البيانات الموحدة من البيانات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غير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المعالجة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و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تشمل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اختيار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الجداول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والسجلات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والخواص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،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بالإضافة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إلى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تحويل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وتنظيف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البيانات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لأدوات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النمذجة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.</a:t>
              </a:r>
              <a:endParaRPr sz="1400" b="1" u="none" strike="noStrike" cap="none" dirty="0">
                <a:solidFill>
                  <a:schemeClr val="dk1"/>
                </a:solidFill>
                <a:latin typeface="Tahoma" panose="020B0604030504040204" pitchFamily="34" charset="0"/>
                <a:ea typeface="ADLaM Display" panose="02010000000000000000" pitchFamily="2" charset="77"/>
                <a:cs typeface="ADLaM Display" panose="02010000000000000000" pitchFamily="2" charset="77"/>
                <a:sym typeface="Calibri"/>
              </a:endParaRPr>
            </a:p>
          </p:txBody>
        </p:sp>
        <p:sp>
          <p:nvSpPr>
            <p:cNvPr id="1112" name="Google Shape;1112;p2"/>
            <p:cNvSpPr/>
            <p:nvPr/>
          </p:nvSpPr>
          <p:spPr>
            <a:xfrm>
              <a:off x="0" y="96680"/>
              <a:ext cx="3339743" cy="995695"/>
            </a:xfrm>
            <a:prstGeom prst="roundRect">
              <a:avLst>
                <a:gd name="adj" fmla="val 16667"/>
              </a:avLst>
            </a:prstGeom>
            <a:solidFill>
              <a:srgbClr val="0065C0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0650" tIns="80650" rIns="80650" bIns="8065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 dirty="0">
                <a:solidFill>
                  <a:schemeClr val="dk1"/>
                </a:solidFill>
                <a:latin typeface="Tahoma" panose="020B0604030504040204" pitchFamily="34" charset="0"/>
                <a:ea typeface="ADLaM Display" panose="02010000000000000000" pitchFamily="2" charset="77"/>
                <a:cs typeface="ADLaM Display" panose="02010000000000000000" pitchFamily="2" charset="77"/>
                <a:sym typeface="Calibri"/>
              </a:endParaRPr>
            </a:p>
          </p:txBody>
        </p:sp>
        <p:sp>
          <p:nvSpPr>
            <p:cNvPr id="1113" name="Google Shape;1113;p2"/>
            <p:cNvSpPr txBox="1"/>
            <p:nvPr/>
          </p:nvSpPr>
          <p:spPr>
            <a:xfrm>
              <a:off x="48606" y="145286"/>
              <a:ext cx="3242531" cy="8984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0575" tIns="35275" rIns="70575" bIns="352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dirty="0">
                  <a:solidFill>
                    <a:schemeClr val="lt2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Data Analysis and Segmentation</a:t>
              </a:r>
              <a:endParaRPr sz="1600" b="1" dirty="0">
                <a:solidFill>
                  <a:schemeClr val="lt2"/>
                </a:solidFill>
                <a:latin typeface="Tahoma" panose="020B0604030504040204" pitchFamily="34" charset="0"/>
                <a:ea typeface="ADLaM Display" panose="02010000000000000000" pitchFamily="2" charset="77"/>
                <a:cs typeface="ADLaM Display" panose="02010000000000000000" pitchFamily="2" charset="77"/>
                <a:sym typeface="Calibri"/>
              </a:endParaRPr>
            </a:p>
          </p:txBody>
        </p:sp>
        <p:sp>
          <p:nvSpPr>
            <p:cNvPr id="1114" name="Google Shape;1114;p2"/>
            <p:cNvSpPr/>
            <p:nvPr/>
          </p:nvSpPr>
          <p:spPr>
            <a:xfrm rot="5400000">
              <a:off x="5615866" y="-958151"/>
              <a:ext cx="1385075" cy="5937321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CAD2E8">
                <a:alpha val="89411"/>
              </a:srgbClr>
            </a:solidFill>
            <a:ln w="25400" cap="flat" cmpd="sng">
              <a:solidFill>
                <a:srgbClr val="CAD2E8">
                  <a:alpha val="8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0650" tIns="80650" rIns="80650" bIns="8065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 dirty="0">
                <a:solidFill>
                  <a:schemeClr val="dk1"/>
                </a:solidFill>
                <a:latin typeface="Tahoma" panose="020B0604030504040204" pitchFamily="34" charset="0"/>
                <a:ea typeface="ADLaM Display" panose="02010000000000000000" pitchFamily="2" charset="77"/>
                <a:cs typeface="ADLaM Display" panose="02010000000000000000" pitchFamily="2" charset="77"/>
                <a:sym typeface="Calibri"/>
              </a:endParaRPr>
            </a:p>
          </p:txBody>
        </p:sp>
        <p:sp>
          <p:nvSpPr>
            <p:cNvPr id="1115" name="Google Shape;1115;p2"/>
            <p:cNvSpPr txBox="1"/>
            <p:nvPr/>
          </p:nvSpPr>
          <p:spPr>
            <a:xfrm>
              <a:off x="3339743" y="1385586"/>
              <a:ext cx="5869707" cy="12498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8500" tIns="109250" rIns="218500" bIns="109250" anchor="ctr" anchorCtr="0">
              <a:noAutofit/>
            </a:bodyPr>
            <a:lstStyle/>
            <a:p>
              <a:pPr marL="100858" marR="0" lvl="1" indent="-100858" algn="r" rtl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elvetica Neue Light"/>
                <a:buChar char="•"/>
              </a:pP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ااستخدام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تقنيات الذكاء الاصطناعي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في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اختيار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تقنيات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نماذج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مختلفة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وتطبيقها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،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وتعديل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معلمات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النموذج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إلى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أفضل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القيم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.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بشكل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عام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،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بما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يساعد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علي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إيجاد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حلول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فعالة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لمشكلة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التنقيب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في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البيانات. </a:t>
              </a:r>
              <a:endParaRPr sz="1400" b="1" u="none" strike="noStrike" cap="none" dirty="0">
                <a:solidFill>
                  <a:schemeClr val="dk1"/>
                </a:solidFill>
                <a:latin typeface="Tahoma" panose="020B0604030504040204" pitchFamily="34" charset="0"/>
                <a:ea typeface="ADLaM Display" panose="02010000000000000000" pitchFamily="2" charset="77"/>
                <a:cs typeface="ADLaM Display" panose="02010000000000000000" pitchFamily="2" charset="77"/>
                <a:sym typeface="Calibri"/>
              </a:endParaRPr>
            </a:p>
            <a:p>
              <a:pPr marL="100858" marR="0" lvl="1" indent="-100858" algn="r" rtl="1">
                <a:lnSpc>
                  <a:spcPct val="90000"/>
                </a:lnSpc>
                <a:spcBef>
                  <a:spcPts val="185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elvetica Neue Light"/>
                <a:buChar char="•"/>
              </a:pP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تحليل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السلاسل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الزمنية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و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التنبؤ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بالقيمة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المستقبلية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للسلسل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باستخدم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المتوسطات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المتحركة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لتحليل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السلاسل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الزمنية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إلى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مكونات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موسمية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واتجاهية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وغير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منتظمة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.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التعامل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مع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المكونات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الموسمية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المضافة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أو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المضاعفة</a:t>
              </a:r>
              <a:r>
                <a:rPr lang="en-US" sz="1400" b="1" u="none" strike="noStrike" cap="none" dirty="0">
                  <a:solidFill>
                    <a:schemeClr val="dk1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.</a:t>
              </a:r>
              <a:endParaRPr sz="1400" b="1" u="none" strike="noStrike" cap="none" dirty="0">
                <a:solidFill>
                  <a:schemeClr val="dk1"/>
                </a:solidFill>
                <a:latin typeface="Tahoma" panose="020B0604030504040204" pitchFamily="34" charset="0"/>
                <a:ea typeface="ADLaM Display" panose="02010000000000000000" pitchFamily="2" charset="77"/>
                <a:cs typeface="ADLaM Display" panose="02010000000000000000" pitchFamily="2" charset="77"/>
                <a:sym typeface="Calibri"/>
              </a:endParaRPr>
            </a:p>
            <a:p>
              <a:pPr marL="100858" marR="0" lvl="1" indent="-22412" algn="r" rtl="0">
                <a:lnSpc>
                  <a:spcPct val="90000"/>
                </a:lnSpc>
                <a:spcBef>
                  <a:spcPts val="185"/>
                </a:spcBef>
                <a:spcAft>
                  <a:spcPts val="0"/>
                </a:spcAft>
                <a:buNone/>
              </a:pPr>
              <a:endParaRPr sz="1400" b="1" u="none" strike="noStrike" cap="none" dirty="0">
                <a:solidFill>
                  <a:schemeClr val="dk1"/>
                </a:solidFill>
                <a:latin typeface="Tahoma" panose="020B0604030504040204" pitchFamily="34" charset="0"/>
                <a:ea typeface="ADLaM Display" panose="02010000000000000000" pitchFamily="2" charset="77"/>
                <a:cs typeface="ADLaM Display" panose="02010000000000000000" pitchFamily="2" charset="77"/>
                <a:sym typeface="Calibri"/>
              </a:endParaRPr>
            </a:p>
          </p:txBody>
        </p:sp>
        <p:sp>
          <p:nvSpPr>
            <p:cNvPr id="1116" name="Google Shape;1116;p2"/>
            <p:cNvSpPr/>
            <p:nvPr/>
          </p:nvSpPr>
          <p:spPr>
            <a:xfrm>
              <a:off x="0" y="1295401"/>
              <a:ext cx="3339743" cy="995695"/>
            </a:xfrm>
            <a:prstGeom prst="roundRect">
              <a:avLst>
                <a:gd name="adj" fmla="val 16667"/>
              </a:avLst>
            </a:prstGeom>
            <a:solidFill>
              <a:srgbClr val="0065C0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0650" tIns="80650" rIns="80650" bIns="8065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 dirty="0">
                <a:solidFill>
                  <a:schemeClr val="dk1"/>
                </a:solidFill>
                <a:latin typeface="Tahoma" panose="020B0604030504040204" pitchFamily="34" charset="0"/>
                <a:ea typeface="ADLaM Display" panose="02010000000000000000" pitchFamily="2" charset="77"/>
                <a:cs typeface="ADLaM Display" panose="02010000000000000000" pitchFamily="2" charset="77"/>
                <a:sym typeface="Calibri"/>
              </a:endParaRPr>
            </a:p>
          </p:txBody>
        </p:sp>
        <p:sp>
          <p:nvSpPr>
            <p:cNvPr id="1117" name="Google Shape;1117;p2"/>
            <p:cNvSpPr txBox="1"/>
            <p:nvPr/>
          </p:nvSpPr>
          <p:spPr>
            <a:xfrm>
              <a:off x="48606" y="1346878"/>
              <a:ext cx="3242531" cy="8984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0575" tIns="35275" rIns="70575" bIns="352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dirty="0">
                  <a:solidFill>
                    <a:schemeClr val="lt2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Predictive Forecasting Models</a:t>
              </a:r>
              <a:endParaRPr sz="1600" b="1" dirty="0">
                <a:solidFill>
                  <a:schemeClr val="lt2"/>
                </a:solidFill>
                <a:latin typeface="Tahoma" panose="020B0604030504040204" pitchFamily="34" charset="0"/>
                <a:ea typeface="ADLaM Display" panose="02010000000000000000" pitchFamily="2" charset="77"/>
                <a:cs typeface="ADLaM Display" panose="02010000000000000000" pitchFamily="2" charset="77"/>
                <a:sym typeface="Calibri"/>
              </a:endParaRPr>
            </a:p>
          </p:txBody>
        </p:sp>
        <p:sp>
          <p:nvSpPr>
            <p:cNvPr id="1118" name="Google Shape;1118;p2"/>
            <p:cNvSpPr/>
            <p:nvPr/>
          </p:nvSpPr>
          <p:spPr>
            <a:xfrm rot="5400000">
              <a:off x="5929706" y="302256"/>
              <a:ext cx="769728" cy="5943125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CAD2E8">
                <a:alpha val="89411"/>
              </a:srgbClr>
            </a:solidFill>
            <a:ln w="25400" cap="flat" cmpd="sng">
              <a:solidFill>
                <a:srgbClr val="CAD2E8">
                  <a:alpha val="8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0650" tIns="80650" rIns="80650" bIns="8065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 dirty="0">
                <a:solidFill>
                  <a:schemeClr val="dk1"/>
                </a:solidFill>
                <a:latin typeface="Tahoma" panose="020B0604030504040204" pitchFamily="34" charset="0"/>
                <a:ea typeface="ADLaM Display" panose="02010000000000000000" pitchFamily="2" charset="77"/>
                <a:cs typeface="ADLaM Display" panose="02010000000000000000" pitchFamily="2" charset="77"/>
                <a:sym typeface="Calibri"/>
              </a:endParaRPr>
            </a:p>
          </p:txBody>
        </p:sp>
        <p:sp>
          <p:nvSpPr>
            <p:cNvPr id="1119" name="Google Shape;1119;p2"/>
            <p:cNvSpPr txBox="1"/>
            <p:nvPr/>
          </p:nvSpPr>
          <p:spPr>
            <a:xfrm>
              <a:off x="3343008" y="2926530"/>
              <a:ext cx="5905550" cy="6945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8500" tIns="109250" rIns="218500" bIns="109250" anchor="ctr" anchorCtr="0">
              <a:noAutofit/>
            </a:bodyPr>
            <a:lstStyle/>
            <a:p>
              <a:pPr marL="100858" marR="0" lvl="1" indent="-100858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•"/>
              </a:pP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اعداد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القواعد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المعرفية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في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النظم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الخبيرة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هي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مزيج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من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الخصائص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والقوانين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ونتائج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الخبرة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المكتسبة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والمعلومات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الدقيقة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والادراك</a:t>
              </a:r>
              <a:endParaRPr sz="1400" b="1" u="none" strike="noStrike" cap="none" dirty="0">
                <a:solidFill>
                  <a:srgbClr val="000000"/>
                </a:solidFill>
                <a:latin typeface="Tahoma" panose="020B0604030504040204" pitchFamily="34" charset="0"/>
                <a:ea typeface="ADLaM Display" panose="02010000000000000000" pitchFamily="2" charset="77"/>
                <a:cs typeface="ADLaM Display" panose="02010000000000000000" pitchFamily="2" charset="77"/>
                <a:sym typeface="Calibri"/>
              </a:endParaRPr>
            </a:p>
            <a:p>
              <a:pPr marL="100858" marR="0" lvl="1" indent="-100858" algn="r" rtl="1">
                <a:lnSpc>
                  <a:spcPct val="90000"/>
                </a:lnSpc>
                <a:spcBef>
                  <a:spcPts val="185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•"/>
              </a:pP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استخدام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برامج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الذكاء الاصطناعي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للوصول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إلى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استنباط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الظواهر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و 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الأنماط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الغير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الطبيعية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في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البيانات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 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و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احتمال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مخالفتها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للقوانين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و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المحددات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  من خلال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المسارات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داخل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قاعدة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المعرفة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endParaRPr sz="1600" b="1" u="none" strike="noStrike" cap="none" dirty="0">
                <a:solidFill>
                  <a:schemeClr val="dk1"/>
                </a:solidFill>
                <a:latin typeface="Tahoma" panose="020B0604030504040204" pitchFamily="34" charset="0"/>
                <a:ea typeface="ADLaM Display" panose="02010000000000000000" pitchFamily="2" charset="77"/>
                <a:cs typeface="ADLaM Display" panose="02010000000000000000" pitchFamily="2" charset="77"/>
                <a:sym typeface="Calibri"/>
              </a:endParaRPr>
            </a:p>
          </p:txBody>
        </p:sp>
        <p:sp>
          <p:nvSpPr>
            <p:cNvPr id="1120" name="Google Shape;1120;p2"/>
            <p:cNvSpPr/>
            <p:nvPr/>
          </p:nvSpPr>
          <p:spPr>
            <a:xfrm>
              <a:off x="0" y="2504441"/>
              <a:ext cx="3343007" cy="995695"/>
            </a:xfrm>
            <a:prstGeom prst="roundRect">
              <a:avLst>
                <a:gd name="adj" fmla="val 16667"/>
              </a:avLst>
            </a:prstGeom>
            <a:solidFill>
              <a:srgbClr val="0065C0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0650" tIns="80650" rIns="80650" bIns="8065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 dirty="0">
                <a:solidFill>
                  <a:schemeClr val="dk1"/>
                </a:solidFill>
                <a:latin typeface="Tahoma" panose="020B0604030504040204" pitchFamily="34" charset="0"/>
                <a:ea typeface="ADLaM Display" panose="02010000000000000000" pitchFamily="2" charset="77"/>
                <a:cs typeface="ADLaM Display" panose="02010000000000000000" pitchFamily="2" charset="77"/>
                <a:sym typeface="Calibri"/>
              </a:endParaRPr>
            </a:p>
          </p:txBody>
        </p:sp>
        <p:sp>
          <p:nvSpPr>
            <p:cNvPr id="1121" name="Google Shape;1121;p2"/>
            <p:cNvSpPr txBox="1"/>
            <p:nvPr/>
          </p:nvSpPr>
          <p:spPr>
            <a:xfrm>
              <a:off x="48606" y="2418081"/>
              <a:ext cx="3245795" cy="8984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0575" tIns="35275" rIns="70575" bIns="352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dirty="0">
                  <a:solidFill>
                    <a:schemeClr val="lt2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br>
                <a:rPr lang="en-US" sz="2000" b="1" dirty="0">
                  <a:solidFill>
                    <a:schemeClr val="lt2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</a:br>
              <a:r>
                <a:rPr lang="en-US" sz="2000" b="1" dirty="0">
                  <a:solidFill>
                    <a:schemeClr val="lt2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Anomaly &amp; Fraud Detection</a:t>
              </a:r>
              <a:endParaRPr sz="1600" b="1" dirty="0">
                <a:solidFill>
                  <a:schemeClr val="lt2"/>
                </a:solidFill>
                <a:latin typeface="Tahoma" panose="020B0604030504040204" pitchFamily="34" charset="0"/>
                <a:ea typeface="ADLaM Display" panose="02010000000000000000" pitchFamily="2" charset="77"/>
                <a:cs typeface="ADLaM Display" panose="02010000000000000000" pitchFamily="2" charset="77"/>
                <a:sym typeface="Calibri"/>
              </a:endParaRPr>
            </a:p>
          </p:txBody>
        </p:sp>
        <p:sp>
          <p:nvSpPr>
            <p:cNvPr id="1122" name="Google Shape;1122;p2"/>
            <p:cNvSpPr/>
            <p:nvPr/>
          </p:nvSpPr>
          <p:spPr>
            <a:xfrm rot="5400000">
              <a:off x="5916292" y="1244248"/>
              <a:ext cx="796556" cy="5943125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CAD2E8">
                <a:alpha val="89411"/>
              </a:srgbClr>
            </a:solidFill>
            <a:ln w="25400" cap="flat" cmpd="sng">
              <a:solidFill>
                <a:srgbClr val="CAD2E8">
                  <a:alpha val="8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0650" tIns="80650" rIns="80650" bIns="8065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 dirty="0">
                <a:solidFill>
                  <a:schemeClr val="dk1"/>
                </a:solidFill>
                <a:latin typeface="Tahoma" panose="020B0604030504040204" pitchFamily="34" charset="0"/>
                <a:ea typeface="ADLaM Display" panose="02010000000000000000" pitchFamily="2" charset="77"/>
                <a:cs typeface="ADLaM Display" panose="02010000000000000000" pitchFamily="2" charset="77"/>
                <a:sym typeface="Calibri"/>
              </a:endParaRPr>
            </a:p>
          </p:txBody>
        </p:sp>
        <p:sp>
          <p:nvSpPr>
            <p:cNvPr id="1123" name="Google Shape;1123;p2"/>
            <p:cNvSpPr txBox="1"/>
            <p:nvPr/>
          </p:nvSpPr>
          <p:spPr>
            <a:xfrm>
              <a:off x="3343008" y="3856418"/>
              <a:ext cx="5904240" cy="7187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8500" tIns="109250" rIns="218500" bIns="109250" anchor="ctr" anchorCtr="0">
              <a:noAutofit/>
            </a:bodyPr>
            <a:lstStyle/>
            <a:p>
              <a:pPr marL="100858" marR="0" lvl="1" indent="-22412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u="none" strike="noStrike" cap="none" dirty="0">
                <a:solidFill>
                  <a:schemeClr val="dk1"/>
                </a:solidFill>
                <a:latin typeface="Tahoma" panose="020B0604030504040204" pitchFamily="34" charset="0"/>
                <a:ea typeface="ADLaM Display" panose="02010000000000000000" pitchFamily="2" charset="77"/>
                <a:cs typeface="ADLaM Display" panose="02010000000000000000" pitchFamily="2" charset="77"/>
                <a:sym typeface="Calibri"/>
              </a:endParaRPr>
            </a:p>
            <a:p>
              <a:pPr marL="100858" marR="0" lvl="1" indent="-100858" algn="r" rtl="1">
                <a:lnSpc>
                  <a:spcPct val="90000"/>
                </a:lnSpc>
                <a:spcBef>
                  <a:spcPts val="185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•"/>
              </a:pP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حل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المشاكل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الجديدة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،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والتخطيط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،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واتخاذ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القرارات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والقدرة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على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التعامل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مع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المشاكل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غير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المتوقعة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واستخلاص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النتائج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باستخدام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المعلومات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المخزنة</a:t>
              </a:r>
              <a:endParaRPr sz="1400" b="1" u="none" strike="noStrike" cap="none" dirty="0">
                <a:solidFill>
                  <a:srgbClr val="000000"/>
                </a:solidFill>
                <a:latin typeface="Tahoma" panose="020B0604030504040204" pitchFamily="34" charset="0"/>
                <a:ea typeface="ADLaM Display" panose="02010000000000000000" pitchFamily="2" charset="77"/>
                <a:cs typeface="ADLaM Display" panose="02010000000000000000" pitchFamily="2" charset="77"/>
                <a:sym typeface="Calibri"/>
              </a:endParaRPr>
            </a:p>
            <a:p>
              <a:pPr marL="100858" marR="0" lvl="1" indent="-100858" algn="r" rtl="0">
                <a:lnSpc>
                  <a:spcPct val="90000"/>
                </a:lnSpc>
                <a:spcBef>
                  <a:spcPts val="185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•"/>
              </a:pP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محاكاة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النتائج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المستقبلية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و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الوصول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الي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افضل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البدائل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لتعظيم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العائد</a:t>
              </a:r>
              <a:r>
                <a:rPr lang="en-US" sz="1400" b="1" u="none" strike="noStrike" cap="none" dirty="0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 من </a:t>
              </a:r>
              <a:r>
                <a:rPr lang="en-US" sz="1400" b="1" u="none" strike="noStrike" cap="none" dirty="0" err="1">
                  <a:solidFill>
                    <a:srgbClr val="000000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المشروع</a:t>
              </a:r>
              <a:endParaRPr sz="1400" b="1" u="none" strike="noStrike" cap="none" dirty="0">
                <a:solidFill>
                  <a:srgbClr val="000000"/>
                </a:solidFill>
                <a:latin typeface="Tahoma" panose="020B0604030504040204" pitchFamily="34" charset="0"/>
                <a:ea typeface="ADLaM Display" panose="02010000000000000000" pitchFamily="2" charset="77"/>
                <a:cs typeface="ADLaM Display" panose="02010000000000000000" pitchFamily="2" charset="77"/>
                <a:sym typeface="Calibri"/>
              </a:endParaRPr>
            </a:p>
          </p:txBody>
        </p:sp>
        <p:sp>
          <p:nvSpPr>
            <p:cNvPr id="1124" name="Google Shape;1124;p2"/>
            <p:cNvSpPr/>
            <p:nvPr/>
          </p:nvSpPr>
          <p:spPr>
            <a:xfrm>
              <a:off x="0" y="3717963"/>
              <a:ext cx="3343007" cy="995695"/>
            </a:xfrm>
            <a:prstGeom prst="roundRect">
              <a:avLst>
                <a:gd name="adj" fmla="val 16667"/>
              </a:avLst>
            </a:prstGeom>
            <a:solidFill>
              <a:srgbClr val="0065C0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0650" tIns="80650" rIns="80650" bIns="8065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 dirty="0">
                <a:solidFill>
                  <a:schemeClr val="dk1"/>
                </a:solidFill>
                <a:latin typeface="Tahoma" panose="020B0604030504040204" pitchFamily="34" charset="0"/>
                <a:ea typeface="ADLaM Display" panose="02010000000000000000" pitchFamily="2" charset="77"/>
                <a:cs typeface="ADLaM Display" panose="02010000000000000000" pitchFamily="2" charset="77"/>
                <a:sym typeface="Calibri"/>
              </a:endParaRPr>
            </a:p>
          </p:txBody>
        </p:sp>
        <p:sp>
          <p:nvSpPr>
            <p:cNvPr id="1125" name="Google Shape;1125;p2"/>
            <p:cNvSpPr txBox="1"/>
            <p:nvPr/>
          </p:nvSpPr>
          <p:spPr>
            <a:xfrm>
              <a:off x="48606" y="3766569"/>
              <a:ext cx="3245795" cy="8984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0575" tIns="35275" rIns="70575" bIns="352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-US" sz="2000" b="1" dirty="0">
                  <a:solidFill>
                    <a:schemeClr val="lt2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</a:br>
              <a:r>
                <a:rPr lang="en-US" sz="2000" b="1" dirty="0">
                  <a:solidFill>
                    <a:schemeClr val="lt2"/>
                  </a:solidFill>
                  <a:latin typeface="Tahoma" panose="020B0604030504040204" pitchFamily="34" charset="0"/>
                  <a:ea typeface="ADLaM Display" panose="02010000000000000000" pitchFamily="2" charset="77"/>
                  <a:cs typeface="ADLaM Display" panose="02010000000000000000" pitchFamily="2" charset="77"/>
                  <a:sym typeface="Calibri"/>
                </a:rPr>
                <a:t>Decision Optimization &amp; What-If-Scenarios</a:t>
              </a:r>
              <a:endParaRPr sz="1600" b="1" dirty="0">
                <a:solidFill>
                  <a:schemeClr val="lt2"/>
                </a:solidFill>
                <a:latin typeface="Tahoma" panose="020B0604030504040204" pitchFamily="34" charset="0"/>
                <a:ea typeface="ADLaM Display" panose="02010000000000000000" pitchFamily="2" charset="77"/>
                <a:cs typeface="ADLaM Display" panose="02010000000000000000" pitchFamily="2" charset="77"/>
                <a:sym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5F3818B-831F-24F2-65A7-4ABBF93A0A85}"/>
              </a:ext>
            </a:extLst>
          </p:cNvPr>
          <p:cNvSpPr txBox="1"/>
          <p:nvPr/>
        </p:nvSpPr>
        <p:spPr>
          <a:xfrm>
            <a:off x="2351375" y="325216"/>
            <a:ext cx="7548926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/>
            <a:r>
              <a:rPr lang="en-US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Unified Data/AI Platform</a:t>
            </a:r>
            <a:br>
              <a:rPr lang="en-US" sz="3000" b="1" dirty="0">
                <a:solidFill>
                  <a:srgbClr val="1F3B5C"/>
                </a:solidFill>
                <a:latin typeface="Tahoma" panose="020B0604030504040204" pitchFamily="34" charset="0"/>
              </a:rPr>
            </a:br>
            <a:r>
              <a:rPr lang="ar-EG" sz="3000" b="1" dirty="0">
                <a:solidFill>
                  <a:srgbClr val="1F3B5C"/>
                </a:solidFill>
                <a:latin typeface="Tahoma" panose="020B0604030504040204" pitchFamily="34" charset="0"/>
                <a:cs typeface="ADLaM Display" panose="02010000000000000000" pitchFamily="2" charset="77"/>
              </a:rPr>
              <a:t>تقنيات معالجة منصة البيانات الموحدة و الذكاء الاصطناعي </a:t>
            </a:r>
            <a:br>
              <a:rPr lang="ar-EG" sz="3000" b="1" dirty="0">
                <a:solidFill>
                  <a:srgbClr val="1F3B5C"/>
                </a:solidFill>
                <a:latin typeface="Tahoma" panose="020B0604030504040204" pitchFamily="34" charset="0"/>
                <a:cs typeface="ADLaM Display" panose="02010000000000000000" pitchFamily="2" charset="77"/>
              </a:rPr>
            </a:br>
            <a:br>
              <a:rPr lang="ar-EG" sz="3000" b="1" dirty="0">
                <a:solidFill>
                  <a:srgbClr val="1F3B5C"/>
                </a:solidFill>
                <a:latin typeface="Tahoma" panose="020B0604030504040204" pitchFamily="34" charset="0"/>
                <a:cs typeface="ADLaM Display" panose="02010000000000000000" pitchFamily="2" charset="77"/>
              </a:rPr>
            </a:br>
            <a:endParaRPr sz="30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C552F22-B39C-EAE0-0310-8E36D7B478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6" r="-1" b="-1"/>
          <a:stretch>
            <a:fillRect/>
          </a:stretch>
        </p:blipFill>
        <p:spPr>
          <a:xfrm>
            <a:off x="20" y="1068779"/>
            <a:ext cx="12191980" cy="578922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879DAE9-684F-A9F9-3A82-A101A7F45EEC}"/>
              </a:ext>
            </a:extLst>
          </p:cNvPr>
          <p:cNvSpPr/>
          <p:nvPr/>
        </p:nvSpPr>
        <p:spPr>
          <a:xfrm>
            <a:off x="0" y="0"/>
            <a:ext cx="12191695" cy="127066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BD8793-3339-0516-8613-7B5528778995}"/>
              </a:ext>
            </a:extLst>
          </p:cNvPr>
          <p:cNvSpPr txBox="1"/>
          <p:nvPr/>
        </p:nvSpPr>
        <p:spPr>
          <a:xfrm>
            <a:off x="2351375" y="325216"/>
            <a:ext cx="7548926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/>
            <a:r>
              <a:rPr lang="en-US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Unified Data/AI Platform</a:t>
            </a:r>
            <a:br>
              <a:rPr lang="en-US" sz="3000" b="1" dirty="0">
                <a:solidFill>
                  <a:srgbClr val="1F3B5C"/>
                </a:solidFill>
                <a:latin typeface="Tahoma" panose="020B0604030504040204" pitchFamily="34" charset="0"/>
              </a:rPr>
            </a:br>
            <a:r>
              <a:rPr lang="ar-EG" sz="3000" b="1" dirty="0">
                <a:solidFill>
                  <a:srgbClr val="1F3B5C"/>
                </a:solidFill>
                <a:latin typeface="Tahoma" panose="020B0604030504040204" pitchFamily="34" charset="0"/>
                <a:cs typeface="ADLaM Display" panose="02010000000000000000" pitchFamily="2" charset="77"/>
              </a:rPr>
              <a:t>تقنيات معالجة منصة البيانات الموحدة و الذكاء الاصطناعي </a:t>
            </a:r>
            <a:br>
              <a:rPr lang="ar-EG" sz="3000" b="1" dirty="0">
                <a:solidFill>
                  <a:srgbClr val="1F3B5C"/>
                </a:solidFill>
                <a:latin typeface="Tahoma" panose="020B0604030504040204" pitchFamily="34" charset="0"/>
                <a:cs typeface="ADLaM Display" panose="02010000000000000000" pitchFamily="2" charset="77"/>
              </a:rPr>
            </a:br>
            <a:br>
              <a:rPr lang="ar-EG" sz="3000" b="1" dirty="0">
                <a:solidFill>
                  <a:srgbClr val="1F3B5C"/>
                </a:solidFill>
                <a:latin typeface="Tahoma" panose="020B0604030504040204" pitchFamily="34" charset="0"/>
                <a:cs typeface="ADLaM Display" panose="02010000000000000000" pitchFamily="2" charset="77"/>
              </a:rPr>
            </a:br>
            <a:endParaRPr sz="30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600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95429" y="137160"/>
            <a:ext cx="871745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طيف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البيانات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والتنسيقات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Data Spectrum &amp; Formats</a:t>
            </a:r>
            <a:r>
              <a:rPr lang="en-US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endParaRPr sz="30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3520440" cy="96012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مهيكلة</a:t>
            </a:r>
            <a:endParaRPr sz="24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Structured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468880"/>
            <a:ext cx="352044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جداول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Tables</a:t>
            </a:r>
            <a:r>
              <a:rPr lang="en-US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CSV </a:t>
            </a:r>
            <a:r>
              <a:rPr lang="en-EG" sz="16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lang="en-US" sz="1600" b="1" dirty="0">
                <a:solidFill>
                  <a:srgbClr val="666666"/>
                </a:solidFill>
                <a:latin typeface="Tahoma" panose="020B0604030504040204" pitchFamily="34" charset="0"/>
              </a:rPr>
              <a:t>Databases</a:t>
            </a:r>
            <a:endParaRPr sz="1600" b="1" dirty="0">
              <a:solidFill>
                <a:srgbClr val="666666"/>
              </a:solidFill>
              <a:latin typeface="Tahoma" panose="020B060403050404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343400" y="1325880"/>
            <a:ext cx="3520440" cy="96012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شبه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مهيكلة</a:t>
            </a:r>
            <a:endParaRPr sz="24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Semi-structured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468880"/>
            <a:ext cx="352044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سجلات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مرنة</a:t>
            </a:r>
            <a:r>
              <a:rPr lang="en-US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Flexible records</a:t>
            </a:r>
            <a:r>
              <a:rPr lang="en-US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JSON </a:t>
            </a:r>
            <a:r>
              <a:rPr lang="en-EG" sz="16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 Avro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25880"/>
            <a:ext cx="3520440" cy="96012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غير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مهيكلة</a:t>
            </a:r>
            <a:endParaRPr sz="24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Unstructured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468880"/>
            <a:ext cx="352044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نصوص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وصور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وصوت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Text, images, audio</a:t>
            </a:r>
          </a:p>
          <a:p>
            <a:pPr algn="ctr" rtl="0"/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PDF </a:t>
            </a:r>
            <a:r>
              <a:rPr lang="en-EG" sz="16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 JPG </a:t>
            </a:r>
            <a:r>
              <a:rPr lang="en-EG" sz="16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 MP3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4160520"/>
            <a:ext cx="9235440" cy="77724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اختر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التنسيق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حسب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الاستخدام</a:t>
            </a: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تبادل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بسيط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←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تحليلات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سريعة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←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محتوى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غني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Choose the format for the job</a:t>
            </a:r>
            <a:r>
              <a:rPr lang="en-EG" sz="16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 simple exchange ← fast analytics ← rich content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26B47-EA90-A816-1693-536CF1BB8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26E26B-ADDC-0853-F96F-7600EE1429E5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78BC2-D12B-1293-DB0F-51ADF14B244E}"/>
              </a:ext>
            </a:extLst>
          </p:cNvPr>
          <p:cNvSpPr txBox="1"/>
          <p:nvPr/>
        </p:nvSpPr>
        <p:spPr>
          <a:xfrm>
            <a:off x="640080" y="18288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EG" sz="3200" b="1" dirty="0">
                <a:solidFill>
                  <a:srgbClr val="1F3B5C"/>
                </a:solidFill>
                <a:latin typeface="Tahoma" panose="020B0604030504040204" pitchFamily="34" charset="0"/>
                <a:cs typeface="ADLaM Display" panose="02010000000000000000" pitchFamily="2" charset="77"/>
              </a:rPr>
              <a:t>مسارات 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ETL </a:t>
            </a:r>
            <a:r>
              <a:rPr lang="en-US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&amp;</a:t>
            </a:r>
            <a:r>
              <a:rPr lang="en-EG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ELT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B5C327-9812-16E3-0E08-7897C90B570C}"/>
              </a:ext>
            </a:extLst>
          </p:cNvPr>
          <p:cNvSpPr txBox="1"/>
          <p:nvPr/>
        </p:nvSpPr>
        <p:spPr>
          <a:xfrm>
            <a:off x="640080" y="1280160"/>
            <a:ext cx="109728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US" sz="28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8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US" sz="28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800" b="1" dirty="0">
                <a:solidFill>
                  <a:srgbClr val="333333"/>
                </a:solidFill>
                <a:latin typeface="Tahoma" panose="020B0604030504040204" pitchFamily="34" charset="0"/>
              </a:rPr>
              <a:t> ETL</a:t>
            </a:r>
            <a:r>
              <a:rPr lang="en-EG" sz="28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8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8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التحويل</a:t>
            </a:r>
            <a:r>
              <a:rPr sz="28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8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قبل</a:t>
            </a:r>
            <a:r>
              <a:rPr sz="28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8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التحميل</a:t>
            </a:r>
            <a:r>
              <a:rPr sz="2800" b="1" dirty="0">
                <a:solidFill>
                  <a:srgbClr val="333333"/>
                </a:solidFill>
                <a:latin typeface="Tahoma" panose="020B0604030504040204" pitchFamily="34" charset="0"/>
              </a:rPr>
              <a:t>؛ </a:t>
            </a:r>
            <a:endParaRPr lang="en-US" sz="28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US" sz="2800" b="1" dirty="0">
                <a:solidFill>
                  <a:srgbClr val="333333"/>
                </a:solidFill>
                <a:latin typeface="Tahoma" panose="020B0604030504040204" pitchFamily="34" charset="0"/>
              </a:rPr>
              <a:t>   </a:t>
            </a:r>
            <a:r>
              <a:rPr sz="2800" b="1" dirty="0">
                <a:solidFill>
                  <a:srgbClr val="333333"/>
                </a:solidFill>
                <a:latin typeface="Tahoma" panose="020B0604030504040204" pitchFamily="34" charset="0"/>
              </a:rPr>
              <a:t>ELT</a:t>
            </a:r>
            <a:r>
              <a:rPr lang="en-EG" sz="28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28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التحميل</a:t>
            </a:r>
            <a:r>
              <a:rPr sz="28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8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أولاً</a:t>
            </a:r>
            <a:r>
              <a:rPr sz="28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8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ثم</a:t>
            </a:r>
            <a:r>
              <a:rPr sz="28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8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التحويل</a:t>
            </a:r>
            <a:r>
              <a:rPr sz="28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8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داخل</a:t>
            </a:r>
            <a:r>
              <a:rPr sz="28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8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المنصة</a:t>
            </a:r>
            <a:r>
              <a:rPr sz="28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8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المستهدفة</a:t>
            </a:r>
            <a:r>
              <a:rPr sz="2800" b="1" dirty="0">
                <a:solidFill>
                  <a:srgbClr val="333333"/>
                </a:solidFill>
                <a:latin typeface="Tahoma" panose="020B0604030504040204" pitchFamily="34" charset="0"/>
              </a:rPr>
              <a:t>.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lang="en-EG" sz="24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666666"/>
                </a:solidFill>
                <a:latin typeface="Tahoma" panose="020B0604030504040204" pitchFamily="34" charset="0"/>
              </a:rPr>
              <a:t> ETL</a:t>
            </a:r>
            <a:r>
              <a:rPr lang="en-EG" sz="24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666666"/>
                </a:solidFill>
                <a:latin typeface="Tahoma" panose="020B0604030504040204" pitchFamily="34" charset="0"/>
              </a:rPr>
              <a:t> transform before loading; ELT</a:t>
            </a:r>
            <a:r>
              <a:rPr lang="en-EG" sz="24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666666"/>
                </a:solidFill>
                <a:latin typeface="Tahoma" panose="020B0604030504040204" pitchFamily="34" charset="0"/>
              </a:rPr>
              <a:t> load first, transform inside the target platform.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endParaRPr lang="en-US" sz="28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EG" sz="28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lang="en-US" sz="28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2800" b="1" dirty="0">
                <a:solidFill>
                  <a:srgbClr val="333333"/>
                </a:solidFill>
                <a:latin typeface="Tahoma" panose="020B0604030504040204" pitchFamily="34" charset="0"/>
              </a:rPr>
              <a:t> ELT </a:t>
            </a:r>
            <a:r>
              <a:rPr sz="28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هو</a:t>
            </a:r>
            <a:r>
              <a:rPr sz="28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8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النمط</a:t>
            </a:r>
            <a:r>
              <a:rPr sz="28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8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السائد</a:t>
            </a:r>
            <a:r>
              <a:rPr sz="28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8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في</a:t>
            </a:r>
            <a:r>
              <a:rPr sz="28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8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بيئات</a:t>
            </a:r>
            <a:r>
              <a:rPr sz="2800" b="1" dirty="0">
                <a:solidFill>
                  <a:srgbClr val="333333"/>
                </a:solidFill>
                <a:latin typeface="Tahoma" panose="020B0604030504040204" pitchFamily="34" charset="0"/>
              </a:rPr>
              <a:t> Lakehouse </a:t>
            </a:r>
            <a:r>
              <a:rPr sz="28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الحديثة</a:t>
            </a:r>
            <a:r>
              <a:rPr sz="2800" b="1" dirty="0">
                <a:solidFill>
                  <a:srgbClr val="333333"/>
                </a:solidFill>
                <a:latin typeface="Tahoma" panose="020B0604030504040204" pitchFamily="34" charset="0"/>
              </a:rPr>
              <a:t>.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lang="en-EG" sz="24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666666"/>
                </a:solidFill>
                <a:latin typeface="Tahoma" panose="020B0604030504040204" pitchFamily="34" charset="0"/>
              </a:rPr>
              <a:t> ELT is the dominant pattern in modern </a:t>
            </a:r>
            <a:r>
              <a:rPr sz="2400" b="1" dirty="0" err="1">
                <a:solidFill>
                  <a:srgbClr val="666666"/>
                </a:solidFill>
                <a:latin typeface="Tahoma" panose="020B0604030504040204" pitchFamily="34" charset="0"/>
              </a:rPr>
              <a:t>lakehouse</a:t>
            </a:r>
            <a:r>
              <a:rPr sz="2400" b="1" dirty="0">
                <a:solidFill>
                  <a:srgbClr val="666666"/>
                </a:solidFill>
                <a:latin typeface="Tahoma" panose="020B0604030504040204" pitchFamily="34" charset="0"/>
              </a:rPr>
              <a:t> environments.</a:t>
            </a:r>
          </a:p>
        </p:txBody>
      </p:sp>
    </p:spTree>
    <p:extLst>
      <p:ext uri="{BB962C8B-B14F-4D97-AF65-F5344CB8AC3E}">
        <p14:creationId xmlns:p14="http://schemas.microsoft.com/office/powerpoint/2010/main" val="562969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مقارنة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أنماط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المعالجة</a:t>
            </a:r>
            <a:r>
              <a:rPr lang="en-US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Processing Patterns</a:t>
            </a:r>
            <a:r>
              <a:rPr lang="en-US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endParaRPr sz="32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US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المعمارية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المتدرِّجة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Medallion </a:t>
            </a: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Lakehouse</a:t>
            </a: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 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endParaRPr lang="en-US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Bronze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خام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→ Silver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منقَّى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→ Gold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جاهز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للتحليل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؛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إدارة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مركزية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؛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الأنسب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للتحليلات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وخطوط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AI</a:t>
            </a: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ML</a:t>
            </a: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RAG.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lang="en-EG" sz="14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400" b="1" dirty="0">
                <a:solidFill>
                  <a:srgbClr val="666666"/>
                </a:solidFill>
                <a:latin typeface="Tahoma" panose="020B0604030504040204" pitchFamily="34" charset="0"/>
              </a:rPr>
              <a:t> Medallion </a:t>
            </a:r>
            <a:r>
              <a:rPr lang="en-EG" sz="1400" b="1" dirty="0">
                <a:solidFill>
                  <a:srgbClr val="666666"/>
                </a:solidFill>
                <a:latin typeface="Tahoma" panose="020B0604030504040204" pitchFamily="34" charset="0"/>
              </a:rPr>
              <a:t>  </a:t>
            </a:r>
            <a:r>
              <a:rPr sz="1400" b="1" dirty="0">
                <a:solidFill>
                  <a:srgbClr val="666666"/>
                </a:solidFill>
                <a:latin typeface="Tahoma" panose="020B0604030504040204" pitchFamily="34" charset="0"/>
              </a:rPr>
              <a:t>Lakehouse</a:t>
            </a:r>
            <a:r>
              <a:rPr lang="en-EG" sz="1400" b="1" dirty="0">
                <a:solidFill>
                  <a:srgbClr val="666666"/>
                </a:solidFill>
                <a:latin typeface="Tahoma" panose="020B0604030504040204" pitchFamily="34" charset="0"/>
              </a:rPr>
              <a:t>   </a:t>
            </a:r>
            <a:r>
              <a:rPr sz="1400" b="1" dirty="0">
                <a:solidFill>
                  <a:srgbClr val="666666"/>
                </a:solidFill>
                <a:latin typeface="Tahoma" panose="020B0604030504040204" pitchFamily="34" charset="0"/>
              </a:rPr>
              <a:t> raw Bronze → cleansed Silver → analytics-ready Gold; central ownership; best for analytics and AI</a:t>
            </a:r>
            <a:r>
              <a:rPr lang="en-EG" sz="14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400" b="1" dirty="0">
                <a:solidFill>
                  <a:srgbClr val="666666"/>
                </a:solidFill>
                <a:latin typeface="Tahoma" panose="020B0604030504040204" pitchFamily="34" charset="0"/>
              </a:rPr>
              <a:t>ML</a:t>
            </a:r>
            <a:r>
              <a:rPr lang="en-EG" sz="14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400" b="1" dirty="0">
                <a:solidFill>
                  <a:srgbClr val="666666"/>
                </a:solidFill>
                <a:latin typeface="Tahoma" panose="020B0604030504040204" pitchFamily="34" charset="0"/>
              </a:rPr>
              <a:t>RAG pipelines.</a:t>
            </a:r>
            <a:endParaRPr lang="en-US" sz="1400" b="1" dirty="0">
              <a:solidFill>
                <a:srgbClr val="666666"/>
              </a:solidFill>
              <a:latin typeface="Tahoma" panose="020B0604030504040204" pitchFamily="34" charset="0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endParaRPr sz="1400" b="1" dirty="0">
              <a:solidFill>
                <a:srgbClr val="666666"/>
              </a:solidFill>
              <a:latin typeface="Tahoma" panose="020B0604030504040204" pitchFamily="34" charset="0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US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مستودع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البيانات</a:t>
            </a:r>
            <a:r>
              <a:rPr lang="en-US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Datawarehouse</a:t>
            </a: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US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  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ETL</a:t>
            </a: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→ Staging →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المستودع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→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أسواق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البيانات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؛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حوكمة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مركزية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؛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الأنسب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للتقارير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وذكاء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الأعمال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.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lang="en-EG" sz="14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400" b="1" dirty="0">
                <a:solidFill>
                  <a:srgbClr val="666666"/>
                </a:solidFill>
                <a:latin typeface="Tahoma" panose="020B0604030504040204" pitchFamily="34" charset="0"/>
              </a:rPr>
              <a:t> Data warehouse</a:t>
            </a:r>
            <a:r>
              <a:rPr lang="en-EG" sz="14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400" b="1" dirty="0">
                <a:solidFill>
                  <a:srgbClr val="666666"/>
                </a:solidFill>
                <a:latin typeface="Tahoma" panose="020B0604030504040204" pitchFamily="34" charset="0"/>
              </a:rPr>
              <a:t> ETL</a:t>
            </a:r>
            <a:r>
              <a:rPr lang="en-EG" sz="14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400" b="1" dirty="0">
                <a:solidFill>
                  <a:srgbClr val="666666"/>
                </a:solidFill>
                <a:latin typeface="Tahoma" panose="020B0604030504040204" pitchFamily="34" charset="0"/>
              </a:rPr>
              <a:t>ELT → staging → warehouse → data marts; central governance; best for reporting and BI.</a:t>
            </a:r>
            <a:endParaRPr lang="en-US" sz="1400" b="1" dirty="0">
              <a:solidFill>
                <a:srgbClr val="666666"/>
              </a:solidFill>
              <a:latin typeface="Tahoma" panose="020B0604030504040204" pitchFamily="34" charset="0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endParaRPr sz="1400" b="1" dirty="0">
              <a:solidFill>
                <a:srgbClr val="666666"/>
              </a:solidFill>
              <a:latin typeface="Tahoma" panose="020B0604030504040204" pitchFamily="34" charset="0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US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شبكة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البيانات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Data Mesh</a:t>
            </a:r>
            <a:endParaRPr lang="en-US" sz="24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ملكية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لامركزية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بالمجالات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؛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منتجات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بيانات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بعقود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مخطط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،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أمان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، SLA</a:t>
            </a: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وكتالوج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موحد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؛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الأنسب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للمؤسسات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الكبيرة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.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lang="en-EG" sz="14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400" b="1" dirty="0">
                <a:solidFill>
                  <a:srgbClr val="666666"/>
                </a:solidFill>
                <a:latin typeface="Tahoma" panose="020B0604030504040204" pitchFamily="34" charset="0"/>
              </a:rPr>
              <a:t> Data mesh</a:t>
            </a:r>
            <a:r>
              <a:rPr lang="en-EG" sz="14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400" b="1" dirty="0">
                <a:solidFill>
                  <a:srgbClr val="666666"/>
                </a:solidFill>
                <a:latin typeface="Tahoma" panose="020B0604030504040204" pitchFamily="34" charset="0"/>
              </a:rPr>
              <a:t> decentralized domain ownership; data products with contracts </a:t>
            </a:r>
            <a:r>
              <a:rPr lang="en-EG" sz="1400" b="1" dirty="0">
                <a:solidFill>
                  <a:srgbClr val="666666"/>
                </a:solidFill>
                <a:latin typeface="Tahoma" panose="020B0604030504040204" pitchFamily="34" charset="0"/>
              </a:rPr>
              <a:t>  </a:t>
            </a:r>
            <a:r>
              <a:rPr sz="1400" b="1" dirty="0">
                <a:solidFill>
                  <a:srgbClr val="666666"/>
                </a:solidFill>
                <a:latin typeface="Tahoma" panose="020B0604030504040204" pitchFamily="34" charset="0"/>
              </a:rPr>
              <a:t>schema, security, SLA</a:t>
            </a:r>
            <a:r>
              <a:rPr lang="en-EG" sz="1400" b="1" dirty="0">
                <a:solidFill>
                  <a:srgbClr val="666666"/>
                </a:solidFill>
                <a:latin typeface="Tahoma" panose="020B0604030504040204" pitchFamily="34" charset="0"/>
              </a:rPr>
              <a:t>  </a:t>
            </a:r>
            <a:r>
              <a:rPr sz="1400" b="1" dirty="0">
                <a:solidFill>
                  <a:srgbClr val="666666"/>
                </a:solidFill>
                <a:latin typeface="Tahoma" panose="020B0604030504040204" pitchFamily="34" charset="0"/>
              </a:rPr>
              <a:t> and a unified catalog; best for large organizations.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جدول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المقارنة</a:t>
            </a:r>
            <a:r>
              <a:rPr lang="en-EG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Medallion </a:t>
            </a:r>
            <a:r>
              <a:rPr lang="en-EG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المستودع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Data Mesh</a:t>
            </a:r>
            <a:r>
              <a:rPr lang="en-US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 </a:t>
            </a:r>
            <a:endParaRPr sz="32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441350"/>
              </p:ext>
            </p:extLst>
          </p:nvPr>
        </p:nvGraphicFramePr>
        <p:xfrm>
          <a:off x="640080" y="1371599"/>
          <a:ext cx="10972800" cy="40079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0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3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51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9396">
                <a:tc>
                  <a:txBody>
                    <a:bodyPr/>
                    <a:lstStyle/>
                    <a:p>
                      <a:pPr algn="ctr" rtl="0"/>
                      <a:r>
                        <a:rPr sz="2400" b="1" i="0" dirty="0" err="1">
                          <a:solidFill>
                            <a:srgbClr val="FFFFFF"/>
                          </a:solidFill>
                          <a:latin typeface="Tahoma" panose="020B0604030504040204" pitchFamily="34" charset="0"/>
                        </a:rPr>
                        <a:t>المعيار</a:t>
                      </a:r>
                      <a:endParaRPr sz="2400" b="1" i="0" dirty="0">
                        <a:solidFill>
                          <a:srgbClr val="FFFFFF"/>
                        </a:solidFill>
                        <a:latin typeface="Tahoma" panose="020B0604030504040204" pitchFamily="34" charset="0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sz="2400" b="1" i="0" dirty="0">
                          <a:solidFill>
                            <a:srgbClr val="FFFFFF"/>
                          </a:solidFill>
                          <a:latin typeface="Tahoma" panose="020B0604030504040204" pitchFamily="34" charset="0"/>
                        </a:rPr>
                        <a:t>Medallion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sz="2400" b="1" i="0" dirty="0" err="1">
                          <a:solidFill>
                            <a:srgbClr val="FFFFFF"/>
                          </a:solidFill>
                          <a:latin typeface="Tahoma" panose="020B0604030504040204" pitchFamily="34" charset="0"/>
                        </a:rPr>
                        <a:t>المستودع</a:t>
                      </a:r>
                      <a:endParaRPr sz="2400" b="1" i="0" dirty="0">
                        <a:solidFill>
                          <a:srgbClr val="FFFFFF"/>
                        </a:solidFill>
                        <a:latin typeface="Tahoma" panose="020B0604030504040204" pitchFamily="34" charset="0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sz="2400" b="1" i="0" dirty="0">
                          <a:solidFill>
                            <a:srgbClr val="FFFFFF"/>
                          </a:solidFill>
                          <a:latin typeface="Tahoma" panose="020B0604030504040204" pitchFamily="34" charset="0"/>
                        </a:rPr>
                        <a:t>Data Mesh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0339">
                <a:tc>
                  <a:txBody>
                    <a:bodyPr/>
                    <a:lstStyle/>
                    <a:p>
                      <a:pPr algn="ctr" rtl="0"/>
                      <a:r>
                        <a:rPr sz="2000" b="1" i="0" dirty="0" err="1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الفكرة</a:t>
                      </a:r>
                      <a:endParaRPr sz="2000" b="1" i="0" dirty="0">
                        <a:solidFill>
                          <a:srgbClr val="333333"/>
                        </a:solidFill>
                        <a:latin typeface="Tahoma" panose="020B060403050404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sz="2000" b="1" i="0" dirty="0" err="1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طبقات</a:t>
                      </a:r>
                      <a:r>
                        <a:rPr sz="2000" b="1" i="0" dirty="0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 </a:t>
                      </a:r>
                      <a:r>
                        <a:rPr sz="2000" b="1" i="0" dirty="0" err="1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Bronze→Silver→Gold</a:t>
                      </a:r>
                      <a:endParaRPr sz="2000" b="1" i="0" dirty="0">
                        <a:solidFill>
                          <a:srgbClr val="333333"/>
                        </a:solidFill>
                        <a:latin typeface="Tahoma" panose="020B060403050404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sz="2000" b="1" i="0" dirty="0" err="1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Staging→Warehouse→Marts</a:t>
                      </a:r>
                      <a:endParaRPr sz="2000" b="1" i="0" dirty="0">
                        <a:solidFill>
                          <a:srgbClr val="333333"/>
                        </a:solidFill>
                        <a:latin typeface="Tahoma" panose="020B060403050404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sz="2000" b="1" i="0" dirty="0" err="1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منتجات</a:t>
                      </a:r>
                      <a:r>
                        <a:rPr sz="2000" b="1" i="0" dirty="0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 </a:t>
                      </a:r>
                      <a:r>
                        <a:rPr sz="2000" b="1" i="0" dirty="0" err="1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بالمجالات</a:t>
                      </a:r>
                      <a:endParaRPr sz="2000" b="1" i="0" dirty="0">
                        <a:solidFill>
                          <a:srgbClr val="333333"/>
                        </a:solidFill>
                        <a:latin typeface="Tahoma" panose="020B060403050404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9396">
                <a:tc>
                  <a:txBody>
                    <a:bodyPr/>
                    <a:lstStyle/>
                    <a:p>
                      <a:pPr algn="ctr" rtl="0"/>
                      <a:r>
                        <a:rPr sz="2000" b="1" i="0" dirty="0" err="1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المالك</a:t>
                      </a:r>
                      <a:endParaRPr sz="2000" b="1" i="0" dirty="0">
                        <a:solidFill>
                          <a:srgbClr val="333333"/>
                        </a:solidFill>
                        <a:latin typeface="Tahoma" panose="020B0604030504040204" pitchFamily="34" charset="0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sz="2000" b="1" i="0" dirty="0" err="1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هندسة</a:t>
                      </a:r>
                      <a:r>
                        <a:rPr sz="2000" b="1" i="0" dirty="0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 </a:t>
                      </a:r>
                      <a:r>
                        <a:rPr sz="2000" b="1" i="0" dirty="0" err="1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مركزية</a:t>
                      </a:r>
                      <a:endParaRPr sz="2000" b="1" i="0" dirty="0">
                        <a:solidFill>
                          <a:srgbClr val="333333"/>
                        </a:solidFill>
                        <a:latin typeface="Tahoma" panose="020B0604030504040204" pitchFamily="34" charset="0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sz="2000" b="1" i="0" dirty="0" err="1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فرق</a:t>
                      </a:r>
                      <a:r>
                        <a:rPr sz="2000" b="1" i="0" dirty="0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 BI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sz="2000" b="1" i="0" dirty="0" err="1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فرق</a:t>
                      </a:r>
                      <a:r>
                        <a:rPr sz="2000" b="1" i="0" dirty="0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 </a:t>
                      </a:r>
                      <a:r>
                        <a:rPr sz="2000" b="1" i="0" dirty="0" err="1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المجالات</a:t>
                      </a:r>
                      <a:endParaRPr sz="2000" b="1" i="0" dirty="0">
                        <a:solidFill>
                          <a:srgbClr val="333333"/>
                        </a:solidFill>
                        <a:latin typeface="Tahoma" panose="020B0604030504040204" pitchFamily="34" charset="0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9396">
                <a:tc>
                  <a:txBody>
                    <a:bodyPr/>
                    <a:lstStyle/>
                    <a:p>
                      <a:pPr algn="ctr" rtl="0"/>
                      <a:r>
                        <a:rPr sz="2000" b="1" i="0" dirty="0" err="1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الأنسب</a:t>
                      </a:r>
                      <a:endParaRPr sz="2000" b="1" i="0" dirty="0">
                        <a:solidFill>
                          <a:srgbClr val="333333"/>
                        </a:solidFill>
                        <a:latin typeface="Tahoma" panose="020B060403050404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sz="2000" b="1" i="0" dirty="0" err="1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تحليلات</a:t>
                      </a:r>
                      <a:r>
                        <a:rPr sz="2000" b="1" i="0" dirty="0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 </a:t>
                      </a:r>
                      <a:r>
                        <a:rPr sz="2000" b="1" i="0" dirty="0" err="1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و</a:t>
                      </a:r>
                      <a:r>
                        <a:rPr sz="2000" b="1" i="0" dirty="0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 AI</a:t>
                      </a:r>
                      <a:r>
                        <a:rPr lang="en-EG" sz="2000" b="1" i="0" dirty="0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 </a:t>
                      </a:r>
                      <a:r>
                        <a:rPr sz="2000" b="1" i="0" dirty="0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sz="2000" b="1" i="0" dirty="0" err="1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تقارير</a:t>
                      </a:r>
                      <a:r>
                        <a:rPr sz="2000" b="1" i="0" dirty="0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 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sz="2000" b="1" i="0" dirty="0" err="1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مؤسسات</a:t>
                      </a:r>
                      <a:r>
                        <a:rPr sz="2000" b="1" i="0" dirty="0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 </a:t>
                      </a:r>
                      <a:r>
                        <a:rPr sz="2000" b="1" i="0" dirty="0" err="1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كبيرة</a:t>
                      </a:r>
                      <a:endParaRPr sz="2000" b="1" i="0" dirty="0">
                        <a:solidFill>
                          <a:srgbClr val="333333"/>
                        </a:solidFill>
                        <a:latin typeface="Tahoma" panose="020B060403050404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9396">
                <a:tc>
                  <a:txBody>
                    <a:bodyPr/>
                    <a:lstStyle/>
                    <a:p>
                      <a:pPr algn="ctr" rtl="0"/>
                      <a:r>
                        <a:rPr sz="2000" b="1" i="0" dirty="0" err="1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الحوكمة</a:t>
                      </a:r>
                      <a:endParaRPr sz="2000" b="1" i="0" dirty="0">
                        <a:solidFill>
                          <a:srgbClr val="333333"/>
                        </a:solidFill>
                        <a:latin typeface="Tahoma" panose="020B0604030504040204" pitchFamily="34" charset="0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sz="2000" b="1" i="0" dirty="0" err="1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جودة</a:t>
                      </a:r>
                      <a:r>
                        <a:rPr sz="2000" b="1" i="0" dirty="0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 </a:t>
                      </a:r>
                      <a:r>
                        <a:rPr sz="2000" b="1" i="0" dirty="0" err="1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بين</a:t>
                      </a:r>
                      <a:r>
                        <a:rPr sz="2000" b="1" i="0" dirty="0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 </a:t>
                      </a:r>
                      <a:r>
                        <a:rPr sz="2000" b="1" i="0" dirty="0" err="1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الطبقات</a:t>
                      </a:r>
                      <a:endParaRPr sz="2000" b="1" i="0" dirty="0">
                        <a:solidFill>
                          <a:srgbClr val="333333"/>
                        </a:solidFill>
                        <a:latin typeface="Tahoma" panose="020B0604030504040204" pitchFamily="34" charset="0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sz="2000" b="1" i="0" dirty="0" err="1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مركزية</a:t>
                      </a:r>
                      <a:endParaRPr sz="2000" b="1" i="0" dirty="0">
                        <a:solidFill>
                          <a:srgbClr val="333333"/>
                        </a:solidFill>
                        <a:latin typeface="Tahoma" panose="020B0604030504040204" pitchFamily="34" charset="0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sz="2000" b="1" i="0" dirty="0" err="1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موحدة</a:t>
                      </a:r>
                      <a:r>
                        <a:rPr sz="2000" b="1" i="0" dirty="0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 + </a:t>
                      </a:r>
                      <a:r>
                        <a:rPr sz="2000" b="1" i="0" dirty="0" err="1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عقود</a:t>
                      </a:r>
                      <a:endParaRPr sz="2000" b="1" i="0" dirty="0">
                        <a:solidFill>
                          <a:srgbClr val="333333"/>
                        </a:solidFill>
                        <a:latin typeface="Tahoma" panose="020B0604030504040204" pitchFamily="34" charset="0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12745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b="1" dirty="0" err="1">
                <a:latin typeface="Tahoma" panose="020B0604030504040204" pitchFamily="34" charset="0"/>
              </a:rPr>
              <a:t>V0</a:t>
            </a:r>
            <a:r>
              <a:rPr lang="en-US" b="1" dirty="0" err="1">
                <a:latin typeface="Tahoma" panose="020B0604030504040204" pitchFamily="34" charset="0"/>
              </a:rPr>
              <a:t>7</a:t>
            </a:r>
            <a:r>
              <a:rPr b="1" dirty="0">
                <a:latin typeface="Tahoma" panose="020B0604030504040204" pitchFamily="34" charset="0"/>
              </a:rPr>
              <a:t> </a:t>
            </a:r>
            <a:r>
              <a:rPr lang="en-EG" b="1" dirty="0">
                <a:latin typeface="Tahoma" panose="020B0604030504040204" pitchFamily="34" charset="0"/>
              </a:rPr>
              <a:t>   </a:t>
            </a:r>
            <a:r>
              <a:rPr b="1" dirty="0">
                <a:latin typeface="Tahoma" panose="020B0604030504040204" pitchFamily="34" charset="0"/>
              </a:rPr>
              <a:t> </a:t>
            </a:r>
            <a:r>
              <a:rPr lang="en-US" b="1" dirty="0">
                <a:latin typeface="Tahoma" panose="020B0604030504040204" pitchFamily="34" charset="0"/>
              </a:rPr>
              <a:t>Warehouses, Data Lakes &amp; Lakehouse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أجندة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العرض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Agenda</a:t>
            </a:r>
            <a:r>
              <a:rPr lang="en-US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endParaRPr sz="32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V07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 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المستودعات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والبحيرات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ومعمارية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Lakehouse</a:t>
            </a:r>
            <a:r>
              <a:rPr lang="en-US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, Data Lakes &amp; Lakehouse </a:t>
            </a:r>
            <a:endParaRPr sz="20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endParaRPr lang="en-US" sz="20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marL="342900" indent="-342900" algn="r" rtl="1">
              <a:spcBef>
                <a:spcPts val="2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المستودع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مقابل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البحيرة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Warehouse vs Lake</a:t>
            </a:r>
            <a:r>
              <a:rPr lang="en-US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endParaRPr sz="20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marL="342900" indent="-342900" algn="r" rtl="1">
              <a:spcBef>
                <a:spcPts val="2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معمارية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Lakehouse</a:t>
            </a:r>
            <a:r>
              <a:rPr lang="en-US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endParaRPr sz="20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marL="342900" indent="-342900" algn="r" rtl="1">
              <a:spcBef>
                <a:spcPts val="2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منتجات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البيانات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وعقودها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Data Products &amp; Contracts</a:t>
            </a:r>
            <a:r>
              <a:rPr lang="en-US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endParaRPr sz="20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marL="342900" indent="-342900" algn="r" rtl="1">
              <a:spcBef>
                <a:spcPts val="2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متى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تختار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كل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نموذج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؟ </a:t>
            </a: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When to Choose Which</a:t>
            </a:r>
            <a:r>
              <a:rPr lang="en-US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endParaRPr sz="20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1" dirty="0">
                <a:solidFill>
                  <a:srgbClr val="666666"/>
                </a:solidFill>
                <a:latin typeface="Tahoma" panose="020B0604030504040204" pitchFamily="34" charset="0"/>
              </a:rPr>
              <a:t>Module 02 </a:t>
            </a:r>
            <a:r>
              <a:rPr lang="en-EG" sz="1000" b="1" dirty="0">
                <a:solidFill>
                  <a:srgbClr val="666666"/>
                </a:solidFill>
                <a:latin typeface="Tahoma" panose="020B0604030504040204" pitchFamily="34" charset="0"/>
              </a:rPr>
              <a:t>   </a:t>
            </a:r>
            <a:r>
              <a:rPr sz="1000" b="1" dirty="0">
                <a:solidFill>
                  <a:srgbClr val="666666"/>
                </a:solidFill>
                <a:latin typeface="Tahoma" panose="020B0604030504040204" pitchFamily="34" charset="0"/>
              </a:rPr>
              <a:t> Data &amp; AI Engineering Track  |  </a:t>
            </a:r>
            <a:r>
              <a:rPr sz="1000" b="1" dirty="0" err="1">
                <a:solidFill>
                  <a:srgbClr val="666666"/>
                </a:solidFill>
                <a:latin typeface="Tahoma" panose="020B0604030504040204" pitchFamily="34" charset="0"/>
              </a:rPr>
              <a:t>الوحدة</a:t>
            </a:r>
            <a:r>
              <a:rPr sz="10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000" b="1" dirty="0" err="1">
                <a:solidFill>
                  <a:srgbClr val="666666"/>
                </a:solidFill>
                <a:latin typeface="Tahoma" panose="020B0604030504040204" pitchFamily="34" charset="0"/>
              </a:rPr>
              <a:t>الثانية</a:t>
            </a:r>
            <a:endParaRPr sz="1000" b="1" dirty="0">
              <a:solidFill>
                <a:srgbClr val="666666"/>
              </a:solidFill>
              <a:latin typeface="Tahoma" panose="020B060403050404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1" dirty="0" err="1">
                <a:solidFill>
                  <a:srgbClr val="666666"/>
                </a:solidFill>
                <a:latin typeface="Tahoma" panose="020B0604030504040204" pitchFamily="34" charset="0"/>
              </a:rPr>
              <a:t>V07</a:t>
            </a:r>
            <a:r>
              <a:rPr sz="1000" b="1" dirty="0">
                <a:solidFill>
                  <a:srgbClr val="666666"/>
                </a:solidFill>
                <a:latin typeface="Tahoma" panose="020B0604030504040204" pitchFamily="34" charset="0"/>
              </a:rPr>
              <a:t>  </a:t>
            </a:r>
            <a:r>
              <a:rPr lang="en-EG" sz="10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000" b="1" dirty="0">
                <a:solidFill>
                  <a:srgbClr val="666666"/>
                </a:solidFill>
                <a:latin typeface="Tahoma" panose="020B0604030504040204" pitchFamily="34" charset="0"/>
              </a:rPr>
              <a:t>  2</a:t>
            </a:r>
            <a:r>
              <a:rPr lang="en-EG" sz="10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000" b="1" dirty="0">
                <a:solidFill>
                  <a:srgbClr val="666666"/>
                </a:solidFill>
                <a:latin typeface="Tahoma" panose="020B0604030504040204" pitchFamily="34" charset="0"/>
              </a:rPr>
              <a:t>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8BC9B2-C9B0-9876-6E4B-71A33ED55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64" y="761386"/>
            <a:ext cx="11540543" cy="60587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38D67A-F345-3E83-FD62-8B97518F6EEE}"/>
              </a:ext>
            </a:extLst>
          </p:cNvPr>
          <p:cNvSpPr txBox="1"/>
          <p:nvPr/>
        </p:nvSpPr>
        <p:spPr>
          <a:xfrm>
            <a:off x="1045579" y="208412"/>
            <a:ext cx="1010084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/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المستودع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مقابل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البحيرة</a:t>
            </a:r>
            <a:r>
              <a:rPr lang="en-US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Warehouse vs Lake Decision Map</a:t>
            </a:r>
            <a:r>
              <a:rPr lang="en-US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endParaRPr sz="30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651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93558" y="137160"/>
            <a:ext cx="1180643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خريطة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قرار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المستودع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مقابل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البحيرة</a:t>
            </a:r>
            <a:r>
              <a:rPr lang="en-US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Warehouse vs Lake Decision Map</a:t>
            </a:r>
            <a:r>
              <a:rPr lang="en-US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endParaRPr sz="30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5029200" cy="82296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32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مستودع</a:t>
            </a:r>
            <a:r>
              <a:rPr sz="32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32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البيانات</a:t>
            </a:r>
            <a:endParaRPr sz="32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2000" b="1" dirty="0">
                <a:solidFill>
                  <a:srgbClr val="666666"/>
                </a:solidFill>
                <a:latin typeface="Tahoma" panose="020B0604030504040204" pitchFamily="34" charset="0"/>
              </a:rPr>
              <a:t>Data Warehouse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234440"/>
            <a:ext cx="5029200" cy="8229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32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بحيرة</a:t>
            </a:r>
            <a:r>
              <a:rPr sz="32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32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البيانات</a:t>
            </a:r>
            <a:endParaRPr sz="32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2000" b="1" dirty="0">
                <a:solidFill>
                  <a:srgbClr val="666666"/>
                </a:solidFill>
                <a:latin typeface="Tahoma" panose="020B0604030504040204" pitchFamily="34" charset="0"/>
              </a:rPr>
              <a:t>Data Lake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5029200" cy="7315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مخطط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عند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الكتابة</a:t>
            </a:r>
            <a:endParaRPr sz="20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Schema on 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331720"/>
            <a:ext cx="5029200" cy="7315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مخطط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عند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القراءة</a:t>
            </a:r>
            <a:endParaRPr sz="20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Schema on read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5029200" cy="7315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بيانات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منظمة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+ SQL</a:t>
            </a:r>
          </a:p>
          <a:p>
            <a:pPr algn="ctr" rtl="0"/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Curated data + SQL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200400"/>
            <a:ext cx="5029200" cy="7315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كل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التنسيقات</a:t>
            </a:r>
            <a:endParaRPr sz="20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Any format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5029200" cy="7315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تقارير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وذكاء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أعمال</a:t>
            </a:r>
            <a:endParaRPr sz="20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Reporting and BI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069080"/>
            <a:ext cx="5029200" cy="7315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استكشاف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وAI</a:t>
            </a: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ML</a:t>
            </a:r>
          </a:p>
          <a:p>
            <a:pPr algn="ctr" rtl="0"/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Exploration and AI</a:t>
            </a:r>
            <a:r>
              <a:rPr lang="en-EG" sz="16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21100" y="5212079"/>
            <a:ext cx="5194300" cy="1271847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lang="en-US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Lakehouse = </a:t>
            </a:r>
            <a:r>
              <a:rPr lang="en-US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مرونة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البحيرة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+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موثوقية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المستودع</a:t>
            </a:r>
            <a:endParaRPr sz="20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Lakehouse = lake flexibility + warehouse reliability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9C09EC-2A8B-4938-C486-DE0C6FCC1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535" y="1856094"/>
            <a:ext cx="9282433" cy="371297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00D52C-DC9C-4229-4112-6178BB7FF589}"/>
              </a:ext>
            </a:extLst>
          </p:cNvPr>
          <p:cNvSpPr txBox="1"/>
          <p:nvPr/>
        </p:nvSpPr>
        <p:spPr>
          <a:xfrm>
            <a:off x="5593283" y="137160"/>
            <a:ext cx="601959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المعمارية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المتدرِّجة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Medallion Layers</a:t>
            </a:r>
            <a:r>
              <a:rPr lang="en-US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endParaRPr sz="30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659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93283" y="137160"/>
            <a:ext cx="601959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المعمارية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المتدرِّجة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Medallion Layers</a:t>
            </a:r>
            <a:r>
              <a:rPr lang="en-US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endParaRPr sz="30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2286000" y="1188720"/>
            <a:ext cx="7589520" cy="123444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lang="en-US" sz="18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800" b="1" dirty="0">
                <a:solidFill>
                  <a:srgbClr val="333333"/>
                </a:solidFill>
                <a:latin typeface="Tahoma" panose="020B0604030504040204" pitchFamily="34" charset="0"/>
              </a:rPr>
              <a:t>Bronze </a:t>
            </a:r>
            <a:r>
              <a:rPr lang="en-EG" sz="1800" b="1" dirty="0">
                <a:solidFill>
                  <a:srgbClr val="333333"/>
                </a:solidFill>
                <a:latin typeface="Tahoma" panose="020B0604030504040204" pitchFamily="34" charset="0"/>
              </a:rPr>
              <a:t>   </a:t>
            </a:r>
            <a:r>
              <a:rPr sz="18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8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بيانات</a:t>
            </a:r>
            <a:r>
              <a:rPr sz="18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8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خام</a:t>
            </a:r>
            <a:r>
              <a:rPr sz="18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8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غير</a:t>
            </a:r>
            <a:r>
              <a:rPr sz="18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8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قابلة</a:t>
            </a:r>
            <a:r>
              <a:rPr sz="18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8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للتغيير</a:t>
            </a:r>
            <a:endParaRPr sz="18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300" b="1" dirty="0">
                <a:solidFill>
                  <a:srgbClr val="666666"/>
                </a:solidFill>
                <a:latin typeface="Tahoma" panose="020B0604030504040204" pitchFamily="34" charset="0"/>
              </a:rPr>
              <a:t>Raw immutable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2697480"/>
            <a:ext cx="7589520" cy="12344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lang="en-US" sz="18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800" b="1" dirty="0">
                <a:solidFill>
                  <a:srgbClr val="333333"/>
                </a:solidFill>
                <a:latin typeface="Tahoma" panose="020B0604030504040204" pitchFamily="34" charset="0"/>
              </a:rPr>
              <a:t>Silver </a:t>
            </a:r>
            <a:r>
              <a:rPr lang="en-EG" sz="1800" b="1" dirty="0">
                <a:solidFill>
                  <a:srgbClr val="333333"/>
                </a:solidFill>
                <a:latin typeface="Tahoma" panose="020B0604030504040204" pitchFamily="34" charset="0"/>
              </a:rPr>
              <a:t>   </a:t>
            </a:r>
            <a:r>
              <a:rPr sz="18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8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بيانات</a:t>
            </a:r>
            <a:r>
              <a:rPr sz="18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8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منقَّاة</a:t>
            </a:r>
            <a:r>
              <a:rPr sz="18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8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ومنظَّمة</a:t>
            </a:r>
            <a:endParaRPr sz="18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300" b="1" dirty="0">
                <a:solidFill>
                  <a:srgbClr val="666666"/>
                </a:solidFill>
                <a:latin typeface="Tahoma" panose="020B0604030504040204" pitchFamily="34" charset="0"/>
              </a:rPr>
              <a:t>Cleansed &amp; structured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4206240"/>
            <a:ext cx="7589520" cy="123444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lang="en-US" sz="18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800" b="1" dirty="0">
                <a:solidFill>
                  <a:srgbClr val="333333"/>
                </a:solidFill>
                <a:latin typeface="Tahoma" panose="020B0604030504040204" pitchFamily="34" charset="0"/>
              </a:rPr>
              <a:t>Gold </a:t>
            </a:r>
            <a:r>
              <a:rPr lang="en-EG" sz="1800" b="1" dirty="0">
                <a:solidFill>
                  <a:srgbClr val="333333"/>
                </a:solidFill>
                <a:latin typeface="Tahoma" panose="020B0604030504040204" pitchFamily="34" charset="0"/>
              </a:rPr>
              <a:t>   </a:t>
            </a:r>
            <a:r>
              <a:rPr sz="18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US" sz="18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8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تجميعات</a:t>
            </a:r>
            <a:r>
              <a:rPr sz="18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8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جاهزة</a:t>
            </a:r>
            <a:r>
              <a:rPr sz="18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8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للتحليل</a:t>
            </a:r>
            <a:endParaRPr sz="18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300" b="1" dirty="0">
                <a:solidFill>
                  <a:srgbClr val="666666"/>
                </a:solidFill>
                <a:latin typeface="Tahoma" panose="020B0604030504040204" pitchFamily="34" charset="0"/>
              </a:rPr>
              <a:t>Analytics-ready aggregates</a:t>
            </a:r>
          </a:p>
        </p:txBody>
      </p:sp>
      <p:sp>
        <p:nvSpPr>
          <p:cNvPr id="6" name="Left Arrow 5"/>
          <p:cNvSpPr/>
          <p:nvPr/>
        </p:nvSpPr>
        <p:spPr>
          <a:xfrm>
            <a:off x="5897880" y="2450592"/>
            <a:ext cx="365760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7" name="Left Arrow 6"/>
          <p:cNvSpPr/>
          <p:nvPr/>
        </p:nvSpPr>
        <p:spPr>
          <a:xfrm>
            <a:off x="5897880" y="3959352"/>
            <a:ext cx="365760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4979" y="137160"/>
            <a:ext cx="895790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منتج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البيانات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وعقد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البيانات</a:t>
            </a:r>
            <a:r>
              <a:rPr lang="en-US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Data Product &amp; Contract</a:t>
            </a:r>
            <a:r>
              <a:rPr lang="en-US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 </a:t>
            </a:r>
            <a:endParaRPr sz="30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822960" y="2827020"/>
            <a:ext cx="4206240" cy="31089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8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منتج</a:t>
            </a:r>
            <a:r>
              <a:rPr sz="28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8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البيانات</a:t>
            </a:r>
            <a:endParaRPr sz="28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Data Product </a:t>
            </a:r>
            <a:r>
              <a:rPr lang="en-EG" b="1" dirty="0">
                <a:solidFill>
                  <a:srgbClr val="666666"/>
                </a:solidFill>
                <a:latin typeface="Tahoma" panose="020B0604030504040204" pitchFamily="34" charset="0"/>
              </a:rPr>
              <a:t>   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666666"/>
                </a:solidFill>
                <a:latin typeface="Tahoma" panose="020B0604030504040204" pitchFamily="34" charset="0"/>
              </a:rPr>
              <a:t>موثوق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lang="en-EG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666666"/>
                </a:solidFill>
                <a:latin typeface="Tahoma" panose="020B0604030504040204" pitchFamily="34" charset="0"/>
              </a:rPr>
              <a:t>موثّق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lang="en-EG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666666"/>
                </a:solidFill>
                <a:latin typeface="Tahoma" panose="020B0604030504040204" pitchFamily="34" charset="0"/>
              </a:rPr>
              <a:t>قابل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666666"/>
                </a:solidFill>
                <a:latin typeface="Tahoma" panose="020B0604030504040204" pitchFamily="34" charset="0"/>
              </a:rPr>
              <a:t>للاكتشاف</a:t>
            </a:r>
            <a:endParaRPr b="1" dirty="0">
              <a:solidFill>
                <a:srgbClr val="666666"/>
              </a:solidFill>
              <a:latin typeface="Tahoma" panose="020B060403050404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89520" y="2827020"/>
            <a:ext cx="3474720" cy="9144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8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عقد</a:t>
            </a:r>
            <a:r>
              <a:rPr sz="28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8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البيانات</a:t>
            </a:r>
            <a:endParaRPr sz="28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Data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3924300"/>
            <a:ext cx="3474720" cy="5943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المخطط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Schema</a:t>
            </a:r>
            <a:r>
              <a:rPr lang="en-US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589520" y="1181100"/>
            <a:ext cx="3474720" cy="5943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الأمان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Security</a:t>
            </a:r>
            <a:r>
              <a:rPr lang="en-US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589520" y="2006600"/>
            <a:ext cx="3474720" cy="5943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مستوى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الخدمة</a:t>
            </a:r>
            <a:r>
              <a:rPr lang="en-US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SLA</a:t>
            </a:r>
            <a:r>
              <a:rPr lang="en-US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8" name="Left Arrow 7"/>
          <p:cNvSpPr/>
          <p:nvPr/>
        </p:nvSpPr>
        <p:spPr>
          <a:xfrm>
            <a:off x="5257800" y="4198620"/>
            <a:ext cx="1737360" cy="36576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متى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تختار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كل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نموذج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؟ </a:t>
            </a:r>
            <a:r>
              <a:rPr lang="en-EG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Decision Matrix</a:t>
            </a:r>
            <a:r>
              <a:rPr lang="en-US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 </a:t>
            </a:r>
            <a:endParaRPr sz="32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962548"/>
              </p:ext>
            </p:extLst>
          </p:nvPr>
        </p:nvGraphicFramePr>
        <p:xfrm>
          <a:off x="640080" y="1371600"/>
          <a:ext cx="10972800" cy="36991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24791">
                <a:tc>
                  <a:txBody>
                    <a:bodyPr/>
                    <a:lstStyle/>
                    <a:p>
                      <a:pPr algn="ctr" rtl="1"/>
                      <a:r>
                        <a:rPr sz="2000" b="1" i="0" dirty="0" err="1">
                          <a:solidFill>
                            <a:srgbClr val="FFFFFF"/>
                          </a:solidFill>
                          <a:latin typeface="Tahoma" panose="020B0604030504040204" pitchFamily="34" charset="0"/>
                        </a:rPr>
                        <a:t>الحالة</a:t>
                      </a:r>
                      <a:endParaRPr sz="2000" b="1" i="0" dirty="0">
                        <a:solidFill>
                          <a:srgbClr val="FFFFFF"/>
                        </a:solidFill>
                        <a:latin typeface="Tahoma" panose="020B0604030504040204" pitchFamily="34" charset="0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2000" b="1" i="0" dirty="0" err="1">
                          <a:solidFill>
                            <a:srgbClr val="FFFFFF"/>
                          </a:solidFill>
                          <a:latin typeface="Tahoma" panose="020B0604030504040204" pitchFamily="34" charset="0"/>
                        </a:rPr>
                        <a:t>الاختيار</a:t>
                      </a:r>
                      <a:endParaRPr sz="2000" b="1" i="0" dirty="0">
                        <a:solidFill>
                          <a:srgbClr val="FFFFFF"/>
                        </a:solidFill>
                        <a:latin typeface="Tahoma" panose="020B0604030504040204" pitchFamily="34" charset="0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2000" b="1" i="0" dirty="0" err="1">
                          <a:solidFill>
                            <a:srgbClr val="FFFFFF"/>
                          </a:solidFill>
                          <a:latin typeface="Tahoma" panose="020B0604030504040204" pitchFamily="34" charset="0"/>
                        </a:rPr>
                        <a:t>السبب</a:t>
                      </a:r>
                      <a:endParaRPr sz="2000" b="1" i="0" dirty="0">
                        <a:solidFill>
                          <a:srgbClr val="FFFFFF"/>
                        </a:solidFill>
                        <a:latin typeface="Tahoma" panose="020B0604030504040204" pitchFamily="34" charset="0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4791">
                <a:tc>
                  <a:txBody>
                    <a:bodyPr/>
                    <a:lstStyle/>
                    <a:p>
                      <a:pPr algn="ctr" rtl="1"/>
                      <a:r>
                        <a:rPr sz="1800" b="1" i="0" dirty="0" err="1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فريق</a:t>
                      </a:r>
                      <a:r>
                        <a:rPr sz="1800" b="1" i="0" dirty="0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 </a:t>
                      </a:r>
                      <a:r>
                        <a:rPr sz="1800" b="1" i="0" dirty="0" err="1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مركزي</a:t>
                      </a:r>
                      <a:r>
                        <a:rPr sz="1800" b="1" i="0" dirty="0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 + </a:t>
                      </a:r>
                      <a:r>
                        <a:rPr sz="1800" b="1" i="0" dirty="0" err="1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تحليلات</a:t>
                      </a:r>
                      <a:endParaRPr sz="1800" b="1" i="0" dirty="0">
                        <a:solidFill>
                          <a:srgbClr val="333333"/>
                        </a:solidFill>
                        <a:latin typeface="Tahoma" panose="020B060403050404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800" b="1" i="0" dirty="0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Medallion </a:t>
                      </a:r>
                      <a:r>
                        <a:rPr lang="en-EG" sz="1800" b="1" i="0" dirty="0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 </a:t>
                      </a:r>
                      <a:r>
                        <a:rPr sz="1800" b="1" i="0" dirty="0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 Lakehouse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800" b="1" i="0" dirty="0" err="1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مرونة</a:t>
                      </a:r>
                      <a:r>
                        <a:rPr sz="1800" b="1" i="0" dirty="0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 + </a:t>
                      </a:r>
                      <a:r>
                        <a:rPr sz="1800" b="1" i="0" dirty="0" err="1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حوكمة</a:t>
                      </a:r>
                      <a:r>
                        <a:rPr sz="1800" b="1" i="0" dirty="0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 </a:t>
                      </a:r>
                      <a:r>
                        <a:rPr sz="1800" b="1" i="0" dirty="0" err="1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طبقية</a:t>
                      </a:r>
                      <a:endParaRPr sz="1800" b="1" i="0" dirty="0">
                        <a:solidFill>
                          <a:srgbClr val="333333"/>
                        </a:solidFill>
                        <a:latin typeface="Tahoma" panose="020B060403050404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4791">
                <a:tc>
                  <a:txBody>
                    <a:bodyPr/>
                    <a:lstStyle/>
                    <a:p>
                      <a:pPr algn="ctr" rtl="1"/>
                      <a:r>
                        <a:rPr sz="1800" b="1" i="0" dirty="0" err="1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تقارير</a:t>
                      </a:r>
                      <a:r>
                        <a:rPr sz="1800" b="1" i="0" dirty="0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 </a:t>
                      </a:r>
                      <a:r>
                        <a:rPr sz="1800" b="1" i="0" dirty="0" err="1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صارمة</a:t>
                      </a:r>
                      <a:endParaRPr sz="1800" b="1" i="0" dirty="0">
                        <a:solidFill>
                          <a:srgbClr val="333333"/>
                        </a:solidFill>
                        <a:latin typeface="Tahoma" panose="020B0604030504040204" pitchFamily="34" charset="0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800" b="1" i="0" dirty="0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Warehouse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800" b="1" i="0" dirty="0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 </a:t>
                      </a:r>
                      <a:r>
                        <a:rPr sz="1800" b="1" i="0" dirty="0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SQL </a:t>
                      </a:r>
                      <a:r>
                        <a:rPr lang="en-US" sz="1800" b="1" i="0" dirty="0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 </a:t>
                      </a:r>
                      <a:r>
                        <a:rPr sz="1800" b="1" i="0" dirty="0" err="1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سريع</a:t>
                      </a:r>
                      <a:r>
                        <a:rPr sz="1800" b="1" i="0" dirty="0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 + </a:t>
                      </a:r>
                      <a:r>
                        <a:rPr sz="1800" b="1" i="0" dirty="0" err="1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مخطط</a:t>
                      </a:r>
                      <a:r>
                        <a:rPr sz="1800" b="1" i="0" dirty="0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 </a:t>
                      </a:r>
                      <a:r>
                        <a:rPr sz="1800" b="1" i="0" dirty="0" err="1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ثابت</a:t>
                      </a:r>
                      <a:endParaRPr sz="1800" b="1" i="0" dirty="0">
                        <a:solidFill>
                          <a:srgbClr val="333333"/>
                        </a:solidFill>
                        <a:latin typeface="Tahoma" panose="020B0604030504040204" pitchFamily="34" charset="0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4791">
                <a:tc>
                  <a:txBody>
                    <a:bodyPr/>
                    <a:lstStyle/>
                    <a:p>
                      <a:pPr algn="ctr" rtl="1"/>
                      <a:r>
                        <a:rPr sz="1800" b="1" i="0" dirty="0" err="1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فرق</a:t>
                      </a:r>
                      <a:r>
                        <a:rPr sz="1800" b="1" i="0" dirty="0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 </a:t>
                      </a:r>
                      <a:r>
                        <a:rPr sz="1800" b="1" i="0" dirty="0" err="1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مستقلة</a:t>
                      </a:r>
                      <a:r>
                        <a:rPr sz="1800" b="1" i="0" dirty="0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 </a:t>
                      </a:r>
                      <a:r>
                        <a:rPr sz="1800" b="1" i="0" dirty="0" err="1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كبيرة</a:t>
                      </a:r>
                      <a:endParaRPr sz="1800" b="1" i="0" dirty="0">
                        <a:solidFill>
                          <a:srgbClr val="333333"/>
                        </a:solidFill>
                        <a:latin typeface="Tahoma" panose="020B060403050404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800" b="1" i="0" dirty="0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Data Mesh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800" b="1" i="0" dirty="0" err="1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ملكية</a:t>
                      </a:r>
                      <a:r>
                        <a:rPr sz="1800" b="1" i="0" dirty="0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 </a:t>
                      </a:r>
                      <a:r>
                        <a:rPr sz="1800" b="1" i="0" dirty="0" err="1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لامركزية</a:t>
                      </a:r>
                      <a:r>
                        <a:rPr sz="1800" b="1" i="0" dirty="0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 + </a:t>
                      </a:r>
                      <a:r>
                        <a:rPr sz="1800" b="1" i="0" dirty="0" err="1">
                          <a:solidFill>
                            <a:srgbClr val="333333"/>
                          </a:solidFill>
                          <a:latin typeface="Tahoma" panose="020B0604030504040204" pitchFamily="34" charset="0"/>
                        </a:rPr>
                        <a:t>عقود</a:t>
                      </a:r>
                      <a:endParaRPr sz="1800" b="1" i="0" dirty="0">
                        <a:solidFill>
                          <a:srgbClr val="333333"/>
                        </a:solidFill>
                        <a:latin typeface="Tahoma" panose="020B060403050404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06173" y="137160"/>
            <a:ext cx="810670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أنماط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معالجة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البيانات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الثلاثة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Three Data Patterns</a:t>
            </a:r>
            <a:r>
              <a:rPr lang="en-US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 </a:t>
            </a:r>
            <a:endParaRPr sz="30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3566160" cy="91440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المعمارية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المتدرِّجة</a:t>
            </a:r>
            <a:endParaRPr sz="24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Medallion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468880"/>
            <a:ext cx="3566160" cy="25603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فريق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مركزي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 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تحليلات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وAI</a:t>
            </a: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ML</a:t>
            </a: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19" y="1371600"/>
            <a:ext cx="3566160" cy="9144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مستودع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البيانات</a:t>
            </a:r>
            <a:endParaRPr sz="24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Data Warehouse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19" y="2468880"/>
            <a:ext cx="3566160" cy="25603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فرق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BI </a:t>
            </a: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 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تقارير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وذكاء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أعمال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138158" y="1371600"/>
            <a:ext cx="3566160" cy="91440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شبكة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البيانات</a:t>
            </a:r>
            <a:endParaRPr sz="24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Data Mesh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8" y="2468880"/>
            <a:ext cx="3566160" cy="25603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فرق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المجالات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 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مؤسسات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كبيرة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12745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b="1" dirty="0" err="1">
                <a:latin typeface="Tahoma" panose="020B0604030504040204" pitchFamily="34" charset="0"/>
              </a:rPr>
              <a:t>V0</a:t>
            </a:r>
            <a:r>
              <a:rPr lang="en-US" b="1" dirty="0" err="1">
                <a:latin typeface="Tahoma" panose="020B0604030504040204" pitchFamily="34" charset="0"/>
              </a:rPr>
              <a:t>8</a:t>
            </a:r>
            <a:r>
              <a:rPr b="1" dirty="0">
                <a:latin typeface="Tahoma" panose="020B0604030504040204" pitchFamily="34" charset="0"/>
              </a:rPr>
              <a:t> </a:t>
            </a:r>
            <a:r>
              <a:rPr lang="en-EG" b="1" dirty="0">
                <a:latin typeface="Tahoma" panose="020B0604030504040204" pitchFamily="34" charset="0"/>
              </a:rPr>
              <a:t>   </a:t>
            </a:r>
            <a:r>
              <a:rPr b="1" dirty="0">
                <a:latin typeface="Tahoma" panose="020B0604030504040204" pitchFamily="34" charset="0"/>
              </a:rPr>
              <a:t> </a:t>
            </a:r>
            <a:r>
              <a:rPr lang="en-US" b="1" dirty="0">
                <a:latin typeface="Tahoma" panose="020B0604030504040204" pitchFamily="34" charset="0"/>
              </a:rPr>
              <a:t>Feature Engineering &amp; Feature Stores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أجندة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العرض</a:t>
            </a:r>
            <a:r>
              <a:rPr lang="en-US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Agenda</a:t>
            </a:r>
            <a:r>
              <a:rPr lang="en-US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endParaRPr sz="32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V08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 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هندسة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الخصائص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ومخازنها</a:t>
            </a:r>
            <a:r>
              <a:rPr lang="en-US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 Feature Engineering &amp; Feature Stores </a:t>
            </a:r>
            <a:endParaRPr sz="24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EG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lang="en-US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endParaRPr b="1" dirty="0">
              <a:solidFill>
                <a:srgbClr val="666666"/>
              </a:solidFill>
              <a:latin typeface="Tahoma" panose="020B0604030504040204" pitchFamily="34" charset="0"/>
            </a:endParaRPr>
          </a:p>
          <a:p>
            <a:pPr marL="342900" indent="-342900" algn="r" rtl="1">
              <a:spcBef>
                <a:spcPts val="2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هندسة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الخصائص</a:t>
            </a:r>
            <a:r>
              <a:rPr lang="en-US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Feature Engineering</a:t>
            </a:r>
            <a:r>
              <a:rPr lang="en-US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endParaRPr sz="24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marL="342900" indent="-342900" algn="r" rtl="1">
              <a:spcBef>
                <a:spcPts val="2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مخازن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الخصائص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Feature Stores</a:t>
            </a:r>
            <a:r>
              <a:rPr lang="en-US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endParaRPr sz="24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marL="342900" indent="-342900" algn="r" rtl="1">
              <a:spcBef>
                <a:spcPts val="2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اتساق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Offline</a:t>
            </a: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Online </a:t>
            </a: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Consistency</a:t>
            </a:r>
            <a:r>
              <a:rPr lang="en-US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endParaRPr sz="24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marL="342900" indent="-342900" algn="r" rtl="1">
              <a:spcBef>
                <a:spcPts val="2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الربط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بالتطبيقات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الوكيلة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Agentic Applications</a:t>
            </a:r>
            <a:r>
              <a:rPr lang="en-US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endParaRPr sz="24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98260" y="137160"/>
            <a:ext cx="891462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من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البيانات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الخام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إلى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الخصائص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Raw Data to Features</a:t>
            </a:r>
            <a:r>
              <a:rPr lang="en-US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 </a:t>
            </a:r>
            <a:endParaRPr sz="30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2011680"/>
            <a:ext cx="2468880" cy="12801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أحداث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خام</a:t>
            </a:r>
            <a:endParaRPr sz="20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Raw events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182112" y="2514600"/>
            <a:ext cx="41148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 dirty="0">
              <a:latin typeface="Tahoma" panose="020B060403050404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566160" y="2011680"/>
            <a:ext cx="2468880" cy="12801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تنظيف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وتحويل</a:t>
            </a:r>
            <a:endParaRPr sz="20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Clean &amp; transform</a:t>
            </a:r>
          </a:p>
        </p:txBody>
      </p:sp>
      <p:sp>
        <p:nvSpPr>
          <p:cNvPr id="6" name="Right Arrow 5"/>
          <p:cNvSpPr/>
          <p:nvPr/>
        </p:nvSpPr>
        <p:spPr>
          <a:xfrm>
            <a:off x="6108192" y="2514600"/>
            <a:ext cx="41148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 dirty="0">
              <a:latin typeface="Tahoma" panose="020B060403050404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92240" y="2011680"/>
            <a:ext cx="2468880" cy="128016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تعريف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الخصائص</a:t>
            </a:r>
            <a:endParaRPr sz="20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Feature definitions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034272" y="2514600"/>
            <a:ext cx="41148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 dirty="0">
              <a:latin typeface="Tahoma" panose="020B060403050404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418320" y="2011680"/>
            <a:ext cx="2468880" cy="128016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تدريب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+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خدمة</a:t>
            </a:r>
            <a:endParaRPr sz="20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Training + serving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3977638"/>
            <a:ext cx="6080760" cy="1280159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مخزن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الخصائص</a:t>
            </a: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تعريف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واحد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متسق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للتدريب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والخدمة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Feature store</a:t>
            </a:r>
            <a:r>
              <a:rPr lang="en-EG" sz="16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 one consistent definition for training and serving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25135" y="137160"/>
            <a:ext cx="908774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معمارية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مخزن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الخصائص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Feature Store Architecture</a:t>
            </a:r>
            <a:r>
              <a:rPr lang="en-US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 </a:t>
            </a:r>
            <a:endParaRPr sz="30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2560320"/>
            <a:ext cx="2011680" cy="11887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مصادر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البيانات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400" b="1" dirty="0">
                <a:solidFill>
                  <a:srgbClr val="666666"/>
                </a:solidFill>
                <a:latin typeface="Tahoma" panose="020B0604030504040204" pitchFamily="34" charset="0"/>
              </a:rPr>
              <a:t>Data Sources</a:t>
            </a:r>
          </a:p>
        </p:txBody>
      </p:sp>
      <p:sp>
        <p:nvSpPr>
          <p:cNvPr id="4" name="Left Arrow 3"/>
          <p:cNvSpPr/>
          <p:nvPr/>
        </p:nvSpPr>
        <p:spPr>
          <a:xfrm>
            <a:off x="2724912" y="3017520"/>
            <a:ext cx="411480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 dirty="0">
              <a:latin typeface="Tahoma" panose="020B060403050404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200400" y="2560320"/>
            <a:ext cx="2194560" cy="118872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خط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الخصائص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400" b="1" dirty="0">
                <a:solidFill>
                  <a:srgbClr val="666666"/>
                </a:solidFill>
                <a:latin typeface="Tahoma" panose="020B0604030504040204" pitchFamily="34" charset="0"/>
              </a:rPr>
              <a:t>Feature Pipeline
</a:t>
            </a:r>
            <a:r>
              <a:rPr sz="1400" b="1" dirty="0" err="1">
                <a:solidFill>
                  <a:srgbClr val="666666"/>
                </a:solidFill>
                <a:latin typeface="Tahoma" panose="020B0604030504040204" pitchFamily="34" charset="0"/>
              </a:rPr>
              <a:t>هندسة</a:t>
            </a:r>
            <a:r>
              <a:rPr sz="1400" b="1" dirty="0">
                <a:solidFill>
                  <a:srgbClr val="666666"/>
                </a:solidFill>
                <a:latin typeface="Tahoma" panose="020B0604030504040204" pitchFamily="34" charset="0"/>
              </a:rPr>
              <a:t> + </a:t>
            </a:r>
            <a:r>
              <a:rPr sz="1400" b="1" dirty="0" err="1">
                <a:solidFill>
                  <a:srgbClr val="666666"/>
                </a:solidFill>
                <a:latin typeface="Tahoma" panose="020B0604030504040204" pitchFamily="34" charset="0"/>
              </a:rPr>
              <a:t>تحويل</a:t>
            </a:r>
            <a:endParaRPr sz="1400" b="1" dirty="0">
              <a:solidFill>
                <a:srgbClr val="666666"/>
              </a:solidFill>
              <a:latin typeface="Tahoma" panose="020B0604030504040204" pitchFamily="34" charset="0"/>
            </a:endParaRPr>
          </a:p>
        </p:txBody>
      </p:sp>
      <p:sp>
        <p:nvSpPr>
          <p:cNvPr id="6" name="Left Arrow 5"/>
          <p:cNvSpPr/>
          <p:nvPr/>
        </p:nvSpPr>
        <p:spPr>
          <a:xfrm>
            <a:off x="5468112" y="2331720"/>
            <a:ext cx="411480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 dirty="0">
              <a:latin typeface="Tahoma" panose="020B0604030504040204" pitchFamily="34" charset="0"/>
            </a:endParaRPr>
          </a:p>
        </p:txBody>
      </p:sp>
      <p:sp>
        <p:nvSpPr>
          <p:cNvPr id="7" name="Left Arrow 6"/>
          <p:cNvSpPr/>
          <p:nvPr/>
        </p:nvSpPr>
        <p:spPr>
          <a:xfrm>
            <a:off x="5468112" y="3611880"/>
            <a:ext cx="411480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 dirty="0">
              <a:latin typeface="Tahoma" panose="020B0604030504040204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43600" y="1554480"/>
            <a:ext cx="2468880" cy="118872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المخزن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غير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المتصل</a:t>
            </a:r>
            <a:endParaRPr sz="16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400" b="1" dirty="0">
                <a:solidFill>
                  <a:srgbClr val="666666"/>
                </a:solidFill>
                <a:latin typeface="Tahoma" panose="020B0604030504040204" pitchFamily="34" charset="0"/>
              </a:rPr>
              <a:t>Offline Store
</a:t>
            </a:r>
            <a:r>
              <a:rPr sz="1400" b="1" dirty="0" err="1">
                <a:solidFill>
                  <a:srgbClr val="666666"/>
                </a:solidFill>
                <a:latin typeface="Tahoma" panose="020B0604030504040204" pitchFamily="34" charset="0"/>
              </a:rPr>
              <a:t>تدريب</a:t>
            </a:r>
            <a:r>
              <a:rPr sz="14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400" b="1" dirty="0" err="1">
                <a:solidFill>
                  <a:srgbClr val="666666"/>
                </a:solidFill>
                <a:latin typeface="Tahoma" panose="020B0604030504040204" pitchFamily="34" charset="0"/>
              </a:rPr>
              <a:t>النماذج</a:t>
            </a:r>
            <a:endParaRPr sz="1400" b="1" dirty="0">
              <a:solidFill>
                <a:srgbClr val="666666"/>
              </a:solidFill>
              <a:latin typeface="Tahoma" panose="020B060403050404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43600" y="3566160"/>
            <a:ext cx="2468880" cy="118872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المخزن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المتصل</a:t>
            </a:r>
            <a:endParaRPr sz="16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400" b="1" dirty="0">
                <a:solidFill>
                  <a:srgbClr val="666666"/>
                </a:solidFill>
                <a:latin typeface="Tahoma" panose="020B0604030504040204" pitchFamily="34" charset="0"/>
              </a:rPr>
              <a:t>Online Store
</a:t>
            </a:r>
            <a:r>
              <a:rPr sz="1400" b="1" dirty="0" err="1">
                <a:solidFill>
                  <a:srgbClr val="666666"/>
                </a:solidFill>
                <a:latin typeface="Tahoma" panose="020B0604030504040204" pitchFamily="34" charset="0"/>
              </a:rPr>
              <a:t>استدلال</a:t>
            </a:r>
            <a:r>
              <a:rPr sz="14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400" b="1" dirty="0" err="1">
                <a:solidFill>
                  <a:srgbClr val="666666"/>
                </a:solidFill>
                <a:latin typeface="Tahoma" panose="020B0604030504040204" pitchFamily="34" charset="0"/>
              </a:rPr>
              <a:t>منخفض</a:t>
            </a:r>
            <a:r>
              <a:rPr sz="14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400" b="1" dirty="0" err="1">
                <a:solidFill>
                  <a:srgbClr val="666666"/>
                </a:solidFill>
                <a:latin typeface="Tahoma" panose="020B0604030504040204" pitchFamily="34" charset="0"/>
              </a:rPr>
              <a:t>زمن</a:t>
            </a:r>
            <a:r>
              <a:rPr sz="14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400" b="1" dirty="0" err="1">
                <a:solidFill>
                  <a:srgbClr val="666666"/>
                </a:solidFill>
                <a:latin typeface="Tahoma" panose="020B0604030504040204" pitchFamily="34" charset="0"/>
              </a:rPr>
              <a:t>الاستجابة</a:t>
            </a:r>
            <a:endParaRPr sz="1400" b="1" dirty="0">
              <a:solidFill>
                <a:srgbClr val="666666"/>
              </a:solidFill>
              <a:latin typeface="Tahoma" panose="020B0604030504040204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44000" y="1554480"/>
            <a:ext cx="2194560" cy="11887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التدريب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400" b="1" dirty="0">
                <a:solidFill>
                  <a:srgbClr val="666666"/>
                </a:solidFill>
                <a:latin typeface="Tahoma" panose="020B0604030504040204" pitchFamily="34" charset="0"/>
              </a:rPr>
              <a:t>Training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3566160"/>
            <a:ext cx="2194560" cy="11887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الاستدلال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400" b="1" dirty="0">
                <a:solidFill>
                  <a:srgbClr val="666666"/>
                </a:solidFill>
                <a:latin typeface="Tahoma" panose="020B0604030504040204" pitchFamily="34" charset="0"/>
              </a:rPr>
              <a:t>Serving</a:t>
            </a:r>
          </a:p>
        </p:txBody>
      </p:sp>
      <p:sp>
        <p:nvSpPr>
          <p:cNvPr id="12" name="Left Arrow 11"/>
          <p:cNvSpPr/>
          <p:nvPr/>
        </p:nvSpPr>
        <p:spPr>
          <a:xfrm>
            <a:off x="8449056" y="2011680"/>
            <a:ext cx="658368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 dirty="0">
              <a:latin typeface="Tahoma" panose="020B0604030504040204" pitchFamily="34" charset="0"/>
            </a:endParaRPr>
          </a:p>
        </p:txBody>
      </p:sp>
      <p:sp>
        <p:nvSpPr>
          <p:cNvPr id="13" name="Left Arrow 12"/>
          <p:cNvSpPr/>
          <p:nvPr/>
        </p:nvSpPr>
        <p:spPr>
          <a:xfrm>
            <a:off x="8449056" y="4023360"/>
            <a:ext cx="658368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الربط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بالتطبيقات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الوكيلة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Agentic Applications</a:t>
            </a:r>
            <a:r>
              <a:rPr lang="en-US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endParaRPr sz="32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952010" y="1280160"/>
            <a:ext cx="6660869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US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US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الوكلاء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يحتاجون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ميزات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لحظية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متسقة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لقرارات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التخصيص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والمخاطر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والتوجيه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lang="en-EG" sz="20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666666"/>
                </a:solidFill>
                <a:latin typeface="Tahoma" panose="020B0604030504040204" pitchFamily="34" charset="0"/>
              </a:rPr>
              <a:t> Agents need consistent real-time features for personalization, risk, and routing.</a:t>
            </a:r>
            <a:endParaRPr lang="en-US" sz="2000" b="1" dirty="0">
              <a:solidFill>
                <a:srgbClr val="666666"/>
              </a:solidFill>
              <a:latin typeface="Tahoma" panose="020B0604030504040204" pitchFamily="34" charset="0"/>
            </a:endParaRP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endParaRPr sz="2000" b="1" dirty="0">
              <a:solidFill>
                <a:srgbClr val="666666"/>
              </a:solidFill>
              <a:latin typeface="Tahoma" panose="020B0604030504040204" pitchFamily="34" charset="0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US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US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مخزن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الخصائص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هو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«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مصدر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الحقيقة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»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للميزات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أمام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أي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وكيل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ذكي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lang="en-EG" sz="20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666666"/>
                </a:solidFill>
                <a:latin typeface="Tahoma" panose="020B0604030504040204" pitchFamily="34" charset="0"/>
              </a:rPr>
              <a:t> The feature store is the single source of truth behind any agent.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F69D1D-7A43-8D92-CCEB-24485F2AF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5841"/>
            <a:ext cx="4520540" cy="581115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0DCD8-E6B7-ABDE-69D0-041F0C059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7867B9-639D-6565-C602-A0B2248E9A84}"/>
              </a:ext>
            </a:extLst>
          </p:cNvPr>
          <p:cNvSpPr txBox="1"/>
          <p:nvPr/>
        </p:nvSpPr>
        <p:spPr>
          <a:xfrm>
            <a:off x="2619712" y="137160"/>
            <a:ext cx="899316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u="none" strike="noStrike" kern="1200" cap="none" spc="0" normalizeH="0" baseline="0" noProof="0" dirty="0" err="1">
                <a:ln>
                  <a:noFill/>
                </a:ln>
                <a:solidFill>
                  <a:srgbClr val="1F3B5C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من</a:t>
            </a:r>
            <a:r>
              <a:rPr kumimoji="0" sz="3000" b="1" u="none" strike="noStrike" kern="1200" cap="none" spc="0" normalizeH="0" baseline="0" noProof="0" dirty="0">
                <a:ln>
                  <a:noFill/>
                </a:ln>
                <a:solidFill>
                  <a:srgbClr val="1F3B5C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LLM </a:t>
            </a:r>
            <a:r>
              <a:rPr kumimoji="0" sz="3000" b="1" u="none" strike="noStrike" kern="1200" cap="none" spc="0" normalizeH="0" baseline="0" noProof="0" dirty="0" err="1">
                <a:ln>
                  <a:noFill/>
                </a:ln>
                <a:solidFill>
                  <a:srgbClr val="1F3B5C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إلى</a:t>
            </a:r>
            <a:r>
              <a:rPr kumimoji="0" sz="3000" b="1" u="none" strike="noStrike" kern="1200" cap="none" spc="0" normalizeH="0" baseline="0" noProof="0" dirty="0">
                <a:ln>
                  <a:noFill/>
                </a:ln>
                <a:solidFill>
                  <a:srgbClr val="1F3B5C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3000" b="1" u="none" strike="noStrike" kern="1200" cap="none" spc="0" normalizeH="0" baseline="0" noProof="0" dirty="0" err="1">
                <a:ln>
                  <a:noFill/>
                </a:ln>
                <a:solidFill>
                  <a:srgbClr val="1F3B5C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الأنظمة</a:t>
            </a:r>
            <a:r>
              <a:rPr kumimoji="0" sz="3000" b="1" u="none" strike="noStrike" kern="1200" cap="none" spc="0" normalizeH="0" baseline="0" noProof="0" dirty="0">
                <a:ln>
                  <a:noFill/>
                </a:ln>
                <a:solidFill>
                  <a:srgbClr val="1F3B5C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3000" b="1" u="none" strike="noStrike" kern="1200" cap="none" spc="0" normalizeH="0" baseline="0" noProof="0" dirty="0" err="1">
                <a:ln>
                  <a:noFill/>
                </a:ln>
                <a:solidFill>
                  <a:srgbClr val="1F3B5C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الوكيلة</a:t>
            </a:r>
            <a:r>
              <a:rPr kumimoji="0" lang="en-US" sz="3000" b="1" u="none" strike="noStrike" kern="1200" cap="none" spc="0" normalizeH="0" baseline="0" noProof="0" dirty="0">
                <a:ln>
                  <a:noFill/>
                </a:ln>
                <a:solidFill>
                  <a:srgbClr val="1F3B5C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3000" b="1" u="none" strike="noStrike" kern="1200" cap="none" spc="0" normalizeH="0" baseline="0" noProof="0" dirty="0">
                <a:ln>
                  <a:noFill/>
                </a:ln>
                <a:solidFill>
                  <a:srgbClr val="1F3B5C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lang="en-EG" sz="3000" b="1" u="none" strike="noStrike" kern="1200" cap="none" spc="0" normalizeH="0" baseline="0" noProof="0" dirty="0">
                <a:ln>
                  <a:noFill/>
                </a:ln>
                <a:solidFill>
                  <a:srgbClr val="1F3B5C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3000" b="1" u="none" strike="noStrike" kern="1200" cap="none" spc="0" normalizeH="0" baseline="0" noProof="0" dirty="0">
                <a:ln>
                  <a:noFill/>
                </a:ln>
                <a:solidFill>
                  <a:srgbClr val="1F3B5C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From LLM to Agentic AI</a:t>
            </a:r>
            <a:r>
              <a:rPr kumimoji="0" lang="en-US" sz="3000" b="1" u="none" strike="noStrike" kern="1200" cap="none" spc="0" normalizeH="0" baseline="0" noProof="0" dirty="0">
                <a:ln>
                  <a:noFill/>
                </a:ln>
                <a:solidFill>
                  <a:srgbClr val="1F3B5C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endParaRPr kumimoji="0" sz="3000" b="1" u="none" strike="noStrike" kern="1200" cap="none" spc="0" normalizeH="0" baseline="0" noProof="0" dirty="0">
              <a:ln>
                <a:noFill/>
              </a:ln>
              <a:solidFill>
                <a:srgbClr val="1F3B5C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BC27104-62D8-FDD4-9BD1-C1E31CFE0F21}"/>
              </a:ext>
            </a:extLst>
          </p:cNvPr>
          <p:cNvSpPr/>
          <p:nvPr/>
        </p:nvSpPr>
        <p:spPr>
          <a:xfrm>
            <a:off x="640080" y="1645920"/>
            <a:ext cx="237744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LLM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3FDD958-9A65-D030-9143-46E8443C3495}"/>
              </a:ext>
            </a:extLst>
          </p:cNvPr>
          <p:cNvSpPr/>
          <p:nvPr/>
        </p:nvSpPr>
        <p:spPr>
          <a:xfrm>
            <a:off x="640080" y="3016332"/>
            <a:ext cx="2377440" cy="14630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1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تنبؤ</a:t>
            </a:r>
            <a:r>
              <a:rPr kumimoji="0" b="1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b="1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بالرموز</a:t>
            </a:r>
            <a:r>
              <a:rPr kumimoji="0" b="1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b="1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التالية</a:t>
            </a:r>
            <a:endParaRPr kumimoji="0" b="1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Predicts next tokens</a:t>
            </a:r>
          </a:p>
        </p:txBody>
      </p:sp>
      <p:sp>
        <p:nvSpPr>
          <p:cNvPr id="5" name="Left Arrow 4">
            <a:extLst>
              <a:ext uri="{FF2B5EF4-FFF2-40B4-BE49-F238E27FC236}">
                <a16:creationId xmlns:a16="http://schemas.microsoft.com/office/drawing/2014/main" id="{92602759-B684-7219-1680-4836CC4AE69B}"/>
              </a:ext>
            </a:extLst>
          </p:cNvPr>
          <p:cNvSpPr/>
          <p:nvPr/>
        </p:nvSpPr>
        <p:spPr>
          <a:xfrm>
            <a:off x="3072384" y="1965960"/>
            <a:ext cx="347472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183611B-BCBE-3125-8161-AE322967A102}"/>
              </a:ext>
            </a:extLst>
          </p:cNvPr>
          <p:cNvSpPr/>
          <p:nvPr/>
        </p:nvSpPr>
        <p:spPr>
          <a:xfrm>
            <a:off x="3474720" y="1645920"/>
            <a:ext cx="2377440" cy="91440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الذكاء</a:t>
            </a:r>
            <a:r>
              <a:rPr kumimoji="0" sz="2400" b="1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2400" b="1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التوليدي</a:t>
            </a:r>
            <a:endParaRPr kumimoji="0" sz="2400" b="1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9778EAE-8DD2-564B-7D6D-7B5FDFA65558}"/>
              </a:ext>
            </a:extLst>
          </p:cNvPr>
          <p:cNvSpPr/>
          <p:nvPr/>
        </p:nvSpPr>
        <p:spPr>
          <a:xfrm>
            <a:off x="3474720" y="3016332"/>
            <a:ext cx="2377440" cy="14630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1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يولّد</a:t>
            </a:r>
            <a:r>
              <a:rPr kumimoji="0" b="1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b="1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محتوى</a:t>
            </a:r>
            <a:r>
              <a:rPr kumimoji="0" b="1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b="1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جديدًا</a:t>
            </a:r>
            <a:endParaRPr kumimoji="0" b="1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Generates new content</a:t>
            </a:r>
          </a:p>
        </p:txBody>
      </p:sp>
      <p:sp>
        <p:nvSpPr>
          <p:cNvPr id="8" name="Left Arrow 7">
            <a:extLst>
              <a:ext uri="{FF2B5EF4-FFF2-40B4-BE49-F238E27FC236}">
                <a16:creationId xmlns:a16="http://schemas.microsoft.com/office/drawing/2014/main" id="{06719790-BBF8-D3C7-3849-EDEF8D01551E}"/>
              </a:ext>
            </a:extLst>
          </p:cNvPr>
          <p:cNvSpPr/>
          <p:nvPr/>
        </p:nvSpPr>
        <p:spPr>
          <a:xfrm>
            <a:off x="5907024" y="1965960"/>
            <a:ext cx="347472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FD401A6-B6F1-CC44-8C51-B67535B6E1C1}"/>
              </a:ext>
            </a:extLst>
          </p:cNvPr>
          <p:cNvSpPr/>
          <p:nvPr/>
        </p:nvSpPr>
        <p:spPr>
          <a:xfrm>
            <a:off x="6309360" y="1645920"/>
            <a:ext cx="2377440" cy="91440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الوكلاء</a:t>
            </a:r>
            <a:r>
              <a:rPr kumimoji="0" sz="2400" b="1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Agents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6E4CC7C-00DF-A5C1-2A0A-FE5E6A495599}"/>
              </a:ext>
            </a:extLst>
          </p:cNvPr>
          <p:cNvSpPr/>
          <p:nvPr/>
        </p:nvSpPr>
        <p:spPr>
          <a:xfrm>
            <a:off x="6309360" y="3016332"/>
            <a:ext cx="2377440" cy="14630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1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نية</a:t>
            </a:r>
            <a:r>
              <a:rPr kumimoji="0" b="1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+ </a:t>
            </a:r>
            <a:r>
              <a:rPr kumimoji="0" b="1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استدعاء</a:t>
            </a:r>
            <a:r>
              <a:rPr kumimoji="0" b="1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b="1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أدوات</a:t>
            </a:r>
            <a:endParaRPr kumimoji="0" b="1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Intent + tool calls</a:t>
            </a:r>
          </a:p>
        </p:txBody>
      </p:sp>
      <p:sp>
        <p:nvSpPr>
          <p:cNvPr id="11" name="Left Arrow 10">
            <a:extLst>
              <a:ext uri="{FF2B5EF4-FFF2-40B4-BE49-F238E27FC236}">
                <a16:creationId xmlns:a16="http://schemas.microsoft.com/office/drawing/2014/main" id="{871FD07A-E453-A865-B0B7-4DEDF8744452}"/>
              </a:ext>
            </a:extLst>
          </p:cNvPr>
          <p:cNvSpPr/>
          <p:nvPr/>
        </p:nvSpPr>
        <p:spPr>
          <a:xfrm>
            <a:off x="8741664" y="1965960"/>
            <a:ext cx="347472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2AAA31B-C0E6-346C-A56B-9AB9FF7FBADA}"/>
              </a:ext>
            </a:extLst>
          </p:cNvPr>
          <p:cNvSpPr/>
          <p:nvPr/>
        </p:nvSpPr>
        <p:spPr>
          <a:xfrm>
            <a:off x="9144000" y="1645920"/>
            <a:ext cx="2377440" cy="9144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الأنظمة</a:t>
            </a:r>
            <a:r>
              <a:rPr kumimoji="0" sz="2400" b="1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2400" b="1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الوكيلة</a:t>
            </a:r>
            <a:endParaRPr kumimoji="0" sz="2400" b="1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09E2843-E602-1B42-DD62-5EEA43A97DFC}"/>
              </a:ext>
            </a:extLst>
          </p:cNvPr>
          <p:cNvSpPr/>
          <p:nvPr/>
        </p:nvSpPr>
        <p:spPr>
          <a:xfrm>
            <a:off x="9144000" y="3016332"/>
            <a:ext cx="2377440" cy="14630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1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تخطيط</a:t>
            </a:r>
            <a:r>
              <a:rPr kumimoji="0" b="1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b="1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وتنفيذ</a:t>
            </a:r>
            <a:r>
              <a:rPr kumimoji="0" b="1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b="1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متعدد</a:t>
            </a:r>
            <a:r>
              <a:rPr kumimoji="0" b="1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b="1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الخطوات</a:t>
            </a:r>
            <a:endParaRPr kumimoji="0" b="1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Multi-step planning</a:t>
            </a:r>
          </a:p>
        </p:txBody>
      </p:sp>
    </p:spTree>
    <p:extLst>
      <p:ext uri="{BB962C8B-B14F-4D97-AF65-F5344CB8AC3E}">
        <p14:creationId xmlns:p14="http://schemas.microsoft.com/office/powerpoint/2010/main" val="25625759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82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12745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b="1" dirty="0" err="1">
                <a:latin typeface="Tahoma" panose="020B0604030504040204" pitchFamily="34" charset="0"/>
              </a:rPr>
              <a:t>V0</a:t>
            </a:r>
            <a:r>
              <a:rPr lang="en-US" b="1" dirty="0" err="1">
                <a:latin typeface="Tahoma" panose="020B0604030504040204" pitchFamily="34" charset="0"/>
              </a:rPr>
              <a:t>9</a:t>
            </a:r>
            <a:r>
              <a:rPr b="1" dirty="0">
                <a:latin typeface="Tahoma" panose="020B0604030504040204" pitchFamily="34" charset="0"/>
              </a:rPr>
              <a:t> </a:t>
            </a:r>
            <a:r>
              <a:rPr lang="en-EG" b="1" dirty="0">
                <a:latin typeface="Tahoma" panose="020B0604030504040204" pitchFamily="34" charset="0"/>
              </a:rPr>
              <a:t>   </a:t>
            </a:r>
            <a:r>
              <a:rPr b="1" dirty="0">
                <a:latin typeface="Tahoma" panose="020B0604030504040204" pitchFamily="34" charset="0"/>
              </a:rPr>
              <a:t> </a:t>
            </a:r>
            <a:r>
              <a:rPr lang="en-US" b="1" dirty="0">
                <a:latin typeface="Tahoma" panose="020B0604030504040204" pitchFamily="34" charset="0"/>
              </a:rPr>
              <a:t>Vector Databases + Applied RAG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أجندة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العرض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Agenda</a:t>
            </a:r>
            <a:r>
              <a:rPr lang="en-US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endParaRPr sz="32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V09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 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قواعد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البيانات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المتجهية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+ RAG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التطبيقي</a:t>
            </a:r>
            <a:r>
              <a:rPr lang="en-US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 Vector Databases + Applied RAG </a:t>
            </a:r>
            <a:endParaRPr sz="20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US" sz="16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endParaRPr sz="1600" b="1" dirty="0">
              <a:solidFill>
                <a:srgbClr val="666666"/>
              </a:solidFill>
              <a:latin typeface="Tahoma" panose="020B0604030504040204" pitchFamily="34" charset="0"/>
            </a:endParaRPr>
          </a:p>
          <a:p>
            <a:pPr marL="342900" indent="-342900" algn="r" rtl="1">
              <a:spcBef>
                <a:spcPts val="2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قواعد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البيانات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المتجهية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Vector Databases</a:t>
            </a:r>
            <a:r>
              <a:rPr lang="en-US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endParaRPr sz="20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marL="342900" indent="-342900" algn="r" rtl="1">
              <a:spcBef>
                <a:spcPts val="2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الفهرسة</a:t>
            </a: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استراتيجيات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التقسيم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Indexing</a:t>
            </a: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Chunking</a:t>
            </a:r>
            <a:r>
              <a:rPr lang="en-US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endParaRPr sz="20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marL="342900" indent="-342900" algn="r" rtl="1">
              <a:spcBef>
                <a:spcPts val="2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الاسترجاع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Retrieval</a:t>
            </a:r>
            <a:r>
              <a:rPr lang="en-US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endParaRPr sz="20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marL="342900" indent="-342900" algn="r" rtl="1">
              <a:spcBef>
                <a:spcPts val="2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التوليد</a:t>
            </a:r>
            <a:r>
              <a:rPr lang="en-US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Generation</a:t>
            </a:r>
          </a:p>
          <a:p>
            <a:pPr marL="342900" indent="-342900" algn="r" rtl="1">
              <a:spcBef>
                <a:spcPts val="2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التقييم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+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التحسين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Evaluation + Optimization</a:t>
            </a:r>
            <a:r>
              <a:rPr lang="en-US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endParaRPr sz="20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marL="342900" indent="-342900" algn="r" rtl="1">
              <a:spcBef>
                <a:spcPts val="2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الأخطاء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الشائعة</a:t>
            </a:r>
            <a:r>
              <a:rPr lang="en-US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Common Pitfalls</a:t>
            </a:r>
            <a:r>
              <a:rPr lang="en-US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endParaRPr sz="20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34145" y="137160"/>
            <a:ext cx="427873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خط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ar-EG" sz="3000" b="1" dirty="0">
                <a:solidFill>
                  <a:srgbClr val="1F3B5C"/>
                </a:solidFill>
                <a:latin typeface="Tahoma" panose="020B0604030504040204" pitchFamily="34" charset="0"/>
                <a:cs typeface="ADLaM Display" panose="02010000000000000000" pitchFamily="2" charset="77"/>
              </a:rPr>
              <a:t>مسارات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RAG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011680"/>
            <a:ext cx="1965960" cy="12801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lang="en-US" sz="28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2800" b="1" dirty="0">
                <a:solidFill>
                  <a:srgbClr val="333333"/>
                </a:solidFill>
                <a:latin typeface="Tahoma" panose="020B0604030504040204" pitchFamily="34" charset="0"/>
              </a:rPr>
              <a:t>1</a:t>
            </a:r>
            <a:r>
              <a:rPr lang="en-EG" sz="28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28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الفهرسة</a:t>
            </a:r>
            <a:endParaRPr sz="28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2000" b="1" dirty="0">
                <a:solidFill>
                  <a:srgbClr val="666666"/>
                </a:solidFill>
                <a:latin typeface="Tahoma" panose="020B0604030504040204" pitchFamily="34" charset="0"/>
              </a:rPr>
              <a:t>Indexing</a:t>
            </a:r>
          </a:p>
        </p:txBody>
      </p:sp>
      <p:sp>
        <p:nvSpPr>
          <p:cNvPr id="4" name="Left Arrow 3"/>
          <p:cNvSpPr/>
          <p:nvPr/>
        </p:nvSpPr>
        <p:spPr>
          <a:xfrm>
            <a:off x="2532888" y="2514600"/>
            <a:ext cx="21945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 b="1" dirty="0">
              <a:latin typeface="Tahoma" panose="020B060403050404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770632" y="2011680"/>
            <a:ext cx="1965960" cy="128016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lang="en-US" sz="28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2800" b="1" dirty="0">
                <a:solidFill>
                  <a:srgbClr val="333333"/>
                </a:solidFill>
                <a:latin typeface="Tahoma" panose="020B0604030504040204" pitchFamily="34" charset="0"/>
              </a:rPr>
              <a:t>2</a:t>
            </a:r>
            <a:r>
              <a:rPr lang="en-EG" sz="28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28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8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الاسترجاع</a:t>
            </a:r>
            <a:endParaRPr sz="28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2000" b="1" dirty="0">
                <a:solidFill>
                  <a:srgbClr val="666666"/>
                </a:solidFill>
                <a:latin typeface="Tahoma" panose="020B0604030504040204" pitchFamily="34" charset="0"/>
              </a:rPr>
              <a:t>Retrieval</a:t>
            </a:r>
          </a:p>
        </p:txBody>
      </p:sp>
      <p:sp>
        <p:nvSpPr>
          <p:cNvPr id="6" name="Left Arrow 5"/>
          <p:cNvSpPr/>
          <p:nvPr/>
        </p:nvSpPr>
        <p:spPr>
          <a:xfrm>
            <a:off x="4754880" y="2514600"/>
            <a:ext cx="21945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 b="1" dirty="0">
              <a:latin typeface="Tahoma" panose="020B060403050404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992624" y="2011680"/>
            <a:ext cx="1965960" cy="128016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lang="en-US" sz="28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2800" b="1" dirty="0">
                <a:solidFill>
                  <a:srgbClr val="333333"/>
                </a:solidFill>
                <a:latin typeface="Tahoma" panose="020B0604030504040204" pitchFamily="34" charset="0"/>
              </a:rPr>
              <a:t>3</a:t>
            </a:r>
            <a:r>
              <a:rPr lang="en-EG" sz="28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28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8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التوليد</a:t>
            </a:r>
            <a:endParaRPr sz="28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2000" b="1" dirty="0">
                <a:solidFill>
                  <a:srgbClr val="666666"/>
                </a:solidFill>
                <a:latin typeface="Tahoma" panose="020B0604030504040204" pitchFamily="34" charset="0"/>
              </a:rPr>
              <a:t>Generation</a:t>
            </a:r>
          </a:p>
        </p:txBody>
      </p:sp>
      <p:sp>
        <p:nvSpPr>
          <p:cNvPr id="8" name="Left Arrow 7"/>
          <p:cNvSpPr/>
          <p:nvPr/>
        </p:nvSpPr>
        <p:spPr>
          <a:xfrm>
            <a:off x="6976872" y="2514600"/>
            <a:ext cx="21945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 b="1" dirty="0">
              <a:latin typeface="Tahoma" panose="020B060403050404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214616" y="2011680"/>
            <a:ext cx="1965960" cy="12801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lang="en-US" sz="28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2800" b="1" dirty="0">
                <a:solidFill>
                  <a:srgbClr val="333333"/>
                </a:solidFill>
                <a:latin typeface="Tahoma" panose="020B0604030504040204" pitchFamily="34" charset="0"/>
              </a:rPr>
              <a:t>4</a:t>
            </a:r>
            <a:r>
              <a:rPr lang="en-EG" sz="28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28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8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التقييم</a:t>
            </a:r>
            <a:endParaRPr sz="28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2000" b="1" dirty="0">
                <a:solidFill>
                  <a:srgbClr val="666666"/>
                </a:solidFill>
                <a:latin typeface="Tahoma" panose="020B0604030504040204" pitchFamily="34" charset="0"/>
              </a:rPr>
              <a:t>Evaluation</a:t>
            </a:r>
          </a:p>
        </p:txBody>
      </p:sp>
      <p:sp>
        <p:nvSpPr>
          <p:cNvPr id="10" name="Left Arrow 9"/>
          <p:cNvSpPr/>
          <p:nvPr/>
        </p:nvSpPr>
        <p:spPr>
          <a:xfrm>
            <a:off x="9198864" y="2514600"/>
            <a:ext cx="21945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 b="1" dirty="0">
              <a:latin typeface="Tahoma" panose="020B0604030504040204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436608" y="2011680"/>
            <a:ext cx="1965960" cy="12801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lang="en-US" sz="28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2800" b="1" dirty="0">
                <a:solidFill>
                  <a:srgbClr val="333333"/>
                </a:solidFill>
                <a:latin typeface="Tahoma" panose="020B0604030504040204" pitchFamily="34" charset="0"/>
              </a:rPr>
              <a:t>5</a:t>
            </a:r>
            <a:r>
              <a:rPr lang="en-EG" sz="28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28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التحسين</a:t>
            </a:r>
            <a:endParaRPr sz="28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2000" b="1" dirty="0">
                <a:solidFill>
                  <a:srgbClr val="666666"/>
                </a:solidFill>
                <a:latin typeface="Tahoma" panose="020B0604030504040204" pitchFamily="34" charset="0"/>
              </a:rPr>
              <a:t>Optimization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39"/>
            <a:ext cx="196596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تقسيم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تكراري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+ HNSW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70632" y="3749039"/>
            <a:ext cx="196596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بحث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هجين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+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إعادة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ترتيب</a:t>
            </a:r>
            <a:endParaRPr sz="20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992624" y="3749039"/>
            <a:ext cx="196596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موجِّه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مقيَّد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بالمصادر</a:t>
            </a:r>
            <a:endParaRPr sz="20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214616" y="3749039"/>
            <a:ext cx="196596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مثلث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RAG </a:t>
            </a: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RAGAS</a:t>
            </a: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endParaRPr sz="20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436608" y="3749039"/>
            <a:ext cx="196596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تخزين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مؤقت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+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توجيه</a:t>
            </a:r>
            <a:endParaRPr sz="20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45873" y="137160"/>
            <a:ext cx="826700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استراتيجيات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تقسيم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النصوص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Chunking Strategies</a:t>
            </a:r>
            <a:r>
              <a:rPr lang="en-US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 </a:t>
            </a:r>
            <a:endParaRPr sz="30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2004060" y="1234440"/>
            <a:ext cx="256032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ثابت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الحجم</a:t>
            </a:r>
            <a:endParaRPr sz="24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Fixed-size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47260" y="1234440"/>
            <a:ext cx="566928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أبسطها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 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يقطع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الجُمل</a:t>
            </a:r>
            <a:endParaRPr sz="20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004060" y="2148840"/>
            <a:ext cx="256032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دلالي</a:t>
            </a:r>
            <a:endParaRPr sz="24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Semantic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47260" y="2148840"/>
            <a:ext cx="566928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تماسك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أفضل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 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حساس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للعتبة</a:t>
            </a:r>
            <a:endParaRPr sz="20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004060" y="3063240"/>
            <a:ext cx="2560320" cy="77724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تكراري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★</a:t>
            </a:r>
          </a:p>
          <a:p>
            <a:pPr algn="ctr" rtl="0"/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Recursive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47260" y="3063240"/>
            <a:ext cx="566928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الموصى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به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افتراضيًا</a:t>
            </a:r>
            <a:endParaRPr sz="20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004060" y="3977640"/>
            <a:ext cx="256032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بحسب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البنية</a:t>
            </a:r>
            <a:endParaRPr sz="24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Structure-based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47260" y="3977640"/>
            <a:ext cx="566928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عناوين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وأقسام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 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يُدمج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مع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التكراري</a:t>
            </a:r>
            <a:endParaRPr sz="20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004060" y="4892040"/>
            <a:ext cx="256032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بالنموذج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اللغوي</a:t>
            </a:r>
            <a:endParaRPr sz="24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LLM-based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47260" y="4892040"/>
            <a:ext cx="5669280" cy="7772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الأدق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 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الأغلى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حسابيًا</a:t>
            </a:r>
            <a:endParaRPr sz="20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15102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  </a:t>
            </a:r>
            <a:r>
              <a:rPr lang="en-EG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الاسترجاع</a:t>
            </a:r>
            <a:r>
              <a:rPr lang="en-US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Retrieval</a:t>
            </a:r>
            <a:r>
              <a:rPr lang="en-US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. </a:t>
            </a:r>
            <a:endParaRPr sz="32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بحث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هجين</a:t>
            </a: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كثيف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Dense</a:t>
            </a: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+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متناثر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BM25</a:t>
            </a: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يغطي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المعنى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والكلمات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المفتاحية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معًا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.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lang="en-EG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 Hybrid search</a:t>
            </a:r>
            <a:r>
              <a:rPr lang="en-EG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 dense + sparse </a:t>
            </a:r>
            <a:r>
              <a:rPr lang="en-EG" b="1" dirty="0">
                <a:solidFill>
                  <a:srgbClr val="666666"/>
                </a:solidFill>
                <a:latin typeface="Tahoma" panose="020B0604030504040204" pitchFamily="34" charset="0"/>
              </a:rPr>
              <a:t>  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BM25</a:t>
            </a:r>
            <a:r>
              <a:rPr lang="en-EG" b="1" dirty="0">
                <a:solidFill>
                  <a:srgbClr val="666666"/>
                </a:solidFill>
                <a:latin typeface="Tahoma" panose="020B0604030504040204" pitchFamily="34" charset="0"/>
              </a:rPr>
              <a:t>  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 covers meaning and keywords.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إعادة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ترتيب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Cross-encoder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وتحويل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الاستعلام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Multi-Query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يرفعان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دقة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النتائج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.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lang="en-EG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 Cross-encoder reranking and multi-query transformation improve precision.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C7B1AB-0BF7-7352-117D-0D92A7D17614}"/>
              </a:ext>
            </a:extLst>
          </p:cNvPr>
          <p:cNvSpPr/>
          <p:nvPr/>
        </p:nvSpPr>
        <p:spPr>
          <a:xfrm>
            <a:off x="152401" y="3301340"/>
            <a:ext cx="12039600" cy="866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en-US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    </a:t>
            </a:r>
            <a:r>
              <a:rPr lang="en-US" sz="3200" b="1" dirty="0">
                <a:solidFill>
                  <a:srgbClr val="1F3B5C"/>
                </a:solidFill>
                <a:latin typeface="Tahoma" panose="020B0604030504040204" pitchFamily="34" charset="0"/>
                <a:cs typeface="ADLaM Display" panose="02010000000000000000" pitchFamily="2" charset="77"/>
              </a:rPr>
              <a:t> </a:t>
            </a:r>
            <a:r>
              <a:rPr lang="ar-EG" sz="3200" b="1" dirty="0">
                <a:solidFill>
                  <a:srgbClr val="1F3B5C"/>
                </a:solidFill>
                <a:latin typeface="Tahoma" panose="020B0604030504040204" pitchFamily="34" charset="0"/>
                <a:cs typeface="ADLaM Display" panose="02010000000000000000" pitchFamily="2" charset="77"/>
              </a:rPr>
              <a:t>  </a:t>
            </a:r>
            <a:r>
              <a:rPr lang="en-US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ar-EG" sz="3200" b="1" dirty="0">
                <a:solidFill>
                  <a:srgbClr val="1F3B5C"/>
                </a:solidFill>
                <a:latin typeface="Tahoma" panose="020B0604030504040204" pitchFamily="34" charset="0"/>
                <a:cs typeface="ADLaM Display" panose="02010000000000000000" pitchFamily="2" charset="77"/>
              </a:rPr>
              <a:t> التوليد   </a:t>
            </a:r>
            <a:r>
              <a:rPr lang="en-US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Generation</a:t>
            </a:r>
            <a:r>
              <a:rPr lang="en-US" b="1" dirty="0">
                <a:solidFill>
                  <a:srgbClr val="1F3B5C"/>
                </a:solidFill>
                <a:latin typeface="Tahoma" panose="020B0604030504040204" pitchFamily="34" charset="0"/>
              </a:rPr>
              <a:t>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F6898E-1982-3370-F011-CA6303ED9B8E}"/>
              </a:ext>
            </a:extLst>
          </p:cNvPr>
          <p:cNvSpPr txBox="1"/>
          <p:nvPr/>
        </p:nvSpPr>
        <p:spPr>
          <a:xfrm>
            <a:off x="792480" y="4442460"/>
            <a:ext cx="109728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موجِّه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مقيَّد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بالمصادر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المسترجعة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Grounded Prompting</a:t>
            </a: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مع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الاستشهاد</a:t>
            </a: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«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أجب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فقط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من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السياق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المرفق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».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lang="en-EG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 Grounded prompting strictly on retrieved sources with citations</a:t>
            </a:r>
            <a:r>
              <a:rPr lang="en-EG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 'answer only from the provided context'.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20224" y="137160"/>
            <a:ext cx="829265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نمط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الإجابة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المؤرَّضة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Grounded Answer Pattern</a:t>
            </a:r>
            <a:r>
              <a:rPr lang="en-US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endParaRPr sz="30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2743200" cy="109728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سؤال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المتعلِّم</a:t>
            </a:r>
            <a:endParaRPr sz="16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Learner question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697480"/>
            <a:ext cx="2743200" cy="11430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ما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الاستراتيجية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الافتراضية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للتقسيم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؟</a:t>
            </a:r>
          </a:p>
          <a:p>
            <a:pPr algn="ctr" rtl="0"/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Which chunking default should I use?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520440" y="3063240"/>
            <a:ext cx="59436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latin typeface="Tahoma" panose="020B060403050404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251960" y="1280160"/>
            <a:ext cx="3063240" cy="100584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أدلة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مسترجعة</a:t>
            </a:r>
            <a:endParaRPr sz="16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Retrieved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2422566"/>
            <a:ext cx="3063240" cy="874632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lang="en-US"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الفقرات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← </a:t>
            </a:r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الجمل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← </a:t>
            </a:r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التقسيم</a:t>
            </a:r>
            <a:endParaRPr sz="16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lang="en-US" sz="16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paragraphs → sentences → split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3310128"/>
            <a:ext cx="306324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lang="en-US"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التكراري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هو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الخيار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الموصى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به</a:t>
            </a:r>
            <a:endParaRPr sz="16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lang="en-US" sz="16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recursive is the recommended default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452360" y="3063240"/>
            <a:ext cx="59436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latin typeface="Tahoma" panose="020B0604030504040204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183879" y="1417320"/>
            <a:ext cx="3337560" cy="109728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إجابة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موثقة</a:t>
            </a:r>
            <a:endParaRPr sz="16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Grounded answer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2697480"/>
            <a:ext cx="3337560" cy="11430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ابدأ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بالتقسيم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التكراري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US"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endParaRPr sz="16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Start with recursive chunking </a:t>
            </a:r>
            <a:r>
              <a:rPr lang="en-US" sz="16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endParaRPr sz="1600" b="1" dirty="0">
              <a:solidFill>
                <a:srgbClr val="666666"/>
              </a:solidFill>
              <a:latin typeface="Tahoma" panose="020B0604030504040204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194560" y="4892040"/>
            <a:ext cx="7818120" cy="68580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لا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دليل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مسترجع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؟ </a:t>
            </a:r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قل</a:t>
            </a:r>
            <a:r>
              <a:rPr lang="en-EG"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لا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أعرف</a:t>
            </a:r>
            <a:r>
              <a:rPr lang="en-US"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No retrieved evidence? Say</a:t>
            </a:r>
            <a:r>
              <a:rPr lang="en-EG"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I don't know.</a:t>
            </a:r>
            <a:r>
              <a:rPr lang="en-US"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endParaRPr sz="16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 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التقييم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+ </a:t>
            </a:r>
            <a:r>
              <a:rPr lang="en-US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 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التحسين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Evaluation + Optimization</a:t>
            </a:r>
            <a:r>
              <a:rPr lang="en-US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 </a:t>
            </a:r>
            <a:endParaRPr sz="32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مثلث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RAG</a:t>
            </a:r>
            <a:r>
              <a:rPr lang="en-US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</a:p>
          <a:p>
            <a:pPr marL="342900" indent="-342900" algn="r" rtl="1">
              <a:spcBef>
                <a:spcPts val="2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الوفاء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Faithfulness</a:t>
            </a:r>
            <a:r>
              <a:rPr lang="en-US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</a:p>
          <a:p>
            <a:pPr marL="342900" indent="-342900" algn="r" rtl="1">
              <a:spcBef>
                <a:spcPts val="2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lang="en-US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ملاءمة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الإجابة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Answer Relevancy</a:t>
            </a:r>
            <a:r>
              <a:rPr lang="en-US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</a:p>
          <a:p>
            <a:pPr marL="342900" indent="-342900" algn="r" rtl="1">
              <a:spcBef>
                <a:spcPts val="2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 ،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دقة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السياق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US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Context Precision</a:t>
            </a:r>
            <a:r>
              <a:rPr lang="en-US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endParaRPr sz="24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lang="en-EG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 RAG triad</a:t>
            </a:r>
            <a:r>
              <a:rPr lang="en-EG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 faithfulness, answer relevancy, context precision measured with RAGAS.</a:t>
            </a:r>
            <a:endParaRPr lang="en-US" b="1" dirty="0">
              <a:solidFill>
                <a:srgbClr val="666666"/>
              </a:solidFill>
              <a:latin typeface="Tahoma" panose="020B0604030504040204" pitchFamily="34" charset="0"/>
            </a:endParaRP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endParaRPr b="1" dirty="0">
              <a:solidFill>
                <a:srgbClr val="666666"/>
              </a:solidFill>
              <a:latin typeface="Tahoma" panose="020B0604030504040204" pitchFamily="34" charset="0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التحسين</a:t>
            </a: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تخزين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دلالي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مؤقت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،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توجيه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الطلبات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بين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النماذج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،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ومراقبة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مستمرة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lang="en-EG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 Optimization</a:t>
            </a:r>
            <a:r>
              <a:rPr lang="en-EG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 semantic caching, model routing, continuous monitoring.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65144" y="137160"/>
            <a:ext cx="694773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مثلث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تقييم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RAG 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RAG Evaluation Triad</a:t>
            </a:r>
            <a:r>
              <a:rPr lang="en-US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endParaRPr sz="30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  <p:sp>
        <p:nvSpPr>
          <p:cNvPr id="3" name="Isosceles Triangle 2"/>
          <p:cNvSpPr/>
          <p:nvPr/>
        </p:nvSpPr>
        <p:spPr>
          <a:xfrm>
            <a:off x="3749039" y="1463040"/>
            <a:ext cx="4572000" cy="3840480"/>
          </a:xfrm>
          <a:prstGeom prst="triangle">
            <a:avLst/>
          </a:prstGeom>
          <a:solidFill>
            <a:srgbClr val="DCE6F1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480560" y="1188720"/>
            <a:ext cx="3108960" cy="73152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الوفاء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بالمصدر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Faithfulness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4846320"/>
            <a:ext cx="3108960" cy="73152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ملاءمة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الإجابة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Answer Relevancy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4846320"/>
            <a:ext cx="3108960" cy="7315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دقة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السياق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Context Precision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1D2FDC-7CED-9BF2-75B2-744CC17CF4D7}"/>
              </a:ext>
            </a:extLst>
          </p:cNvPr>
          <p:cNvSpPr txBox="1"/>
          <p:nvPr/>
        </p:nvSpPr>
        <p:spPr>
          <a:xfrm>
            <a:off x="5603174" y="3429000"/>
            <a:ext cx="9856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RAG</a:t>
            </a:r>
            <a:endParaRPr lang="de-DE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الأخطاء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الشائعة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Common Pitfalls</a:t>
            </a:r>
            <a:r>
              <a:rPr lang="en-US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endParaRPr sz="32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1140242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تقسيم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يكسر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الجداول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أو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الأكواد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؛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إهمال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إعادة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الترتيب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فيضيع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الأكثر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ملاءمة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lang="en-EG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 Chunking that breaks tables</a:t>
            </a:r>
            <a:r>
              <a:rPr lang="en-EG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code; skipping reranking loses the most relevant hits.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غياب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تقييم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الوفاء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فيسمح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بالهلوسة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؛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استرجاع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أعلى-ك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دون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حد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أدنى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للدرجة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lang="en-EG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 No faithfulness evaluation allows hallucination; top-k without a score floor.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1" dirty="0" err="1">
                <a:solidFill>
                  <a:srgbClr val="666666"/>
                </a:solidFill>
                <a:latin typeface="Tahoma" panose="020B0604030504040204" pitchFamily="34" charset="0"/>
              </a:rPr>
              <a:t>V09</a:t>
            </a:r>
            <a:r>
              <a:rPr sz="1000" b="1" dirty="0">
                <a:solidFill>
                  <a:srgbClr val="666666"/>
                </a:solidFill>
                <a:latin typeface="Tahoma" panose="020B0604030504040204" pitchFamily="34" charset="0"/>
              </a:rPr>
              <a:t>  </a:t>
            </a:r>
            <a:r>
              <a:rPr lang="en-EG" sz="10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000" b="1" dirty="0">
                <a:solidFill>
                  <a:srgbClr val="666666"/>
                </a:solidFill>
                <a:latin typeface="Tahoma" panose="020B0604030504040204" pitchFamily="34" charset="0"/>
              </a:rPr>
              <a:t>  12</a:t>
            </a:r>
            <a:r>
              <a:rPr lang="en-EG" sz="10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000" b="1" dirty="0">
                <a:solidFill>
                  <a:srgbClr val="666666"/>
                </a:solidFill>
                <a:latin typeface="Tahoma" panose="020B0604030504040204" pitchFamily="34" charset="0"/>
              </a:rPr>
              <a:t>15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6D4CD3-BACF-5E76-3A42-FF69C1ACB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71" y="2907068"/>
            <a:ext cx="11779332" cy="3950931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12745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b="1" dirty="0" err="1">
                <a:latin typeface="Tahoma" panose="020B0604030504040204" pitchFamily="34" charset="0"/>
              </a:rPr>
              <a:t>V</a:t>
            </a:r>
            <a:r>
              <a:rPr lang="en-US" b="1" dirty="0" err="1">
                <a:latin typeface="Tahoma" panose="020B0604030504040204" pitchFamily="34" charset="0"/>
              </a:rPr>
              <a:t>10</a:t>
            </a:r>
            <a:r>
              <a:rPr b="1" dirty="0">
                <a:latin typeface="Tahoma" panose="020B0604030504040204" pitchFamily="34" charset="0"/>
              </a:rPr>
              <a:t> </a:t>
            </a:r>
            <a:r>
              <a:rPr lang="en-EG" b="1" dirty="0">
                <a:latin typeface="Tahoma" panose="020B0604030504040204" pitchFamily="34" charset="0"/>
              </a:rPr>
              <a:t>   </a:t>
            </a:r>
            <a:r>
              <a:rPr b="1" dirty="0">
                <a:latin typeface="Tahoma" panose="020B0604030504040204" pitchFamily="34" charset="0"/>
              </a:rPr>
              <a:t> </a:t>
            </a:r>
            <a:r>
              <a:rPr lang="en-US" b="1" dirty="0">
                <a:latin typeface="Tahoma" panose="020B0604030504040204" pitchFamily="34" charset="0"/>
              </a:rPr>
              <a:t>Labeling at Scale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أجندة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العرض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Agenda</a:t>
            </a:r>
            <a:r>
              <a:rPr lang="en-US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endParaRPr sz="32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V10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 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تصنيف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البيانات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على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نطاق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واسع</a:t>
            </a:r>
            <a:r>
              <a:rPr lang="en-US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Labeling at Scale </a:t>
            </a:r>
            <a:endParaRPr sz="24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US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endParaRPr b="1" dirty="0">
              <a:solidFill>
                <a:srgbClr val="666666"/>
              </a:solidFill>
              <a:latin typeface="Tahoma" panose="020B0604030504040204" pitchFamily="34" charset="0"/>
            </a:endParaRPr>
          </a:p>
          <a:p>
            <a:pPr marL="342900" indent="-342900" algn="r" rtl="1">
              <a:spcBef>
                <a:spcPts val="2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لماذا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التصنيف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؟ </a:t>
            </a: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Why Labeling?</a:t>
            </a:r>
            <a:r>
              <a:rPr lang="en-US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endParaRPr sz="24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marL="342900" indent="-342900" algn="r" rtl="1">
              <a:spcBef>
                <a:spcPts val="2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الأدوات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Tools</a:t>
            </a:r>
            <a:r>
              <a:rPr lang="en-US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endParaRPr sz="24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marL="342900" indent="-342900" algn="r" rtl="1">
              <a:spcBef>
                <a:spcPts val="2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التصنيف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بمساعدة</a:t>
            </a:r>
            <a:r>
              <a:rPr lang="en-US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LLM </a:t>
            </a: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LLM-assisted Labeling</a:t>
            </a:r>
            <a:r>
              <a:rPr lang="en-US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endParaRPr sz="24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80560" y="137160"/>
            <a:ext cx="683232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حلقة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جودة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التصنيف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Label Quality Loop</a:t>
            </a:r>
            <a:r>
              <a:rPr lang="en-US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 </a:t>
            </a:r>
            <a:endParaRPr sz="30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480560" cy="82296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تسميات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متسرعة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أو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غير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متسقة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Rushed or inconsistent labels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68880"/>
            <a:ext cx="4480560" cy="11430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ضوضاء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←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نموذج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ضعيف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←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تصحيحات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أكثر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Noise → weak model → more corrections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422075" y="2236720"/>
            <a:ext cx="68580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309360" y="1417320"/>
            <a:ext cx="4480560" cy="82296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اقتراح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LLM +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مراجعة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بشرية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LLM suggestion + human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468880"/>
            <a:ext cx="4480560" cy="114300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تسميات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موثوقة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←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نموذج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أفضل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←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تغذية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راجعة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Trusted labels → better model → feedback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4617720"/>
            <a:ext cx="6080760" cy="713232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قِس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اتفاق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المقيمين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قبل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قبول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البيانات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Measure reviewer agreement before accepting data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8483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الأدوات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Tools</a:t>
            </a:r>
            <a:r>
              <a:rPr lang="en-US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 </a:t>
            </a:r>
            <a:endParaRPr sz="32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EG"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Label Studio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للتعددية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،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Roboflow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للرؤية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الحاسوبية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، Scale AI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للتوسع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المؤسسي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lang="en-EG" sz="16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 Label Studio for versatility, </a:t>
            </a:r>
            <a:r>
              <a:rPr sz="1600" b="1" dirty="0" err="1">
                <a:solidFill>
                  <a:srgbClr val="666666"/>
                </a:solidFill>
                <a:latin typeface="Tahoma" panose="020B0604030504040204" pitchFamily="34" charset="0"/>
              </a:rPr>
              <a:t>Roboflow</a:t>
            </a:r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 for vision, Scale AI for enterprise scale.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8C67AC-F0F8-48C3-F2CA-29A681D746C1}"/>
              </a:ext>
            </a:extLst>
          </p:cNvPr>
          <p:cNvSpPr/>
          <p:nvPr/>
        </p:nvSpPr>
        <p:spPr>
          <a:xfrm>
            <a:off x="12700" y="2591336"/>
            <a:ext cx="12191695" cy="814804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sz="3200" b="1" dirty="0">
                <a:solidFill>
                  <a:srgbClr val="1F3B5C"/>
                </a:solidFill>
                <a:latin typeface="Tahoma" panose="020B0604030504040204" pitchFamily="34" charset="0"/>
                <a:cs typeface="ADLaM Display" panose="02010000000000000000" pitchFamily="2" charset="77"/>
              </a:rPr>
              <a:t>التصنيف بمساعدة</a:t>
            </a:r>
            <a:r>
              <a:rPr lang="en-US" sz="3200" b="1" dirty="0">
                <a:solidFill>
                  <a:srgbClr val="1F3B5C"/>
                </a:solidFill>
                <a:latin typeface="Tahoma" panose="020B0604030504040204" pitchFamily="34" charset="0"/>
                <a:cs typeface="ADLaM Display" panose="02010000000000000000" pitchFamily="2" charset="77"/>
              </a:rPr>
              <a:t> LLM </a:t>
            </a:r>
            <a:r>
              <a:rPr lang="ar-EG" sz="3200" b="1" dirty="0">
                <a:solidFill>
                  <a:srgbClr val="1F3B5C"/>
                </a:solidFill>
                <a:latin typeface="Tahoma" panose="020B0604030504040204" pitchFamily="34" charset="0"/>
                <a:cs typeface="ADLaM Display" panose="02010000000000000000" pitchFamily="2" charset="77"/>
              </a:rPr>
              <a:t> </a:t>
            </a:r>
            <a:r>
              <a:rPr lang="en-US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LLM-assisted Labeling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1EAB78-1213-D1B1-6B7B-4D293BDB2096}"/>
              </a:ext>
            </a:extLst>
          </p:cNvPr>
          <p:cNvSpPr txBox="1"/>
          <p:nvPr/>
        </p:nvSpPr>
        <p:spPr>
          <a:xfrm>
            <a:off x="652780" y="3680460"/>
            <a:ext cx="109728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EG"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نموذج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لغوي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يقترح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التصنيفات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مبدئيًا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لتسريع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العملية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وخفض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التكلفة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lang="en-EG" sz="16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 An LLM pre-labels examples to speed up the process and cut cost.</a:t>
            </a:r>
            <a:endParaRPr lang="en-US" sz="1600" b="1" dirty="0">
              <a:solidFill>
                <a:srgbClr val="666666"/>
              </a:solidFill>
              <a:latin typeface="Tahoma" panose="020B0604030504040204" pitchFamily="34" charset="0"/>
            </a:endParaRP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endParaRPr sz="1600" b="1" dirty="0">
              <a:solidFill>
                <a:srgbClr val="666666"/>
              </a:solidFill>
              <a:latin typeface="Tahoma" panose="020B0604030504040204" pitchFamily="34" charset="0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EG"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التحقق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البشري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Human-in-the-loop</a:t>
            </a:r>
            <a:r>
              <a:rPr lang="en-EG"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إلزامي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قبل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القبول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،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مع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قياس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اتفاق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النموذج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مع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البشر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lang="en-EG" sz="16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 Human-in-the-loop validation is mandatory before acceptance, measuring human–model agreement.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369888" y="137160"/>
            <a:ext cx="1198276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سير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عمل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التصنيف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بمساعدة</a:t>
            </a:r>
            <a:r>
              <a:rPr lang="en-US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   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LLM-assisted Labeling Workflow</a:t>
            </a:r>
            <a:r>
              <a:rPr lang="en-US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   LLM </a:t>
            </a:r>
            <a:endParaRPr sz="30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2103120"/>
            <a:ext cx="1965960" cy="12801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بيانات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خام</a:t>
            </a:r>
            <a:endParaRPr sz="16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Raw data</a:t>
            </a:r>
          </a:p>
        </p:txBody>
      </p:sp>
      <p:sp>
        <p:nvSpPr>
          <p:cNvPr id="4" name="Left Arrow 3"/>
          <p:cNvSpPr/>
          <p:nvPr/>
        </p:nvSpPr>
        <p:spPr>
          <a:xfrm>
            <a:off x="2624328" y="2606040"/>
            <a:ext cx="274320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latin typeface="Tahoma" panose="020B060403050404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926080" y="2103120"/>
            <a:ext cx="1965960" cy="12801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تسمية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مبدئية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بال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ـ LLM</a:t>
            </a:r>
          </a:p>
          <a:p>
            <a:pPr algn="ctr" rtl="0"/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LLM pre-labeling</a:t>
            </a:r>
          </a:p>
        </p:txBody>
      </p:sp>
      <p:sp>
        <p:nvSpPr>
          <p:cNvPr id="6" name="Left Arrow 5"/>
          <p:cNvSpPr/>
          <p:nvPr/>
        </p:nvSpPr>
        <p:spPr>
          <a:xfrm>
            <a:off x="4910328" y="2606040"/>
            <a:ext cx="274320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latin typeface="Tahoma" panose="020B060403050404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212080" y="2103120"/>
            <a:ext cx="1965960" cy="128016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مراجعة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وتصحيح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بشري</a:t>
            </a:r>
            <a:endParaRPr sz="16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Human review </a:t>
            </a:r>
            <a:r>
              <a:rPr lang="en-EG" sz="1600" b="1" dirty="0">
                <a:solidFill>
                  <a:srgbClr val="666666"/>
                </a:solidFill>
                <a:latin typeface="Tahoma" panose="020B0604030504040204" pitchFamily="34" charset="0"/>
              </a:rPr>
              <a:t>  </a:t>
            </a:r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HITL</a:t>
            </a:r>
            <a:r>
              <a:rPr lang="en-EG" sz="1600" b="1" dirty="0">
                <a:solidFill>
                  <a:srgbClr val="666666"/>
                </a:solidFill>
                <a:latin typeface="Tahoma" panose="020B0604030504040204" pitchFamily="34" charset="0"/>
              </a:rPr>
              <a:t>  </a:t>
            </a:r>
            <a:endParaRPr sz="1600" b="1" dirty="0">
              <a:solidFill>
                <a:srgbClr val="666666"/>
              </a:solidFill>
              <a:latin typeface="Tahoma" panose="020B0604030504040204" pitchFamily="34" charset="0"/>
            </a:endParaRPr>
          </a:p>
        </p:txBody>
      </p:sp>
      <p:sp>
        <p:nvSpPr>
          <p:cNvPr id="8" name="Left Arrow 7"/>
          <p:cNvSpPr/>
          <p:nvPr/>
        </p:nvSpPr>
        <p:spPr>
          <a:xfrm>
            <a:off x="7196328" y="2606040"/>
            <a:ext cx="274320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latin typeface="Tahoma" panose="020B060403050404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498080" y="2103120"/>
            <a:ext cx="1965960" cy="128016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تسميات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معتمدة</a:t>
            </a:r>
            <a:endParaRPr sz="16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Approved labels</a:t>
            </a:r>
          </a:p>
        </p:txBody>
      </p:sp>
      <p:sp>
        <p:nvSpPr>
          <p:cNvPr id="10" name="Left Arrow 9"/>
          <p:cNvSpPr/>
          <p:nvPr/>
        </p:nvSpPr>
        <p:spPr>
          <a:xfrm>
            <a:off x="9482328" y="2606040"/>
            <a:ext cx="274320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latin typeface="Tahoma" panose="020B0604030504040204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784080" y="2103120"/>
            <a:ext cx="1965960" cy="12801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تدريب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النموذج</a:t>
            </a:r>
            <a:endParaRPr sz="16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Model training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4023360"/>
            <a:ext cx="6766560" cy="110678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حلقة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تغذية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راجعة</a:t>
            </a: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تصحيحات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البشر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تُحسِّن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موجِّهات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ـ LLM</a:t>
            </a:r>
          </a:p>
          <a:p>
            <a:pPr algn="ctr" rtl="0"/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Feedback loop</a:t>
            </a:r>
            <a:r>
              <a:rPr lang="en-EG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 human corrections improve LLM prompts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8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127455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b="1" dirty="0" err="1">
                <a:latin typeface="Tahoma" panose="020B0604030504040204" pitchFamily="34" charset="0"/>
              </a:rPr>
              <a:t>V1</a:t>
            </a:r>
            <a:r>
              <a:rPr lang="en-US" b="1" dirty="0" err="1">
                <a:latin typeface="Tahoma" panose="020B0604030504040204" pitchFamily="34" charset="0"/>
              </a:rPr>
              <a:t>1</a:t>
            </a:r>
            <a:r>
              <a:rPr b="1" dirty="0">
                <a:latin typeface="Tahoma" panose="020B0604030504040204" pitchFamily="34" charset="0"/>
              </a:rPr>
              <a:t> </a:t>
            </a:r>
            <a:r>
              <a:rPr lang="en-EG" b="1" dirty="0">
                <a:latin typeface="Tahoma" panose="020B0604030504040204" pitchFamily="34" charset="0"/>
              </a:rPr>
              <a:t>   </a:t>
            </a:r>
            <a:r>
              <a:rPr b="1" dirty="0">
                <a:latin typeface="Tahoma" panose="020B0604030504040204" pitchFamily="34" charset="0"/>
              </a:rPr>
              <a:t> </a:t>
            </a:r>
            <a:r>
              <a:rPr lang="en-US" b="1" dirty="0">
                <a:latin typeface="Tahoma" panose="020B0604030504040204" pitchFamily="34" charset="0"/>
              </a:rPr>
              <a:t>Data Governance, Lineage &amp; Cataloging</a:t>
            </a:r>
          </a:p>
          <a:p>
            <a:pPr algn="ctr">
              <a:defRPr sz="4800" b="1">
                <a:solidFill>
                  <a:srgbClr val="FFFFFF"/>
                </a:solidFill>
              </a:defRPr>
            </a:pPr>
            <a:endParaRPr lang="en-US" b="1" dirty="0">
              <a:latin typeface="Tahoma" panose="020B0604030504040204" pitchFamily="34" charset="0"/>
            </a:endParaRPr>
          </a:p>
          <a:p>
            <a:pPr algn="ctr">
              <a:defRPr sz="4800" b="1">
                <a:solidFill>
                  <a:srgbClr val="FFFFFF"/>
                </a:solidFill>
              </a:defRPr>
            </a:pPr>
            <a:endParaRPr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أجندة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العرض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Agenda</a:t>
            </a:r>
            <a:r>
              <a:rPr lang="en-US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 </a:t>
            </a:r>
            <a:endParaRPr sz="32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V11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 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حوكمة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البيانات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وسلسلة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العهدة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والفهرسة</a:t>
            </a:r>
            <a:r>
              <a:rPr lang="en-US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 Data Governance, Lineage &amp; Cataloging </a:t>
            </a:r>
            <a:endParaRPr sz="24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EG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lang="en-US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endParaRPr b="1" dirty="0">
              <a:solidFill>
                <a:srgbClr val="666666"/>
              </a:solidFill>
              <a:latin typeface="Tahoma" panose="020B0604030504040204" pitchFamily="34" charset="0"/>
            </a:endParaRPr>
          </a:p>
          <a:p>
            <a:pPr marL="342900" indent="-342900" algn="r" rtl="1">
              <a:spcBef>
                <a:spcPts val="2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الحوكمة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والفهرسة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Governance &amp; Cataloging</a:t>
            </a:r>
            <a:r>
              <a:rPr lang="en-US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endParaRPr sz="24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marL="342900" indent="-342900" algn="r" rtl="1">
              <a:spcBef>
                <a:spcPts val="2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المعمارية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المرجعية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للذكاء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التوليدي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lang="en-US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GenAI Reference Architecture </a:t>
            </a: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lang="en-US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endParaRPr sz="24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endParaRPr sz="24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الحوكمة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والفهرسة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Governance &amp; Cataloging</a:t>
            </a:r>
            <a:r>
              <a:rPr lang="en-US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endParaRPr sz="32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EG"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سلسلة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العهدة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Lineage</a:t>
            </a:r>
            <a:r>
              <a:rPr lang="en-EG"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تتبع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أصل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البيانات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وتحولاتها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؛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الفهرسة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تجعلها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قابلة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للاكتشاف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lang="en-EG" sz="16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 Lineage traces data origin and transformations; cataloging makes it discoverable.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EG"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أدوات</a:t>
            </a:r>
            <a:r>
              <a:rPr lang="en-EG"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Apache Atlas، Collibra،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DataHub</a:t>
            </a:r>
            <a:r>
              <a:rPr lang="en-US" sz="1900" b="1" dirty="0">
                <a:solidFill>
                  <a:srgbClr val="333333"/>
                </a:solidFill>
                <a:latin typeface="Tahoma" panose="020B0604030504040204" pitchFamily="34" charset="0"/>
              </a:rPr>
              <a:t>, </a:t>
            </a:r>
            <a:r>
              <a:rPr lang="en-US"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OpenMetaData</a:t>
            </a:r>
            <a:r>
              <a:rPr lang="en-US" sz="1900" b="1" dirty="0">
                <a:solidFill>
                  <a:srgbClr val="333333"/>
                </a:solidFill>
                <a:latin typeface="Tahoma" panose="020B0604030504040204" pitchFamily="34" charset="0"/>
              </a:rPr>
              <a:t>. 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lang="en-EG" sz="16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 Tools</a:t>
            </a:r>
            <a:r>
              <a:rPr lang="en-EG" sz="16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 Apache Atlas, Collibra, </a:t>
            </a:r>
            <a:r>
              <a:rPr sz="1600" b="1" dirty="0" err="1">
                <a:solidFill>
                  <a:srgbClr val="666666"/>
                </a:solidFill>
                <a:latin typeface="Tahoma" panose="020B0604030504040204" pitchFamily="34" charset="0"/>
              </a:rPr>
              <a:t>DataHub</a:t>
            </a:r>
            <a:r>
              <a:rPr lang="en-US" sz="1600" b="1" dirty="0">
                <a:solidFill>
                  <a:srgbClr val="666666"/>
                </a:solidFill>
                <a:latin typeface="Tahoma" panose="020B0604030504040204" pitchFamily="34" charset="0"/>
              </a:rPr>
              <a:t>, </a:t>
            </a:r>
            <a:r>
              <a:rPr lang="en-US" sz="1600" b="1" dirty="0" err="1">
                <a:solidFill>
                  <a:srgbClr val="666666"/>
                </a:solidFill>
                <a:latin typeface="Tahoma" panose="020B0604030504040204" pitchFamily="34" charset="0"/>
              </a:rPr>
              <a:t>OpenMetaData</a:t>
            </a:r>
            <a:endParaRPr sz="1600" b="1" dirty="0">
              <a:solidFill>
                <a:srgbClr val="666666"/>
              </a:solidFill>
              <a:latin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C9489D-D003-E8AE-42A0-C716E8B79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647" y="2932044"/>
            <a:ext cx="7772400" cy="392595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97579" y="137160"/>
            <a:ext cx="671530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خريطة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سلسلة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العهدة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Data Lineage Map</a:t>
            </a:r>
            <a:r>
              <a:rPr lang="en-US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endParaRPr sz="30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94360" y="1874519"/>
            <a:ext cx="2560320" cy="86868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مصدر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Source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926080"/>
            <a:ext cx="2560320" cy="64008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CRM </a:t>
            </a: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API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27832" y="2240280"/>
            <a:ext cx="329184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474720" y="1874519"/>
            <a:ext cx="2560320" cy="86868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تحويل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Transform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926080"/>
            <a:ext cx="2560320" cy="64008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تنظيف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+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توحيد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6108192" y="2240280"/>
            <a:ext cx="329184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55080" y="1874519"/>
            <a:ext cx="2560320" cy="86868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منتج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بيانات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Data product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26080"/>
            <a:ext cx="2560320" cy="64008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مخطط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+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مالك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8988552" y="2240280"/>
            <a:ext cx="329184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235440" y="1874519"/>
            <a:ext cx="2560320" cy="86868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استهلاك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Consume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2926080"/>
            <a:ext cx="2560320" cy="64008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لوحة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نموذج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286000" y="4709159"/>
            <a:ext cx="7635240" cy="1038497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لكل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خطوة</a:t>
            </a: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مالك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+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وقت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+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سياسة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+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أثر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التغيير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For every step</a:t>
            </a:r>
            <a:r>
              <a:rPr lang="en-EG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 owner + time + policy + change impact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4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المعمارية</a:t>
            </a:r>
            <a:r>
              <a:rPr sz="24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المرجعية</a:t>
            </a:r>
            <a:r>
              <a:rPr sz="24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للذكاء</a:t>
            </a:r>
            <a:r>
              <a:rPr sz="24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التوليدي</a:t>
            </a:r>
            <a:r>
              <a:rPr sz="24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24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1F3B5C"/>
                </a:solidFill>
                <a:latin typeface="Tahoma" panose="020B0604030504040204" pitchFamily="34" charset="0"/>
              </a:rPr>
              <a:t> GenAI Reference Architecture </a:t>
            </a:r>
            <a:r>
              <a:rPr lang="en-EG" sz="2400" b="1" dirty="0">
                <a:solidFill>
                  <a:srgbClr val="1F3B5C"/>
                </a:solidFill>
                <a:latin typeface="Tahoma" panose="020B0604030504040204" pitchFamily="34" charset="0"/>
              </a:rPr>
              <a:t>  </a:t>
            </a:r>
            <a:r>
              <a:rPr sz="2400" b="1" dirty="0">
                <a:solidFill>
                  <a:srgbClr val="1F3B5C"/>
                </a:solidFill>
                <a:latin typeface="Tahoma" panose="020B0604030504040204" pitchFamily="34" charset="0"/>
              </a:rPr>
              <a:t>1</a:t>
            </a:r>
            <a:r>
              <a:rPr lang="en-US" sz="2400" b="1" dirty="0">
                <a:solidFill>
                  <a:srgbClr val="1F3B5C"/>
                </a:solidFill>
                <a:latin typeface="Tahoma" panose="020B0604030504040204" pitchFamily="34" charset="0"/>
              </a:rPr>
              <a:t> /</a:t>
            </a:r>
            <a:r>
              <a:rPr lang="en-EG" sz="24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1F3B5C"/>
                </a:solidFill>
                <a:latin typeface="Tahoma" panose="020B0604030504040204" pitchFamily="34" charset="0"/>
              </a:rPr>
              <a:t>2</a:t>
            </a:r>
            <a:r>
              <a:rPr lang="en-EG" sz="2400" b="1" dirty="0">
                <a:solidFill>
                  <a:srgbClr val="1F3B5C"/>
                </a:solidFill>
                <a:latin typeface="Tahoma" panose="020B0604030504040204" pitchFamily="34" charset="0"/>
              </a:rPr>
              <a:t>  </a:t>
            </a:r>
            <a:r>
              <a:rPr lang="en-US" sz="2400" b="1" dirty="0">
                <a:solidFill>
                  <a:srgbClr val="1F3B5C"/>
                </a:solidFill>
                <a:latin typeface="Tahoma" panose="020B0604030504040204" pitchFamily="34" charset="0"/>
              </a:rPr>
              <a:t>  </a:t>
            </a:r>
            <a:endParaRPr sz="24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أ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.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بوابة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منصة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GenAI</a:t>
            </a: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نافذة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موحدة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بكتالوج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حلول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ومحفظة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POC → MVP → PROD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موثقة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lang="en-EG" sz="20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666666"/>
                </a:solidFill>
                <a:latin typeface="Tahoma" panose="020B0604030504040204" pitchFamily="34" charset="0"/>
              </a:rPr>
              <a:t> A. Portal</a:t>
            </a:r>
            <a:r>
              <a:rPr lang="en-EG" sz="20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666666"/>
                </a:solidFill>
                <a:latin typeface="Tahoma" panose="020B0604030504040204" pitchFamily="34" charset="0"/>
              </a:rPr>
              <a:t> unified pane of glass with a solution catalog and documented POC → MVP → PROD portfolio.</a:t>
            </a:r>
            <a:endParaRPr lang="en-US" sz="2000" b="1" dirty="0">
              <a:solidFill>
                <a:srgbClr val="666666"/>
              </a:solidFill>
              <a:latin typeface="Tahoma" panose="020B0604030504040204" pitchFamily="34" charset="0"/>
            </a:endParaRP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endParaRPr sz="2000" b="1" dirty="0">
              <a:solidFill>
                <a:srgbClr val="666666"/>
              </a:solidFill>
              <a:latin typeface="Tahoma" panose="020B0604030504040204" pitchFamily="34" charset="0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ب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.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الأتمتة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والامتثال</a:t>
            </a: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خطوط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CI</a:t>
            </a: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/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CD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ببوابات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تحكم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آلية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وموافقات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مرحلية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وفق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DevSecOps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.</a:t>
            </a:r>
            <a:r>
              <a:rPr lang="en-US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endParaRPr sz="24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lang="en-EG" sz="20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666666"/>
                </a:solidFill>
                <a:latin typeface="Tahoma" panose="020B0604030504040204" pitchFamily="34" charset="0"/>
              </a:rPr>
              <a:t> B. Automation &amp; compliance</a:t>
            </a:r>
            <a:r>
              <a:rPr lang="en-EG" sz="20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666666"/>
                </a:solidFill>
                <a:latin typeface="Tahoma" panose="020B0604030504040204" pitchFamily="34" charset="0"/>
              </a:rPr>
              <a:t> CI</a:t>
            </a:r>
            <a:r>
              <a:rPr lang="en-EG" sz="2000" b="1" dirty="0">
                <a:solidFill>
                  <a:srgbClr val="666666"/>
                </a:solidFill>
                <a:latin typeface="Tahoma" panose="020B0604030504040204" pitchFamily="34" charset="0"/>
              </a:rPr>
              <a:t>/</a:t>
            </a:r>
            <a:r>
              <a:rPr sz="2000" b="1" dirty="0">
                <a:solidFill>
                  <a:srgbClr val="666666"/>
                </a:solidFill>
                <a:latin typeface="Tahoma" panose="020B0604030504040204" pitchFamily="34" charset="0"/>
              </a:rPr>
              <a:t>CD with automated control gates and stage-gate approvals </a:t>
            </a:r>
            <a:r>
              <a:rPr lang="en-EG" sz="2000" b="1" dirty="0">
                <a:solidFill>
                  <a:srgbClr val="666666"/>
                </a:solidFill>
                <a:latin typeface="Tahoma" panose="020B0604030504040204" pitchFamily="34" charset="0"/>
              </a:rPr>
              <a:t>  </a:t>
            </a:r>
            <a:r>
              <a:rPr sz="2000" b="1" dirty="0" err="1">
                <a:solidFill>
                  <a:srgbClr val="666666"/>
                </a:solidFill>
                <a:latin typeface="Tahoma" panose="020B0604030504040204" pitchFamily="34" charset="0"/>
              </a:rPr>
              <a:t>DevSecOps</a:t>
            </a:r>
            <a:r>
              <a:rPr lang="en-EG" sz="2000" b="1" dirty="0">
                <a:solidFill>
                  <a:srgbClr val="666666"/>
                </a:solidFill>
                <a:latin typeface="Tahoma" panose="020B0604030504040204" pitchFamily="34" charset="0"/>
              </a:rPr>
              <a:t>  </a:t>
            </a:r>
            <a:r>
              <a:rPr sz="2000" b="1" dirty="0">
                <a:solidFill>
                  <a:srgbClr val="666666"/>
                </a:solidFill>
                <a:latin typeface="Tahoma" panose="020B060403050404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4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المعمارية</a:t>
            </a:r>
            <a:r>
              <a:rPr sz="24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المرجعية</a:t>
            </a:r>
            <a:r>
              <a:rPr sz="24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للذكاء</a:t>
            </a:r>
            <a:r>
              <a:rPr sz="24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التوليدي</a:t>
            </a:r>
            <a:r>
              <a:rPr sz="24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2400" b="1" dirty="0">
                <a:solidFill>
                  <a:srgbClr val="1F3B5C"/>
                </a:solidFill>
                <a:latin typeface="Tahoma" panose="020B0604030504040204" pitchFamily="34" charset="0"/>
              </a:rPr>
              <a:t>  </a:t>
            </a:r>
            <a:r>
              <a:rPr sz="2400" b="1" dirty="0">
                <a:solidFill>
                  <a:srgbClr val="1F3B5C"/>
                </a:solidFill>
                <a:latin typeface="Tahoma" panose="020B0604030504040204" pitchFamily="34" charset="0"/>
              </a:rPr>
              <a:t>2</a:t>
            </a:r>
            <a:r>
              <a:rPr lang="en-US" sz="2400" b="1" dirty="0">
                <a:solidFill>
                  <a:srgbClr val="1F3B5C"/>
                </a:solidFill>
                <a:latin typeface="Tahoma" panose="020B0604030504040204" pitchFamily="34" charset="0"/>
              </a:rPr>
              <a:t> /</a:t>
            </a:r>
            <a:r>
              <a:rPr lang="en-EG" sz="24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1F3B5C"/>
                </a:solidFill>
                <a:latin typeface="Tahoma" panose="020B0604030504040204" pitchFamily="34" charset="0"/>
              </a:rPr>
              <a:t>2</a:t>
            </a:r>
            <a:r>
              <a:rPr lang="en-EG" sz="2400" b="1" dirty="0">
                <a:solidFill>
                  <a:srgbClr val="1F3B5C"/>
                </a:solidFill>
                <a:latin typeface="Tahoma" panose="020B0604030504040204" pitchFamily="34" charset="0"/>
              </a:rPr>
              <a:t>  </a:t>
            </a:r>
            <a:r>
              <a:rPr sz="24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24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1F3B5C"/>
                </a:solidFill>
                <a:latin typeface="Tahoma" panose="020B0604030504040204" pitchFamily="34" charset="0"/>
              </a:rPr>
              <a:t> GenAI Reference Architecture </a:t>
            </a:r>
            <a:r>
              <a:rPr lang="en-US" sz="24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endParaRPr sz="24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ج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.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الخدمات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المشتركة</a:t>
            </a: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بوابة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AI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موحدة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،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مكتبة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موجِّهات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،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خدمة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التغذية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الراجعة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،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قاعدة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تدقيق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LLM،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حواجز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حماية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Guardrails.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lang="en-EG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 C. Shared services</a:t>
            </a:r>
            <a:r>
              <a:rPr lang="en-EG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 unified AI gateway, prompt library, feedback service, LLM audit database, guardrails.</a:t>
            </a:r>
            <a:endParaRPr lang="en-US" b="1" dirty="0">
              <a:solidFill>
                <a:srgbClr val="666666"/>
              </a:solidFill>
              <a:latin typeface="Tahoma" panose="020B0604030504040204" pitchFamily="34" charset="0"/>
            </a:endParaRP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endParaRPr b="1" dirty="0">
              <a:solidFill>
                <a:srgbClr val="666666"/>
              </a:solidFill>
              <a:latin typeface="Tahoma" panose="020B0604030504040204" pitchFamily="34" charset="0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د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.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الحوكمة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والمراقبة</a:t>
            </a: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أمن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البيانات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،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الذكاء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المسؤول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تدقيق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التحيّز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والهلوسة</a:t>
            </a: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،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وإدارة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التكاليف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FinOps.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lang="en-EG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 D. Governance &amp; monitoring</a:t>
            </a:r>
            <a:r>
              <a:rPr lang="en-EG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 data security, responsible AI </a:t>
            </a:r>
            <a:r>
              <a:rPr lang="en-EG" b="1" dirty="0">
                <a:solidFill>
                  <a:srgbClr val="666666"/>
                </a:solidFill>
                <a:latin typeface="Tahoma" panose="020B0604030504040204" pitchFamily="34" charset="0"/>
              </a:rPr>
              <a:t>  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bias</a:t>
            </a:r>
            <a:r>
              <a:rPr lang="en-EG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hallucination audits</a:t>
            </a:r>
            <a:r>
              <a:rPr lang="en-EG" b="1" dirty="0">
                <a:solidFill>
                  <a:srgbClr val="666666"/>
                </a:solidFill>
                <a:latin typeface="Tahoma" panose="020B0604030504040204" pitchFamily="34" charset="0"/>
              </a:rPr>
              <a:t>  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, FinOps.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1219" y="137160"/>
            <a:ext cx="1075166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المعمارية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المرجعية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للذكاء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التوليدي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GenAI Reference Architecture</a:t>
            </a:r>
            <a:r>
              <a:rPr lang="en-US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endParaRPr sz="30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097280" y="1280160"/>
            <a:ext cx="9966960" cy="10515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أ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.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بوابة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منصة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GenAI</a:t>
            </a:r>
            <a:r>
              <a:rPr lang="en-US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A. Platform Portal </a:t>
            </a:r>
            <a:r>
              <a:rPr lang="en-EG" b="1" dirty="0">
                <a:solidFill>
                  <a:srgbClr val="666666"/>
                </a:solidFill>
                <a:latin typeface="Tahoma" panose="020B0604030504040204" pitchFamily="34" charset="0"/>
              </a:rPr>
              <a:t>   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 POC → MVP → PROD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487168"/>
            <a:ext cx="9966960" cy="105156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ب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.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الأتمتة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والامتثال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B. Automation &amp; Compliance </a:t>
            </a:r>
            <a:r>
              <a:rPr lang="en-EG" b="1" dirty="0">
                <a:solidFill>
                  <a:srgbClr val="666666"/>
                </a:solidFill>
                <a:latin typeface="Tahoma" panose="020B0604030504040204" pitchFamily="34" charset="0"/>
              </a:rPr>
              <a:t>   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 CI</a:t>
            </a:r>
            <a:r>
              <a:rPr lang="en-EG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CD gates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694176"/>
            <a:ext cx="9966960" cy="105156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ج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.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الخدمات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المشتركة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C. Shared Services </a:t>
            </a:r>
            <a:r>
              <a:rPr lang="en-EG" b="1" dirty="0">
                <a:solidFill>
                  <a:srgbClr val="666666"/>
                </a:solidFill>
                <a:latin typeface="Tahoma" panose="020B0604030504040204" pitchFamily="34" charset="0"/>
              </a:rPr>
              <a:t>   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 Gateway, Prompts, Audit, Guardrails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901184"/>
            <a:ext cx="9966960" cy="10515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د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.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الحوكمة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والمراقبة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D. Governance &amp; Monitoring </a:t>
            </a:r>
            <a:r>
              <a:rPr lang="en-EG" b="1" dirty="0">
                <a:solidFill>
                  <a:srgbClr val="666666"/>
                </a:solidFill>
                <a:latin typeface="Tahoma" panose="020B0604030504040204" pitchFamily="34" charset="0"/>
              </a:rPr>
              <a:t>   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 Responsible AI, FinOps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9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127455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b="1" dirty="0" err="1">
                <a:latin typeface="Tahoma" panose="020B0604030504040204" pitchFamily="34" charset="0"/>
              </a:rPr>
              <a:t>V1</a:t>
            </a:r>
            <a:r>
              <a:rPr lang="en-US" b="1" dirty="0" err="1">
                <a:latin typeface="Tahoma" panose="020B0604030504040204" pitchFamily="34" charset="0"/>
              </a:rPr>
              <a:t>2</a:t>
            </a:r>
            <a:r>
              <a:rPr b="1" dirty="0">
                <a:latin typeface="Tahoma" panose="020B0604030504040204" pitchFamily="34" charset="0"/>
              </a:rPr>
              <a:t> </a:t>
            </a:r>
            <a:r>
              <a:rPr lang="en-EG" b="1" dirty="0">
                <a:latin typeface="Tahoma" panose="020B0604030504040204" pitchFamily="34" charset="0"/>
              </a:rPr>
              <a:t>   </a:t>
            </a:r>
            <a:r>
              <a:rPr b="1" dirty="0">
                <a:latin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</a:rPr>
              <a:t>MLOps</a:t>
            </a:r>
            <a:r>
              <a:rPr lang="en-US" b="1" dirty="0">
                <a:latin typeface="Tahoma" panose="020B0604030504040204" pitchFamily="34" charset="0"/>
              </a:rPr>
              <a:t> Fundamentals + Lab Introduction</a:t>
            </a:r>
          </a:p>
          <a:p>
            <a:pPr algn="ctr">
              <a:defRPr sz="4800" b="1">
                <a:solidFill>
                  <a:srgbClr val="FFFFFF"/>
                </a:solidFill>
              </a:defRPr>
            </a:pPr>
            <a:endParaRPr lang="en-US" b="1" dirty="0">
              <a:latin typeface="Tahoma" panose="020B0604030504040204" pitchFamily="34" charset="0"/>
            </a:endParaRPr>
          </a:p>
          <a:p>
            <a:pPr algn="ctr">
              <a:defRPr sz="4800" b="1">
                <a:solidFill>
                  <a:srgbClr val="FFFFFF"/>
                </a:solidFill>
              </a:defRPr>
            </a:pPr>
            <a:endParaRPr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أجندة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العرض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Agenda</a:t>
            </a:r>
            <a:r>
              <a:rPr lang="en-US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 </a:t>
            </a:r>
            <a:endParaRPr sz="32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V12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 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أساسيات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MLOps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+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تمهيد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للمختبر</a:t>
            </a:r>
            <a:r>
              <a:rPr lang="en-US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US"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MLOps</a:t>
            </a:r>
            <a:r>
              <a:rPr lang="en-US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Fundamentals + Lab Introduction </a:t>
            </a:r>
            <a:endParaRPr sz="20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EG" sz="16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lang="en-US" sz="16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endParaRPr sz="1600" b="1" dirty="0">
              <a:solidFill>
                <a:srgbClr val="666666"/>
              </a:solidFill>
              <a:latin typeface="Tahoma" panose="020B0604030504040204" pitchFamily="34" charset="0"/>
            </a:endParaRPr>
          </a:p>
          <a:p>
            <a:pPr marL="342900" indent="-342900" algn="r" rtl="1">
              <a:spcBef>
                <a:spcPts val="2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MLOps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والأدوات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MLOps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&amp; Tools</a:t>
            </a:r>
            <a:r>
              <a:rPr lang="en-US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endParaRPr sz="20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marL="342900" indent="-342900" algn="r" rtl="1">
              <a:spcBef>
                <a:spcPts val="2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تمييز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المفاهيم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Concept Distinctions</a:t>
            </a:r>
            <a:r>
              <a:rPr lang="en-US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endParaRPr sz="20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marL="342900" indent="-342900" algn="r" rtl="1">
              <a:spcBef>
                <a:spcPts val="2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RAG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الوكيلي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Agentic RAG</a:t>
            </a:r>
            <a:r>
              <a:rPr lang="en-US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endParaRPr sz="20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marL="342900" indent="-342900" algn="r" rtl="1">
              <a:spcBef>
                <a:spcPts val="2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التكلفة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والأداء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عمليًا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Practical Cost &amp; Performance</a:t>
            </a:r>
            <a:r>
              <a:rPr lang="en-US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endParaRPr sz="20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marL="342900" indent="-342900" algn="r" rtl="1">
              <a:spcBef>
                <a:spcPts val="2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تمهيد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للمختبر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Lab Introduction</a:t>
            </a:r>
            <a:r>
              <a:rPr lang="en-US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endParaRPr sz="20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2C7AA7-7814-C764-E067-442FE6311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79" y="3912433"/>
            <a:ext cx="6278834" cy="2762687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95399" y="137160"/>
            <a:ext cx="531748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دورة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حياة</a:t>
            </a:r>
            <a:r>
              <a:rPr lang="en-US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MLOps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Lifecycle</a:t>
            </a:r>
            <a:r>
              <a:rPr lang="en-US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  </a:t>
            </a:r>
            <a:endParaRPr sz="30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2583477"/>
            <a:ext cx="2011680" cy="114300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تجربة</a:t>
            </a:r>
            <a:endParaRPr sz="16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Experiment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560320" y="3040677"/>
            <a:ext cx="256032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latin typeface="Tahoma" panose="020B060403050404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834640" y="2583477"/>
            <a:ext cx="2011680" cy="11430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تحقق</a:t>
            </a:r>
            <a:endParaRPr sz="16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Validate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892040" y="3040677"/>
            <a:ext cx="256032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latin typeface="Tahoma" panose="020B060403050404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166360" y="2583477"/>
            <a:ext cx="2011680" cy="114300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نشر</a:t>
            </a:r>
            <a:endParaRPr sz="16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Deploy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223760" y="3040677"/>
            <a:ext cx="256032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latin typeface="Tahoma" panose="020B060403050404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498080" y="2583477"/>
            <a:ext cx="2011680" cy="11430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مراقبة</a:t>
            </a:r>
            <a:endParaRPr sz="16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Monitor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555480" y="3040677"/>
            <a:ext cx="256032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latin typeface="Tahoma" panose="020B0604030504040204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829800" y="2583477"/>
            <a:ext cx="2011680" cy="114300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إعادة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تدريب</a:t>
            </a:r>
            <a:endParaRPr sz="16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Retrain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4640876"/>
            <a:ext cx="8321040" cy="1332411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سجّل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الإصدارات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والقياسات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في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كل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مرحلة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  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ثم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أعد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التعلم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من</a:t>
            </a:r>
            <a:r>
              <a:rPr sz="16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الإنتاج</a:t>
            </a:r>
            <a:endParaRPr sz="16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Record versions and metrics at every stage </a:t>
            </a:r>
            <a:r>
              <a:rPr lang="en-EG" sz="1600" b="1" dirty="0">
                <a:solidFill>
                  <a:srgbClr val="666666"/>
                </a:solidFill>
                <a:latin typeface="Tahoma" panose="020B0604030504040204" pitchFamily="34" charset="0"/>
              </a:rPr>
              <a:t>   </a:t>
            </a:r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 then learn again from production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4511E2-BFBC-1541-37F5-1DD69FC4DB3C}"/>
              </a:ext>
            </a:extLst>
          </p:cNvPr>
          <p:cNvSpPr txBox="1"/>
          <p:nvPr/>
        </p:nvSpPr>
        <p:spPr>
          <a:xfrm>
            <a:off x="640080" y="1051560"/>
            <a:ext cx="109728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EG"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MLflow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لتتبع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التجارب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والنماذج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، Kubeflow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لأتمتة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الخطوط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، DVC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لإصدارات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9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البيانات</a:t>
            </a:r>
            <a:r>
              <a:rPr sz="1900" b="1" dirty="0">
                <a:solidFill>
                  <a:srgbClr val="333333"/>
                </a:solidFill>
                <a:latin typeface="Tahoma" panose="020B0604030504040204" pitchFamily="34" charset="0"/>
              </a:rPr>
              <a:t>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lang="en-EG" sz="16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600" b="1" dirty="0" err="1">
                <a:solidFill>
                  <a:srgbClr val="666666"/>
                </a:solidFill>
                <a:latin typeface="Tahoma" panose="020B0604030504040204" pitchFamily="34" charset="0"/>
              </a:rPr>
              <a:t>MLflow</a:t>
            </a:r>
            <a:r>
              <a:rPr sz="1600" b="1" dirty="0">
                <a:solidFill>
                  <a:srgbClr val="666666"/>
                </a:solidFill>
                <a:latin typeface="Tahoma" panose="020B0604030504040204" pitchFamily="34" charset="0"/>
              </a:rPr>
              <a:t> for tracking, Kubeflow for pipeline automation, DVC for data versioning.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تمييز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المفاهيم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Concept Distinctions</a:t>
            </a:r>
            <a:r>
              <a:rPr lang="en-US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endParaRPr sz="32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LLM</a:t>
            </a: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يرمّز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النص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ويتنبأ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بالرموز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التالية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.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الذكاء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التوليدي</a:t>
            </a: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يولّد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محتوى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جديدًا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نص</a:t>
            </a: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صورة</a:t>
            </a: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صوت</a:t>
            </a: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lang="en-EG" sz="20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666666"/>
                </a:solidFill>
                <a:latin typeface="Tahoma" panose="020B0604030504040204" pitchFamily="34" charset="0"/>
              </a:rPr>
              <a:t> LLM</a:t>
            </a:r>
            <a:r>
              <a:rPr lang="en-EG" sz="20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666666"/>
                </a:solidFill>
                <a:latin typeface="Tahoma" panose="020B0604030504040204" pitchFamily="34" charset="0"/>
              </a:rPr>
              <a:t> predicts next tokens. Generative AI</a:t>
            </a:r>
            <a:r>
              <a:rPr lang="en-EG" sz="20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666666"/>
                </a:solidFill>
                <a:latin typeface="Tahoma" panose="020B0604030504040204" pitchFamily="34" charset="0"/>
              </a:rPr>
              <a:t> generates new content </a:t>
            </a:r>
            <a:r>
              <a:rPr lang="en-EG" sz="2000" b="1" dirty="0">
                <a:solidFill>
                  <a:srgbClr val="666666"/>
                </a:solidFill>
                <a:latin typeface="Tahoma" panose="020B0604030504040204" pitchFamily="34" charset="0"/>
              </a:rPr>
              <a:t>  </a:t>
            </a:r>
            <a:r>
              <a:rPr sz="2000" b="1" dirty="0">
                <a:solidFill>
                  <a:srgbClr val="666666"/>
                </a:solidFill>
                <a:latin typeface="Tahoma" panose="020B0604030504040204" pitchFamily="34" charset="0"/>
              </a:rPr>
              <a:t>text</a:t>
            </a:r>
            <a:r>
              <a:rPr lang="en-EG" sz="20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666666"/>
                </a:solidFill>
                <a:latin typeface="Tahoma" panose="020B0604030504040204" pitchFamily="34" charset="0"/>
              </a:rPr>
              <a:t>image</a:t>
            </a:r>
            <a:r>
              <a:rPr lang="en-EG" sz="20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666666"/>
                </a:solidFill>
                <a:latin typeface="Tahoma" panose="020B0604030504040204" pitchFamily="34" charset="0"/>
              </a:rPr>
              <a:t>audio.</a:t>
            </a:r>
            <a:endParaRPr lang="en-US" sz="2000" b="1" dirty="0">
              <a:solidFill>
                <a:srgbClr val="666666"/>
              </a:solidFill>
              <a:latin typeface="Tahoma" panose="020B0604030504040204" pitchFamily="34" charset="0"/>
            </a:endParaRP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endParaRPr sz="2000" b="1" dirty="0">
              <a:solidFill>
                <a:srgbClr val="666666"/>
              </a:solidFill>
              <a:latin typeface="Tahoma" panose="020B0604030504040204" pitchFamily="34" charset="0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الوكلاء</a:t>
            </a: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يكشفون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النية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ويستدعون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الأدوات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.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الأنظمة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الوكيلة</a:t>
            </a:r>
            <a:r>
              <a:rPr lang="en-EG"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تخطيط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ذاتي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وتنفيذ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متعدد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الخطوات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مع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تقييم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للنتائج</a:t>
            </a:r>
            <a:r>
              <a:rPr sz="2400" b="1" dirty="0">
                <a:solidFill>
                  <a:srgbClr val="333333"/>
                </a:solidFill>
                <a:latin typeface="Tahoma" panose="020B0604030504040204" pitchFamily="34" charset="0"/>
              </a:rPr>
              <a:t>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lang="en-EG" sz="20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666666"/>
                </a:solidFill>
                <a:latin typeface="Tahoma" panose="020B0604030504040204" pitchFamily="34" charset="0"/>
              </a:rPr>
              <a:t> Agents</a:t>
            </a:r>
            <a:r>
              <a:rPr lang="en-EG" sz="20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666666"/>
                </a:solidFill>
                <a:latin typeface="Tahoma" panose="020B0604030504040204" pitchFamily="34" charset="0"/>
              </a:rPr>
              <a:t> detect intent and call tools. Agentic AI</a:t>
            </a:r>
            <a:r>
              <a:rPr lang="en-EG" sz="20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666666"/>
                </a:solidFill>
                <a:latin typeface="Tahoma" panose="020B0604030504040204" pitchFamily="34" charset="0"/>
              </a:rPr>
              <a:t> self-directed multi-step planning with outcome evaluation.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19712" y="137160"/>
            <a:ext cx="899316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من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LLM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إلى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الأنظمة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الوكيلة</a:t>
            </a:r>
            <a:r>
              <a:rPr lang="en-US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From LLM to Agentic AI</a:t>
            </a:r>
            <a:r>
              <a:rPr lang="en-US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endParaRPr sz="30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2287187"/>
            <a:ext cx="2377440" cy="9144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LLM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384467"/>
            <a:ext cx="2377440" cy="14630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تنبؤ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بالرموز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التالية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Predicts next tokens</a:t>
            </a:r>
          </a:p>
        </p:txBody>
      </p:sp>
      <p:sp>
        <p:nvSpPr>
          <p:cNvPr id="5" name="Left Arrow 4"/>
          <p:cNvSpPr/>
          <p:nvPr/>
        </p:nvSpPr>
        <p:spPr>
          <a:xfrm>
            <a:off x="3072384" y="2607227"/>
            <a:ext cx="347472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474720" y="2287187"/>
            <a:ext cx="2377440" cy="91440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الذكاء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التوليدي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474720" y="3384467"/>
            <a:ext cx="2377440" cy="14630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يولّد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محتوى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جديدًا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Generates new content</a:t>
            </a:r>
          </a:p>
        </p:txBody>
      </p:sp>
      <p:sp>
        <p:nvSpPr>
          <p:cNvPr id="8" name="Left Arrow 7"/>
          <p:cNvSpPr/>
          <p:nvPr/>
        </p:nvSpPr>
        <p:spPr>
          <a:xfrm>
            <a:off x="5907024" y="2607227"/>
            <a:ext cx="347472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09360" y="2287187"/>
            <a:ext cx="2377440" cy="91440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الوكلاء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384467"/>
            <a:ext cx="2377440" cy="14630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نية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+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استدعاء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أدوات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Intent + tool calls</a:t>
            </a:r>
          </a:p>
        </p:txBody>
      </p:sp>
      <p:sp>
        <p:nvSpPr>
          <p:cNvPr id="11" name="Left Arrow 10"/>
          <p:cNvSpPr/>
          <p:nvPr/>
        </p:nvSpPr>
        <p:spPr>
          <a:xfrm>
            <a:off x="8741664" y="2607227"/>
            <a:ext cx="347472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144000" y="2287187"/>
            <a:ext cx="2377440" cy="9144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الأنظمة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الوكيلة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144000" y="3384467"/>
            <a:ext cx="2377440" cy="14630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تخطيط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وتنفيذ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متعدد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الخطوات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Multi-step planning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التكلفة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والأداء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عمليًا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Practical Cost &amp; Performance</a:t>
            </a:r>
            <a:r>
              <a:rPr lang="en-US" sz="3200" b="1" dirty="0">
                <a:solidFill>
                  <a:srgbClr val="1F3B5C"/>
                </a:solidFill>
                <a:latin typeface="Tahoma" panose="020B0604030504040204" pitchFamily="34" charset="0"/>
              </a:rPr>
              <a:t>  </a:t>
            </a:r>
            <a:endParaRPr sz="32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التضمين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Embedding</a:t>
            </a: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أقل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تكلفة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بمرتبة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كاملة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من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التوليد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Generation</a:t>
            </a: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 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الاسترجاع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أرخص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من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التوليد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lang="en-EG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 Embedding costs an order of magnitude less than generation </a:t>
            </a:r>
            <a:r>
              <a:rPr lang="en-EG" b="1" dirty="0">
                <a:solidFill>
                  <a:srgbClr val="666666"/>
                </a:solidFill>
                <a:latin typeface="Tahoma" panose="020B0604030504040204" pitchFamily="34" charset="0"/>
              </a:rPr>
              <a:t>   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 retrieval is cheaper than generation.</a:t>
            </a:r>
            <a:endParaRPr lang="en-US" b="1" dirty="0">
              <a:solidFill>
                <a:srgbClr val="666666"/>
              </a:solidFill>
              <a:latin typeface="Tahoma" panose="020B0604030504040204" pitchFamily="34" charset="0"/>
            </a:endParaRP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endParaRPr b="1" dirty="0">
              <a:solidFill>
                <a:srgbClr val="666666"/>
              </a:solidFill>
              <a:latin typeface="Tahoma" panose="020B0604030504040204" pitchFamily="34" charset="0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التخزين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الدلالي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المؤقت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يخفض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الكمون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والتكلفة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؛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توجيه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الطلبات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يرسل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المهام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البسيطة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لنماذج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أصغر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أرخص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lang="en-EG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 Semantic caching cuts latency and cost; routing sends easy tasks to smaller, cheaper models.</a:t>
            </a:r>
            <a:endParaRPr lang="en-US" b="1" dirty="0">
              <a:solidFill>
                <a:srgbClr val="666666"/>
              </a:solidFill>
              <a:latin typeface="Tahoma" panose="020B0604030504040204" pitchFamily="34" charset="0"/>
            </a:endParaRP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endParaRPr b="1" dirty="0">
              <a:solidFill>
                <a:srgbClr val="666666"/>
              </a:solidFill>
              <a:latin typeface="Tahoma" panose="020B0604030504040204" pitchFamily="34" charset="0"/>
            </a:endParaRP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قاعدة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FinOps</a:t>
            </a: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قِس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التكلفة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لكل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طلب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per-request</a:t>
            </a:r>
            <a:r>
              <a:rPr lang="en-EG"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قبل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التوسع</a:t>
            </a:r>
            <a:r>
              <a:rPr sz="2000" b="1" dirty="0">
                <a:solidFill>
                  <a:srgbClr val="333333"/>
                </a:solidFill>
                <a:latin typeface="Tahoma" panose="020B0604030504040204" pitchFamily="34" charset="0"/>
              </a:rPr>
              <a:t>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lang="en-EG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 FinOps rule</a:t>
            </a:r>
            <a:r>
              <a:rPr lang="en-EG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 measure per-request cost before scaling.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2684" y="137160"/>
            <a:ext cx="1125019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التكلفة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عمليًا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التضمين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مقابل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التوليد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Cost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Embedding vs Generation</a:t>
            </a:r>
            <a:r>
              <a:rPr lang="en-US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 </a:t>
            </a:r>
            <a:endParaRPr sz="30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828800" y="3840480"/>
            <a:ext cx="2194560" cy="146304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التضمين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1x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Embedding </a:t>
            </a:r>
            <a:r>
              <a:rPr lang="en-EG" b="1" dirty="0">
                <a:solidFill>
                  <a:srgbClr val="666666"/>
                </a:solidFill>
                <a:latin typeface="Tahoma" panose="020B0604030504040204" pitchFamily="34" charset="0"/>
              </a:rPr>
              <a:t>   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 cheap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554480"/>
            <a:ext cx="2194560" cy="3749039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التوليد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~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10x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Generation </a:t>
            </a:r>
            <a:r>
              <a:rPr lang="en-EG" b="1" dirty="0">
                <a:solidFill>
                  <a:srgbClr val="666666"/>
                </a:solidFill>
                <a:latin typeface="Tahoma" panose="020B0604030504040204" pitchFamily="34" charset="0"/>
              </a:rPr>
              <a:t>   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 costly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3108960"/>
            <a:ext cx="2651760" cy="21945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الحل</a:t>
            </a:r>
            <a:r>
              <a:rPr lang="en-EG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تخزين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مؤقت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+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توجيه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Fix</a:t>
            </a:r>
            <a:r>
              <a:rPr lang="en-EG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 caching + routing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76776" y="137160"/>
            <a:ext cx="5436104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معمارية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مختبر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Lab Architecture</a:t>
            </a:r>
            <a:r>
              <a:rPr lang="en-US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endParaRPr sz="30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051560"/>
            <a:ext cx="10972800" cy="112014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خط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ETL ‏</a:t>
            </a:r>
            <a:r>
              <a:rPr lang="en-EG"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etl_pipeline.py</a:t>
            </a:r>
            <a:r>
              <a:rPr lang="en-EG"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  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‏ Bronze ‏</a:t>
            </a:r>
            <a:r>
              <a:rPr lang="en-EG"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SQLite </a:t>
            </a:r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خام</a:t>
            </a:r>
            <a:r>
              <a:rPr lang="en-EG"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← Silver ‏</a:t>
            </a:r>
            <a:r>
              <a:rPr lang="en-EG"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تنظيف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+ </a:t>
            </a:r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تقسيم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500</a:t>
            </a:r>
            <a:r>
              <a:rPr lang="en-EG"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50</a:t>
            </a:r>
            <a:r>
              <a:rPr lang="en-EG"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← Gold ‏</a:t>
            </a:r>
            <a:r>
              <a:rPr lang="en-EG"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ChromaDB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HNSW cosine، </a:t>
            </a:r>
            <a:r>
              <a:rPr lang="en-US"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</a:p>
          <a:p>
            <a:pPr algn="ctr"/>
            <a:endParaRPr sz="15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/>
            <a:r>
              <a:rPr sz="1200" b="1" dirty="0">
                <a:solidFill>
                  <a:srgbClr val="666666"/>
                </a:solidFill>
                <a:latin typeface="Tahoma" panose="020B0604030504040204" pitchFamily="34" charset="0"/>
              </a:rPr>
              <a:t>ETL </a:t>
            </a:r>
            <a:r>
              <a:rPr lang="en-EG"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 </a:t>
            </a:r>
            <a:r>
              <a:rPr sz="1200" b="1" dirty="0" err="1">
                <a:solidFill>
                  <a:srgbClr val="666666"/>
                </a:solidFill>
                <a:latin typeface="Tahoma" panose="020B0604030504040204" pitchFamily="34" charset="0"/>
              </a:rPr>
              <a:t>etl_pipeline.py</a:t>
            </a:r>
            <a:r>
              <a:rPr lang="en-EG"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  </a:t>
            </a:r>
            <a:r>
              <a:rPr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Bronze </a:t>
            </a:r>
            <a:r>
              <a:rPr lang="en-EG"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 </a:t>
            </a:r>
            <a:r>
              <a:rPr sz="1200" b="1" dirty="0">
                <a:solidFill>
                  <a:srgbClr val="666666"/>
                </a:solidFill>
                <a:latin typeface="Tahoma" panose="020B0604030504040204" pitchFamily="34" charset="0"/>
              </a:rPr>
              <a:t>raw SQLite</a:t>
            </a:r>
            <a:r>
              <a:rPr lang="en-EG"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 </a:t>
            </a:r>
            <a:r>
              <a:rPr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→ Silver </a:t>
            </a:r>
            <a:r>
              <a:rPr lang="en-EG"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 </a:t>
            </a:r>
            <a:r>
              <a:rPr sz="1200" b="1" dirty="0">
                <a:solidFill>
                  <a:srgbClr val="666666"/>
                </a:solidFill>
                <a:latin typeface="Tahoma" panose="020B0604030504040204" pitchFamily="34" charset="0"/>
              </a:rPr>
              <a:t>clean + 500</a:t>
            </a:r>
            <a:r>
              <a:rPr lang="en-EG"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200" b="1" dirty="0">
                <a:solidFill>
                  <a:srgbClr val="666666"/>
                </a:solidFill>
                <a:latin typeface="Tahoma" panose="020B0604030504040204" pitchFamily="34" charset="0"/>
              </a:rPr>
              <a:t>50 chunk</a:t>
            </a:r>
            <a:r>
              <a:rPr lang="en-EG"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 </a:t>
            </a:r>
            <a:r>
              <a:rPr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→ Gold </a:t>
            </a:r>
            <a:r>
              <a:rPr lang="en-EG"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 </a:t>
            </a:r>
            <a:r>
              <a:rPr sz="1200" b="1" dirty="0" err="1">
                <a:solidFill>
                  <a:srgbClr val="666666"/>
                </a:solidFill>
                <a:latin typeface="Tahoma" panose="020B0604030504040204" pitchFamily="34" charset="0"/>
              </a:rPr>
              <a:t>ChromaDB</a:t>
            </a:r>
            <a:r>
              <a:rPr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HNSW cosine, batches of 10</a:t>
            </a:r>
            <a:r>
              <a:rPr lang="en-EG"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 </a:t>
            </a:r>
            <a:endParaRPr sz="1200" b="1" dirty="0">
              <a:solidFill>
                <a:srgbClr val="666666"/>
              </a:solidFill>
              <a:latin typeface="Tahoma" panose="020B060403050404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2263140"/>
            <a:ext cx="10972800" cy="112014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/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الخلفية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‏</a:t>
            </a:r>
            <a:r>
              <a:rPr lang="en-EG"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rag_api.py</a:t>
            </a:r>
            <a:r>
              <a:rPr lang="en-EG"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8000</a:t>
            </a:r>
            <a:r>
              <a:rPr lang="en-EG"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  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‏ </a:t>
            </a:r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استرجاع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كثيف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top-k=5 </a:t>
            </a:r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حد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0.2 ← </a:t>
            </a:r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توليد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مؤرَّض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OpenRouter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free ← </a:t>
            </a:r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كاش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دلالي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0.92 ← </a:t>
            </a:r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تقييم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golden</a:t>
            </a:r>
            <a:endParaRPr lang="en-US" sz="15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r"/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lang="en-US"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endParaRPr sz="15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/>
            <a:r>
              <a:rPr sz="1200" b="1" dirty="0">
                <a:solidFill>
                  <a:srgbClr val="666666"/>
                </a:solidFill>
                <a:latin typeface="Tahoma" panose="020B0604030504040204" pitchFamily="34" charset="0"/>
              </a:rPr>
              <a:t>Backend </a:t>
            </a:r>
            <a:r>
              <a:rPr lang="en-EG"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 </a:t>
            </a:r>
            <a:r>
              <a:rPr sz="1200" b="1" dirty="0" err="1">
                <a:solidFill>
                  <a:srgbClr val="666666"/>
                </a:solidFill>
                <a:latin typeface="Tahoma" panose="020B0604030504040204" pitchFamily="34" charset="0"/>
              </a:rPr>
              <a:t>rag_api.py</a:t>
            </a:r>
            <a:r>
              <a:rPr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lang="en-EG"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200" b="1" dirty="0">
                <a:solidFill>
                  <a:srgbClr val="666666"/>
                </a:solidFill>
                <a:latin typeface="Tahoma" panose="020B0604030504040204" pitchFamily="34" charset="0"/>
              </a:rPr>
              <a:t>8000</a:t>
            </a:r>
            <a:r>
              <a:rPr lang="en-EG"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  </a:t>
            </a:r>
            <a:r>
              <a:rPr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dense top-k=5 ≥0.2 → grounded </a:t>
            </a:r>
            <a:r>
              <a:rPr sz="1200" b="1" dirty="0" err="1">
                <a:solidFill>
                  <a:srgbClr val="666666"/>
                </a:solidFill>
                <a:latin typeface="Tahoma" panose="020B0604030504040204" pitchFamily="34" charset="0"/>
              </a:rPr>
              <a:t>OpenRouter</a:t>
            </a:r>
            <a:r>
              <a:rPr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free → semantic cache 0.92 → golden eval </a:t>
            </a:r>
            <a:r>
              <a:rPr lang="en-EG"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 </a:t>
            </a:r>
            <a:r>
              <a:rPr lang="en-US"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 </a:t>
            </a:r>
            <a:r>
              <a:rPr lang="en-EG"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 </a:t>
            </a:r>
            <a:endParaRPr sz="1200" b="1" dirty="0">
              <a:solidFill>
                <a:srgbClr val="666666"/>
              </a:solidFill>
              <a:latin typeface="Tahoma" panose="020B060403050404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3474720"/>
            <a:ext cx="10972800" cy="112014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الواجهة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‏</a:t>
            </a:r>
            <a:r>
              <a:rPr lang="en-EG"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streamlit_ui.py</a:t>
            </a:r>
            <a:r>
              <a:rPr lang="en-EG"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8501</a:t>
            </a:r>
            <a:r>
              <a:rPr lang="en-EG"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  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‏ 5 </a:t>
            </a:r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تبويبات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ثنائية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  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رفع</a:t>
            </a:r>
            <a:r>
              <a:rPr lang="en-EG"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مستندات</a:t>
            </a:r>
            <a:r>
              <a:rPr lang="en-EG"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استعلام</a:t>
            </a:r>
            <a:r>
              <a:rPr lang="en-EG"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تقييم</a:t>
            </a:r>
            <a:r>
              <a:rPr lang="en-EG"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حول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  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تُعيد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استخدام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نفس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عميل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Chroma </a:t>
            </a:r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مع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حذف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المجموعة</a:t>
            </a:r>
            <a:endParaRPr lang="en-US" sz="15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/>
            <a:r>
              <a:rPr lang="en-US"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endParaRPr sz="15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/>
            <a:r>
              <a:rPr sz="1200" b="1" dirty="0">
                <a:solidFill>
                  <a:srgbClr val="666666"/>
                </a:solidFill>
                <a:latin typeface="Tahoma" panose="020B0604030504040204" pitchFamily="34" charset="0"/>
              </a:rPr>
              <a:t>Frontend </a:t>
            </a:r>
            <a:r>
              <a:rPr lang="en-EG"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 </a:t>
            </a:r>
            <a:r>
              <a:rPr sz="1200" b="1" dirty="0" err="1">
                <a:solidFill>
                  <a:srgbClr val="666666"/>
                </a:solidFill>
                <a:latin typeface="Tahoma" panose="020B0604030504040204" pitchFamily="34" charset="0"/>
              </a:rPr>
              <a:t>streamlit_ui.py</a:t>
            </a:r>
            <a:r>
              <a:rPr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lang="en-EG"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200" b="1" dirty="0">
                <a:solidFill>
                  <a:srgbClr val="666666"/>
                </a:solidFill>
                <a:latin typeface="Tahoma" panose="020B0604030504040204" pitchFamily="34" charset="0"/>
              </a:rPr>
              <a:t>8501</a:t>
            </a:r>
            <a:r>
              <a:rPr lang="en-EG"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  </a:t>
            </a:r>
            <a:r>
              <a:rPr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5 bilingual tabs </a:t>
            </a:r>
            <a:r>
              <a:rPr lang="en-EG"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  </a:t>
            </a:r>
            <a:r>
              <a:rPr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upload</a:t>
            </a:r>
            <a:r>
              <a:rPr lang="en-EG"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200" b="1" dirty="0">
                <a:solidFill>
                  <a:srgbClr val="666666"/>
                </a:solidFill>
                <a:latin typeface="Tahoma" panose="020B0604030504040204" pitchFamily="34" charset="0"/>
              </a:rPr>
              <a:t>docs</a:t>
            </a:r>
            <a:r>
              <a:rPr lang="en-EG"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200" b="1" dirty="0">
                <a:solidFill>
                  <a:srgbClr val="666666"/>
                </a:solidFill>
                <a:latin typeface="Tahoma" panose="020B0604030504040204" pitchFamily="34" charset="0"/>
              </a:rPr>
              <a:t>query</a:t>
            </a:r>
            <a:r>
              <a:rPr lang="en-EG"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200" b="1" dirty="0">
                <a:solidFill>
                  <a:srgbClr val="666666"/>
                </a:solidFill>
                <a:latin typeface="Tahoma" panose="020B0604030504040204" pitchFamily="34" charset="0"/>
              </a:rPr>
              <a:t>eval</a:t>
            </a:r>
            <a:r>
              <a:rPr lang="en-EG"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200" b="1" dirty="0">
                <a:solidFill>
                  <a:srgbClr val="666666"/>
                </a:solidFill>
                <a:latin typeface="Tahoma" panose="020B0604030504040204" pitchFamily="34" charset="0"/>
              </a:rPr>
              <a:t>about </a:t>
            </a:r>
            <a:r>
              <a:rPr lang="en-EG"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  </a:t>
            </a:r>
            <a:r>
              <a:rPr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same Chroma client, drop &amp; recreate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686300"/>
            <a:ext cx="10972800" cy="11201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/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المخازن</a:t>
            </a:r>
            <a:r>
              <a:rPr lang="en-EG"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lab.db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‏</a:t>
            </a:r>
            <a:r>
              <a:rPr lang="en-EG"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bronze_docs</a:t>
            </a:r>
            <a:r>
              <a:rPr lang="en-EG"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silver_chunks</a:t>
            </a:r>
            <a:r>
              <a:rPr lang="en-EG"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‏ + </a:t>
            </a:r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chroma_db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‏</a:t>
            </a:r>
            <a:r>
              <a:rPr lang="en-EG"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gold_chunks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US"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‏ + </a:t>
            </a:r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golden_dataset.json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+ env.‏ </a:t>
            </a:r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للمفتاح</a:t>
            </a:r>
            <a:endParaRPr lang="en-US" sz="15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r"/>
            <a:endParaRPr sz="1500"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/>
            <a:r>
              <a:rPr sz="1200" b="1" dirty="0">
                <a:solidFill>
                  <a:srgbClr val="666666"/>
                </a:solidFill>
                <a:latin typeface="Tahoma" panose="020B0604030504040204" pitchFamily="34" charset="0"/>
              </a:rPr>
              <a:t>Stores</a:t>
            </a:r>
            <a:r>
              <a:rPr lang="en-EG"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200" b="1" dirty="0" err="1">
                <a:solidFill>
                  <a:srgbClr val="666666"/>
                </a:solidFill>
                <a:latin typeface="Tahoma" panose="020B0604030504040204" pitchFamily="34" charset="0"/>
              </a:rPr>
              <a:t>lab.db</a:t>
            </a:r>
            <a:r>
              <a:rPr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lang="en-EG"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 </a:t>
            </a:r>
            <a:r>
              <a:rPr sz="1200" b="1" dirty="0" err="1">
                <a:solidFill>
                  <a:srgbClr val="666666"/>
                </a:solidFill>
                <a:latin typeface="Tahoma" panose="020B0604030504040204" pitchFamily="34" charset="0"/>
              </a:rPr>
              <a:t>bronze_docs</a:t>
            </a:r>
            <a:r>
              <a:rPr lang="en-EG"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200" b="1" dirty="0" err="1">
                <a:solidFill>
                  <a:srgbClr val="666666"/>
                </a:solidFill>
                <a:latin typeface="Tahoma" panose="020B0604030504040204" pitchFamily="34" charset="0"/>
              </a:rPr>
              <a:t>silver_chunks</a:t>
            </a:r>
            <a:r>
              <a:rPr lang="en-EG"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 </a:t>
            </a:r>
            <a:r>
              <a:rPr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+ </a:t>
            </a:r>
            <a:r>
              <a:rPr sz="1200" b="1" dirty="0" err="1">
                <a:solidFill>
                  <a:srgbClr val="666666"/>
                </a:solidFill>
                <a:latin typeface="Tahoma" panose="020B0604030504040204" pitchFamily="34" charset="0"/>
              </a:rPr>
              <a:t>chroma_db</a:t>
            </a:r>
            <a:r>
              <a:rPr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lang="en-EG"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 </a:t>
            </a:r>
            <a:r>
              <a:rPr sz="1200" b="1" dirty="0" err="1">
                <a:solidFill>
                  <a:srgbClr val="666666"/>
                </a:solidFill>
                <a:latin typeface="Tahoma" panose="020B0604030504040204" pitchFamily="34" charset="0"/>
              </a:rPr>
              <a:t>gold_chunks</a:t>
            </a:r>
            <a:r>
              <a:rPr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lang="en-US"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200" b="1" dirty="0">
                <a:solidFill>
                  <a:srgbClr val="666666"/>
                </a:solidFill>
                <a:latin typeface="Tahoma" panose="020B0604030504040204" pitchFamily="34" charset="0"/>
              </a:rPr>
              <a:t>+ </a:t>
            </a:r>
            <a:r>
              <a:rPr sz="1200" b="1" dirty="0" err="1">
                <a:solidFill>
                  <a:srgbClr val="666666"/>
                </a:solidFill>
                <a:latin typeface="Tahoma" panose="020B0604030504040204" pitchFamily="34" charset="0"/>
              </a:rPr>
              <a:t>golden_dataset.json</a:t>
            </a:r>
            <a:r>
              <a:rPr sz="1200" b="1" dirty="0">
                <a:solidFill>
                  <a:srgbClr val="666666"/>
                </a:solidFill>
                <a:latin typeface="Tahoma" panose="020B0604030504040204" pitchFamily="34" charset="0"/>
              </a:rPr>
              <a:t> + .env for keys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34247" y="137160"/>
            <a:ext cx="507863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تشغيل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مختبر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Running the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cd </a:t>
            </a:r>
            <a:r>
              <a:rPr lang="en-US" sz="1500" b="1" dirty="0">
                <a:solidFill>
                  <a:srgbClr val="333333"/>
                </a:solidFill>
                <a:latin typeface="Tahoma" panose="020B0604030504040204" pitchFamily="34" charset="0"/>
              </a:rPr>
              <a:t>L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ab  +  source .</a:t>
            </a:r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venv</a:t>
            </a:r>
            <a:r>
              <a:rPr lang="en-EG"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bin</a:t>
            </a:r>
            <a:r>
              <a:rPr lang="en-EG"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activate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18488"/>
            <a:ext cx="109728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OMP_NUM_THREADS=1 MKL_NUM_THREADS=1 TOKENIZERS_PARALLELISM=false  python -u </a:t>
            </a:r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etl_pipeline.py</a:t>
            </a:r>
            <a:endParaRPr sz="15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2185416"/>
            <a:ext cx="109728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.</a:t>
            </a:r>
            <a:r>
              <a:rPr lang="en-EG" sz="1500" b="1" dirty="0">
                <a:solidFill>
                  <a:srgbClr val="333333"/>
                </a:solidFill>
                <a:latin typeface="Tahoma" panose="020B0604030504040204" pitchFamily="34" charset="0"/>
              </a:rPr>
              <a:t>/</a:t>
            </a:r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run_ui.sh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  →   http</a:t>
            </a:r>
            <a:r>
              <a:rPr lang="en-EG"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  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localhost</a:t>
            </a:r>
            <a:r>
              <a:rPr lang="en-EG"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8501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52344"/>
            <a:ext cx="109728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uvicorn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rag_api</a:t>
            </a:r>
            <a:r>
              <a:rPr lang="en-EG"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app --reload   →   http</a:t>
            </a:r>
            <a:r>
              <a:rPr lang="en-EG"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  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localhost</a:t>
            </a:r>
            <a:r>
              <a:rPr lang="en-EG"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8000</a:t>
            </a:r>
            <a:r>
              <a:rPr lang="en-EG"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19272"/>
            <a:ext cx="109728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python </a:t>
            </a:r>
            <a:r>
              <a:rPr sz="15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rag_api.py</a:t>
            </a:r>
            <a:r>
              <a:rPr sz="1500" b="1" dirty="0">
                <a:solidFill>
                  <a:srgbClr val="333333"/>
                </a:solidFill>
                <a:latin typeface="Tahoma" panose="020B0604030504040204" pitchFamily="34" charset="0"/>
              </a:rPr>
              <a:t> evaluate</a:t>
            </a:r>
          </a:p>
        </p:txBody>
      </p:sp>
    </p:spTree>
    <p:extLst>
      <p:ext uri="{BB962C8B-B14F-4D97-AF65-F5344CB8AC3E}">
        <p14:creationId xmlns:p14="http://schemas.microsoft.com/office/powerpoint/2010/main" val="4787600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9A0FD11-4B73-E406-5DCD-86A6F5F058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5373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4B0405-FBAA-9116-A3EA-FEC3F648C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7F8AE5F-241E-168F-0B9B-F9C7EC70A5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11566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5F7FED-6D77-CECC-0E1C-63B932726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1B382C9-BFB1-2F36-4A3C-16B90BB11C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9199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92E497-A12C-3EDA-8E98-ED30AAFC8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91C2EC-160F-5091-2AB2-DBA4DB26CC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88610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6D553-A78A-DACA-BB4C-5D48858C1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1538720-3043-239C-A7D9-3DDC5AC27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447"/>
            <a:ext cx="12168188" cy="6871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73509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44299F-B682-1E2E-C2FD-0A318AC09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FC13FD-A8E6-5A9D-3D63-4160329287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1455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1DFDF9-B9FD-1B9E-BFA3-2A610C2D1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73CCD00-67F1-9683-2BF2-90028971C8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91861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0FC979-4038-345D-8DF8-D19E25384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BD3689-54CE-2E69-5E2E-F3264482BD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2173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4A6153-308D-9EA9-09DD-BF8052481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6A7704-137C-21A0-DC22-D93CB7D8A2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96226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3E2014-08E9-B4A6-670A-764EAB5BB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23A1A00-13FC-A8E6-14BB-DF65D7F2C1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8344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A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12745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lang="en-US" b="1" dirty="0">
                <a:latin typeface="Tahoma" panose="020B0604030504040204" pitchFamily="34" charset="0"/>
              </a:rPr>
              <a:t>Glossary</a:t>
            </a:r>
            <a:endParaRPr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84416" y="137160"/>
            <a:ext cx="5628464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خريطة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المصطلحات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Glossary Map</a:t>
            </a:r>
            <a:r>
              <a:rPr lang="en-US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endParaRPr sz="3000" b="1" dirty="0">
              <a:solidFill>
                <a:srgbClr val="1F3B5C"/>
              </a:solidFill>
              <a:latin typeface="Tahoma" panose="020B060403050404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3474720" cy="109728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البيانات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والتخزين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Data &amp; storage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234440"/>
            <a:ext cx="3474720" cy="109728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الخصائص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1234440"/>
            <a:ext cx="3474720" cy="109728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RAG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والاسترجاع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RAG &amp; retrieval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3429000"/>
            <a:ext cx="3474720" cy="109728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الحوكمة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Governance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429000"/>
            <a:ext cx="3474720" cy="109728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MLOps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b="1" dirty="0" err="1">
                <a:solidFill>
                  <a:srgbClr val="666666"/>
                </a:solidFill>
                <a:latin typeface="Tahoma" panose="020B0604030504040204" pitchFamily="34" charset="0"/>
              </a:rPr>
              <a:t>MLOps</a:t>
            </a:r>
            <a:endParaRPr b="1" dirty="0">
              <a:solidFill>
                <a:srgbClr val="666666"/>
              </a:solidFill>
              <a:latin typeface="Tahoma" panose="020B0604030504040204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840480" y="2331720"/>
            <a:ext cx="4526280" cy="64008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/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تعلم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المصطلحات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كمجموعات</a:t>
            </a:r>
            <a:r>
              <a:rPr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مترابطة</a:t>
            </a:r>
            <a:endParaRPr b="1" dirty="0">
              <a:solidFill>
                <a:srgbClr val="333333"/>
              </a:solidFill>
              <a:latin typeface="Tahoma" panose="020B0604030504040204" pitchFamily="34" charset="0"/>
            </a:endParaRPr>
          </a:p>
          <a:p>
            <a:pPr algn="ctr" rtl="0"/>
            <a:r>
              <a:rPr b="1" dirty="0">
                <a:solidFill>
                  <a:srgbClr val="666666"/>
                </a:solidFill>
                <a:latin typeface="Tahoma" panose="020B0604030504040204" pitchFamily="34" charset="0"/>
              </a:rPr>
              <a:t>Learn terms as connected groups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65829" y="137160"/>
            <a:ext cx="444705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المصطلحات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1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0" y="1051560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خط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ar-EG" sz="1700" b="1" dirty="0">
                <a:solidFill>
                  <a:srgbClr val="333333"/>
                </a:solidFill>
                <a:latin typeface="Tahoma" panose="020B0604030504040204" pitchFamily="34" charset="0"/>
                <a:cs typeface="ADLaM Display" panose="02010000000000000000" pitchFamily="2" charset="77"/>
              </a:rPr>
              <a:t>مسارات 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البيانات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Data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2821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26480" y="1856232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الاستخراج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والتحويل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والتحميل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ETL </a:t>
            </a:r>
            <a:r>
              <a:rPr lang="en-EG" sz="1500" b="1" dirty="0">
                <a:solidFill>
                  <a:srgbClr val="666666"/>
                </a:solidFill>
                <a:latin typeface="Tahoma" panose="020B0604030504040204" pitchFamily="34" charset="0"/>
              </a:rPr>
              <a:t>  </a:t>
            </a:r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Extract, Transform, Load</a:t>
            </a:r>
            <a:r>
              <a:rPr lang="en-EG" sz="1500" b="1" dirty="0">
                <a:solidFill>
                  <a:srgbClr val="666666"/>
                </a:solidFill>
                <a:latin typeface="Tahoma" panose="020B0604030504040204" pitchFamily="34" charset="0"/>
              </a:rPr>
              <a:t>  </a:t>
            </a:r>
            <a:endParaRPr sz="1500" b="1" dirty="0">
              <a:solidFill>
                <a:srgbClr val="666666"/>
              </a:solidFill>
              <a:latin typeface="Tahoma" panose="020B060403050404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" y="2532888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26480" y="2660904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الاستخراج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والتحميل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والتحويل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2660904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ELT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37560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26480" y="3465576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المعمارية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المتدرِّجة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3465576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Medallion Architecture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42232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26480" y="4270248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مستودع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البيانات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4270248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Data Warehouse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46904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26480" y="5074920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بحيرة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البيانات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Data Lake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5157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65829" y="137160"/>
            <a:ext cx="444705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المصطلحات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2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0" y="1051560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معمارية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بحيرة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البيانات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الموحدة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Lakehouse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2821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26480" y="1856232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شبكة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البيانات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Data Mesh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32888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26480" y="2660904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منتج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البيانات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2660904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Data Product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37560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26480" y="3465576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عقد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البيانات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3465576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Data Contract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42232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26480" y="4270248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سلسلة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العهدة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4270248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Data Lineage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46904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26480" y="5074920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فهرس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البيانات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الكتالوج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Data Catalog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5157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65829" y="137160"/>
            <a:ext cx="444705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المصطلحات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3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0" y="1051560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هندسة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الخصائص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Feature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2821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26480" y="1856232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مخزن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الخصائص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Feature Store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32888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26480" y="2660904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انحراف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الميزات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2660904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Feature Skew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37560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26480" y="3465576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قاعدة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البيانات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المتجهية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3465576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Vector Database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42232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26480" y="4270248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التمثيل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المتجهي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4270248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Embedding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46904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26480" y="5074920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البحث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التقريبي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لأقرب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الجيران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ANN </a:t>
            </a:r>
            <a:r>
              <a:rPr lang="en-EG" sz="1500" b="1" dirty="0">
                <a:solidFill>
                  <a:srgbClr val="666666"/>
                </a:solidFill>
                <a:latin typeface="Tahoma" panose="020B0604030504040204" pitchFamily="34" charset="0"/>
              </a:rPr>
              <a:t>  </a:t>
            </a:r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Approximate Nearest Neighbor</a:t>
            </a:r>
            <a:r>
              <a:rPr lang="en-EG" sz="1500" b="1" dirty="0">
                <a:solidFill>
                  <a:srgbClr val="666666"/>
                </a:solidFill>
                <a:latin typeface="Tahoma" panose="020B0604030504040204" pitchFamily="34" charset="0"/>
              </a:rPr>
              <a:t>  </a:t>
            </a:r>
            <a:endParaRPr sz="1500" b="1" dirty="0">
              <a:solidFill>
                <a:srgbClr val="666666"/>
              </a:solidFill>
              <a:latin typeface="Tahoma" panose="020B060403050404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40080" y="575157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65829" y="137160"/>
            <a:ext cx="444705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المصطلحات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4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0" y="1051560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فهرس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HNSW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HNSW Index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2821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26480" y="1856232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التقسيم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التكراري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Recursive Chunking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32888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26480" y="2660904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التقسيم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الدلالي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2660904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Semantic Chunking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37560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26480" y="3465576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البحث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الهجين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3465576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Hybrid Search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42232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26480" y="4270248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البحث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الكثيف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المتناثر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4270248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Dense </a:t>
            </a:r>
            <a:r>
              <a:rPr lang="en-EG" sz="1500" b="1" dirty="0">
                <a:solidFill>
                  <a:srgbClr val="666666"/>
                </a:solidFill>
                <a:latin typeface="Tahoma" panose="020B0604030504040204" pitchFamily="34" charset="0"/>
              </a:rPr>
              <a:t> </a:t>
            </a:r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 Sparse Retrieval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46904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26480" y="5074920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إعادة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الترتيب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Reranking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5157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65829" y="137160"/>
            <a:ext cx="444705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المصطلحات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5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0" y="1051560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الموجِّه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المقيَّد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بالمصادر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Grounded Prompting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2821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26480" y="1856232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التوليد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المعزَّز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بالاسترجاع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RAG </a:t>
            </a:r>
            <a:r>
              <a:rPr lang="en-EG" sz="1500" b="1" dirty="0">
                <a:solidFill>
                  <a:srgbClr val="666666"/>
                </a:solidFill>
                <a:latin typeface="Tahoma" panose="020B0604030504040204" pitchFamily="34" charset="0"/>
              </a:rPr>
              <a:t>  </a:t>
            </a:r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Retrieval-Augmented Generation</a:t>
            </a:r>
            <a:r>
              <a:rPr lang="en-EG" sz="1500" b="1" dirty="0">
                <a:solidFill>
                  <a:srgbClr val="666666"/>
                </a:solidFill>
                <a:latin typeface="Tahoma" panose="020B0604030504040204" pitchFamily="34" charset="0"/>
              </a:rPr>
              <a:t>  </a:t>
            </a:r>
            <a:endParaRPr sz="1500" b="1" dirty="0">
              <a:solidFill>
                <a:srgbClr val="666666"/>
              </a:solidFill>
              <a:latin typeface="Tahoma" panose="020B060403050404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" y="2532888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26480" y="2660904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RAG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الوكيلي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2660904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Agentic RAG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37560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26480" y="3465576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الوفاء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بالمصدر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3465576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Faithfulness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42232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26480" y="4270248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ملاءمة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الإجابة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4270248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Answer Relevancy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46904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26480" y="5074920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دقة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السياق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Context Precision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5157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65829" y="137160"/>
            <a:ext cx="444705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المصطلحات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6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0" y="1051560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التخزين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الدلالي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المؤقت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Semantic Caching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2821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26480" y="1856232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عميل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ChromaDB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واحد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لا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قفل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SQLite</a:t>
            </a:r>
            <a:r>
              <a:rPr lang="en-EG"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Single </a:t>
            </a:r>
            <a:r>
              <a:rPr sz="1500" b="1" dirty="0" err="1">
                <a:solidFill>
                  <a:srgbClr val="666666"/>
                </a:solidFill>
                <a:latin typeface="Tahoma" panose="020B0604030504040204" pitchFamily="34" charset="0"/>
              </a:rPr>
              <a:t>ChromaDB</a:t>
            </a:r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 client </a:t>
            </a:r>
            <a:r>
              <a:rPr lang="en-EG" sz="1500" b="1" dirty="0">
                <a:solidFill>
                  <a:srgbClr val="666666"/>
                </a:solidFill>
                <a:latin typeface="Tahoma" panose="020B0604030504040204" pitchFamily="34" charset="0"/>
              </a:rPr>
              <a:t>  </a:t>
            </a:r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no SQLite lock</a:t>
            </a:r>
            <a:r>
              <a:rPr lang="en-EG" sz="1500" b="1" dirty="0">
                <a:solidFill>
                  <a:srgbClr val="666666"/>
                </a:solidFill>
                <a:latin typeface="Tahoma" panose="020B0604030504040204" pitchFamily="34" charset="0"/>
              </a:rPr>
              <a:t>  </a:t>
            </a:r>
            <a:endParaRPr sz="1500" b="1" dirty="0">
              <a:solidFill>
                <a:srgbClr val="666666"/>
              </a:solidFill>
              <a:latin typeface="Tahoma" panose="020B060403050404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" y="2532888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26480" y="2660904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حذف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المجموعة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وإعادة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إنشائها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2660904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Drop &amp; recreate collection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37560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26480" y="3465576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الترميز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بدفعات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lang="en-EG"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10</a:t>
            </a:r>
            <a:r>
              <a:rPr lang="en-EG"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 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3465576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Batched encoding </a:t>
            </a:r>
            <a:r>
              <a:rPr lang="en-EG" sz="1500" b="1" dirty="0">
                <a:solidFill>
                  <a:srgbClr val="666666"/>
                </a:solidFill>
                <a:latin typeface="Tahoma" panose="020B0604030504040204" pitchFamily="34" charset="0"/>
              </a:rPr>
              <a:t>  </a:t>
            </a:r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10</a:t>
            </a:r>
            <a:r>
              <a:rPr lang="en-EG" sz="1500" b="1" dirty="0">
                <a:solidFill>
                  <a:srgbClr val="666666"/>
                </a:solidFill>
                <a:latin typeface="Tahoma" panose="020B0604030504040204" pitchFamily="34" charset="0"/>
              </a:rPr>
              <a:t>  </a:t>
            </a:r>
            <a:endParaRPr sz="1500" b="1" dirty="0">
              <a:solidFill>
                <a:srgbClr val="666666"/>
              </a:solidFill>
              <a:latin typeface="Tahoma" panose="020B060403050404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40080" y="4142232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26480" y="4270248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توجيه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الطلبات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بين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النماذج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4270248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Model Routing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46904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26480" y="5074920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التصنيف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بمساعدة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النموذج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اللغوي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LLM-assisted Labeling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5157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65829" y="137160"/>
            <a:ext cx="444705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المصطلحات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7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0" y="1051560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التحقق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البشري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Human-in-the-loop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2821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26480" y="1856232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بوابة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الذكاء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الاصطناعي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AI Gateway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32888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26480" y="2660904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مكتبة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الموجِّهات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2660904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Prompt Library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37560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26480" y="3465576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حواجز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الحماية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3465576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Guardrails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42232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26480" y="4270248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الذكاء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الاصطناعي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المسؤول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4270248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Responsible 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46904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26480" y="5074920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إدارة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التكاليف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السحابية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FinOps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5157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65829" y="137160"/>
            <a:ext cx="444705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dirty="0" err="1">
                <a:solidFill>
                  <a:srgbClr val="1F3B5C"/>
                </a:solidFill>
                <a:latin typeface="Tahoma" panose="020B0604030504040204" pitchFamily="34" charset="0"/>
              </a:rPr>
              <a:t>المصطلحات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8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lang="en-EG"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</a:t>
            </a:r>
            <a:r>
              <a:rPr sz="3000" b="1" dirty="0">
                <a:solidFill>
                  <a:srgbClr val="1F3B5C"/>
                </a:solidFill>
                <a:latin typeface="Tahoma" panose="020B0604030504040204" pitchFamily="34" charset="0"/>
              </a:rPr>
              <a:t>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0" y="1051560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تتبع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التجارب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Experiment Tracking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2821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26480" y="1856232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إصدارات</a:t>
            </a:r>
            <a:r>
              <a:rPr sz="1700" b="1" dirty="0">
                <a:solidFill>
                  <a:srgbClr val="333333"/>
                </a:solidFill>
                <a:latin typeface="Tahoma" panose="020B0604030504040204" pitchFamily="34" charset="0"/>
              </a:rPr>
              <a:t> </a:t>
            </a:r>
            <a:r>
              <a:rPr sz="1700" b="1" dirty="0" err="1">
                <a:solidFill>
                  <a:srgbClr val="333333"/>
                </a:solidFill>
                <a:latin typeface="Tahoma" panose="020B0604030504040204" pitchFamily="34" charset="0"/>
              </a:rPr>
              <a:t>البيانات</a:t>
            </a:r>
            <a:endParaRPr sz="1700" b="1" dirty="0">
              <a:solidFill>
                <a:srgbClr val="333333"/>
              </a:solidFill>
              <a:latin typeface="Tahoma" panose="020B060403050404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 dirty="0">
                <a:solidFill>
                  <a:srgbClr val="666666"/>
                </a:solidFill>
                <a:latin typeface="Tahoma" panose="020B0604030504040204" pitchFamily="34" charset="0"/>
              </a:rPr>
              <a:t>Data Versioning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32888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342</TotalTime>
  <Words>3169</Words>
  <Application>Microsoft Macintosh PowerPoint</Application>
  <PresentationFormat>Widescreen</PresentationFormat>
  <Paragraphs>586</Paragraphs>
  <Slides>75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2" baseType="lpstr">
      <vt:lpstr>Arial</vt:lpstr>
      <vt:lpstr>Calibri</vt:lpstr>
      <vt:lpstr>Felix Titling</vt:lpstr>
      <vt:lpstr>Goudy Old Style</vt:lpstr>
      <vt:lpstr>Helvetica Neue Light</vt:lpstr>
      <vt:lpstr>Tahoma</vt:lpstr>
      <vt:lpstr>Archway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Sameh Saeed</cp:lastModifiedBy>
  <cp:revision>130</cp:revision>
  <dcterms:created xsi:type="dcterms:W3CDTF">2013-01-27T09:14:16Z</dcterms:created>
  <dcterms:modified xsi:type="dcterms:W3CDTF">2026-09-11T20:09:55Z</dcterms:modified>
  <cp:category/>
</cp:coreProperties>
</file>